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Shape 1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안녕하세요, Antelligen 팀입니다. 7인 팀으로 AI 멀티 에이전트 기반 투자 인텔리전스 플랫폼을 개발했습니다.</a:t>
            </a:r>
          </a:p>
          <a:p>
            <a:pPr/>
            <a:r>
              <a:t>핵심 메시지는 AI가 대신 투자하는 시대가 아니라, AI의 판단을 사람이 검증하고 통제하는 구조입니다.</a:t>
            </a:r>
          </a:p>
          <a:p>
            <a:pPr/>
            <a:r>
              <a:t>발표 순서는 문제 인식 → 해결 방안 → 성장 전략 → 아키텍처 → 기능 소개 → 팀원별 개발 내용 → 시연 순으로 진행하겠습니다.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" name="Shape 1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Shape 2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Shape 2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데이터 신뢰도·커버리지 문제 5가지를 해결했습니다.</a:t>
            </a:r>
          </a:p>
          <a:p>
            <a:pPr/>
            <a:r>
              <a:t>P-1: 뉴스 분석이 하드코딩 8종목 한정 → TickerKeywordResolverPort로 전 KRX 2,500+ 종목 지원.</a:t>
            </a:r>
          </a:p>
          <a:p>
            <a:pPr/>
            <a:r>
              <a:t>P-2: 미국 주식 미지원 → MarketRegion 추상화로 SerpAPI(뉴스)·yfinance(재무)·SEC EDGAR(공시) 경로 분기.</a:t>
            </a:r>
          </a:p>
          <a:p>
            <a:pPr/>
            <a:r>
              <a:t>P-3: 잠정실적 누락 → OpenDartPreliminaryEarningsProvider로 어닝 갭 윈도우 포착.</a:t>
            </a:r>
          </a:p>
          <a:p>
            <a:pPr/>
            <a:r>
              <a:t>P-4: 출처 무관 단순 평균 → SourceTier 4단계(HIGH/MEDIUM/MEDIUM_LOW/LOW) 가중 평균 적용.</a:t>
            </a:r>
          </a:p>
          <a:p>
            <a:pPr/>
            <a:r>
              <a:t>P-5: 엔터주 SNS 시그널 묻힘 → 섹터별 소스 가중치 오버라이드로 팬덤 반응을 시그널에 반영.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운영·비용·UX 문제 6가지 해결입니다.</a:t>
            </a:r>
          </a:p>
          <a:p>
            <a:pPr/>
            <a:r>
              <a:t>P-6: LLM·YouTube quota 폭주 → 4h/7d/1d/1h 다층 캐시 + 조건부 Startup 잡으로 불필요한 호출 차단.</a:t>
            </a:r>
          </a:p>
          <a:p>
            <a:pPr/>
            <a:r>
              <a:t>P-7: 동시 요청 → DART 중복 호출 → Redis 분산 락(SET NX EX)으로 atomic 단일 호출 보장.</a:t>
            </a:r>
          </a:p>
          <a:p>
            <a:pPr/>
            <a:r>
              <a:t>P-8: 응답 지연 5~10초 → 1h Postgres 캐시 + 3-에이전트 병렬 + 사업개요 별도 async task.</a:t>
            </a:r>
          </a:p>
          <a:p>
            <a:pPr/>
            <a:r>
              <a:t>P-9: 시그널만 있고 맥락 없음 → BusinessOverview 카드로 RAG 기반 LLM 사업 요약 제공.</a:t>
            </a:r>
          </a:p>
          <a:p>
            <a:pPr/>
            <a:r>
              <a:t>P-10: 1개 에이전트 실패 → 전체 실패 → asyncio.gather(return_exceptions=True)로 부분 실패 허용.</a:t>
            </a:r>
          </a:p>
          <a:p>
            <a:pPr/>
            <a:r>
              <a:t>P-11: 왜 이 결론? → LangSmith Tracing + 출처 영속화 + Explainable 가중치로 투명성 확보.</a:t>
            </a:r>
          </a:p>
          <a:p>
            <a:pPr/>
            <a:r>
              <a:t>6대 해결 원칙 중 부분 실패는 기능과 거버넌스는 사전 설계가 설계 철학을 잘 요약합니다.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6" name="Shape 3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9" name="Shape 3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KPI를 4축으로 관리합니다.</a:t>
            </a:r>
          </a:p>
          <a:p>
            <a:pPr/>
            <a:r>
              <a:t>사용량: 초기 MAU 30~50명 → 확장 10,000명 / 7일 재방문율 30% → 40%.</a:t>
            </a:r>
          </a:p>
          <a:p>
            <a:pPr/>
            <a:r>
              <a:t>품질: 사용자 만족도 4.0 → 4.5 / 자신 있는 분석 비율 30% → 45%.</a:t>
            </a:r>
          </a:p>
          <a:p>
            <a:pPr/>
            <a:r>
              <a:t>비용 효율: 응답 속도 8초 → 3초 / 종목당 분석 비용 200원 → 50원. 현재 캐시와 분산 락으로 이 방향으로 나아가고 있습니다.</a:t>
            </a:r>
          </a:p>
          <a:p>
            <a:pPr/>
            <a:r>
              <a:t>사업성: 유료 전환율 3%, 월 매출 100만 원이 1차 마일스톤입니다.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8" name="Shape 4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1" name="Shape 4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헥사고날 + DDD 아키텍처입니다.</a:t>
            </a:r>
          </a:p>
          <a:p>
            <a:pPr/>
            <a:r>
              <a:t>Clean Architecture 핵심 원칙 — 의존성은 항상 바깥에서 안쪽(도메인)으로만 흐릅니다.</a:t>
            </a:r>
          </a:p>
          <a:p>
            <a:pPr/>
            <a:r>
              <a:t>Domain 레이어는 순수 Python만 허용합니다. FastAPI·SQLAlchemy·Redis·Pydantic import 절대 금지.</a:t>
            </a:r>
          </a:p>
          <a:p>
            <a:pPr/>
            <a:r>
              <a:t>Application(UseCase) 레이어는 Port 인터페이스를 통해서만 외부 시스템에 접근합니다.</a:t>
            </a:r>
          </a:p>
          <a:p>
            <a:pPr/>
            <a:r>
              <a:t>Inbound Adapter(Router)는 비즈니스 로직 없이 Request → UseCase → Response 흐름만 담당합니다.</a:t>
            </a:r>
          </a:p>
          <a:p>
            <a:pPr/>
            <a:r>
              <a:t>DB나 외부 API가 바뀌어도 도메인 로직은 전혀 수정할 필요가 없습니다.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6" name="Shape 4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24개 도메인으로 구성됩니다.</a:t>
            </a:r>
          </a:p>
          <a:p>
            <a:pPr/>
            <a:r>
              <a:t>사용자·인증 4개 / 시장 데이터 5개 / 콘텐츠·분석 7개 / 통합 에이전트(메인 오케스트레이터) 1개.</a:t>
            </a:r>
          </a:p>
          <a:p>
            <a:pPr/>
            <a:r>
              <a:t>요청 처리 흐름: HTTP → FastAPI Router → UseCase → Port → Repository(PostgreSQL)/External Client/Cache(Redis) → Domain Entity → Response DTO → HTTP Response.</a:t>
            </a:r>
          </a:p>
          <a:p>
            <a:pPr/>
            <a:r>
              <a:t>백그라운드 스케줄러 주요 4가지: 뉴스 수집(매일 06:00) / KRX 순매수(매 영업일 16:30) / SEC 13F(분기) / DART 포트폴리오(매월 1일).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7" name="Shape 4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6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3" name="Shape 6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캐시·동시성·복원력 세 가지입니다.</a:t>
            </a:r>
          </a:p>
          <a:p>
            <a:pPr/>
            <a:r>
              <a:t>다층 캐시 — TTL은 도메인 진실성의 코드 표현입니다. 거시 스냅샷 4h / 회사 프로필 1d / 사업 개요(LLM) 7d / 통합 분석 1h / 회사 마스터 쿨다운 24h.</a:t>
            </a:r>
          </a:p>
          <a:p>
            <a:pPr/>
            <a:r>
              <a:t>Redis 분산 락 — SET key 1 NX EX 60으로 atomic single-shot. race condition 제로, TTL 60초로 데드락 자동 방지, Redis 장애 시에도 graceful degrade.</a:t>
            </a:r>
          </a:p>
          <a:p>
            <a:pPr/>
            <a:r>
              <a:t>부분 실패 허용 — asyncio.gather(return_exceptions=True)로 1개 에이전트가 죽어도 나머지로 시그널을 산출합니다. 부분 실패는 기능이라는 원칙의 코드 구현입니다.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6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9" name="Shape 6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Shape 6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3" name="Shape 6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주요 기능 첫 번째 파트입니다.</a:t>
            </a:r>
          </a:p>
          <a:p>
            <a:pPr/>
            <a:r>
              <a:t>종합 종목 분석(/agent/query): 한 번의 요청으로 5개 에이전트 병렬 분석 → Bullish/Neutral/Bearish+Confidence, 사업개요 카드, Source Tier 분포 시각화. 한국·미국 동일 UI/UX.</a:t>
            </a:r>
          </a:p>
          <a:p>
            <a:pPr/>
            <a:r>
              <a:t>히스토리·인과관계 대시보드(/dashboard): 일봉 차트 + 5중 이상치 탐지 + LLM 원인 추론(왜 이 날 떨어졌는가) + 가설 신뢰도 + 거시 이벤트 매칭 + 마커 6종.</a:t>
            </a:r>
          </a:p>
          <a:p>
            <a:pPr/>
            <a:r>
              <a:t>Sentiment 분석(/sentiment): Reddit+네이버 종목토론 SNS 감정 점수화, GPT-5-mini 감정 분류, 밈 티커 부스트(×1.35), 부정 비율 vs VIX 비교.</a:t>
            </a:r>
          </a:p>
          <a:p>
            <a:pPr/>
            <a:r>
              <a:t>거시경제 현황판(/macro): 금리/유가/환율/경제 일정 자동 수집, Risk-ON/OFF 자동 판단+LLM 근거, 4h Redis 캐시로 실시간성과 비용 균형.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9" name="Shape 6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주요 기능 두 번째 파트입니다.</a:t>
            </a:r>
          </a:p>
          <a:p>
            <a:pPr/>
            <a:r>
              <a:t>Smart Money(/smart-money): 외국인/기관/개인 순매수 랭킹, 집중 매수 종목 카드(3/5/10일 기간 선택), 종목 클릭 시 최근 30일 투자자별 추이 차트.</a:t>
            </a:r>
          </a:p>
          <a:p>
            <a:pPr/>
            <a:r>
              <a:t>글로벌 포트폴리오(/smart-money/global-portfolio): Buffett·Burry·Cathie Wood 등 19명 SEC 13F + 국민연금·미래에셋·박현주 등 10명 DART, 신규편입/비중확대/비중축소/청산 배지.</a:t>
            </a:r>
          </a:p>
          <a:p>
            <a:pPr/>
            <a:r>
              <a:t>관심종목+개인화(/settings/watchlist): 테마별 토글 등록 → 뉴스 자동 필터링 → 유튜브 병렬 검색 자동화.</a:t>
            </a:r>
          </a:p>
          <a:p>
            <a:pPr/>
            <a:r>
              <a:t>회사 프로필(/company-profile/{ticker}): DART+SEC 회사 마스터, 사업보고서 RAG→LLM 요약(7일 캐시), ETF/INDEX도 동일 카드 형식.</a:t>
            </a:r>
          </a:p>
          <a:p>
            <a:pPr/>
            <a:r>
              <a:t>카카오 OAuth: temp_token/user_token 분리로 가입 전 사용자도 핵심 기능 시연 가능.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Shape 6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5" name="Shape 6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Shape 6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63" name="Shape 6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Antelligen 5인 개발팀입니다.</a:t>
            </a:r>
          </a:p>
          <a:p>
            <a:pPr/>
            <a:r>
              <a:t>김영진: 통합 에이전트·데이터 인프라·신뢰도 시스템 (Python·DDD·Hexagonal·LangChain·Redis).</a:t>
            </a:r>
          </a:p>
          <a:p>
            <a:pPr/>
            <a:r>
              <a:t>김세진: Sentiment 에이전트 전체·미국 주식 뉴스 보강 (DDD·BeautifulSoup4·OpenAI·Next.js·Jotai).</a:t>
            </a:r>
          </a:p>
          <a:p>
            <a:pPr/>
            <a:r>
              <a:t>문우성: 거시경제 현황판·시스템 아키텍처 정립 (Hexagonal·LLM·YouTube API).</a:t>
            </a:r>
          </a:p>
          <a:p>
            <a:pPr/>
            <a:r>
              <a:t>김민규: History Agent·Causality Agent·Dashboard (LangGraph·Next.js·lightweight-charts).</a:t>
            </a:r>
          </a:p>
          <a:p>
            <a:pPr/>
            <a:r>
              <a:t>이민영: 개인화 시스템·Smart Money 대시보드 (Next.js·React·Playwright·Jotai·DDD).</a:t>
            </a:r>
          </a:p>
          <a:p>
            <a:pPr/>
            <a:r>
              <a:t>이지은·정우진은 외부 피드백으로 팀을 지원해주셨습니다.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6" name="Shape 6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김영진 첫 번째 슬라이드 — 전 KRX 종목 지원과 미국 주식 확대입니다.</a:t>
            </a:r>
          </a:p>
          <a:p>
            <a:pPr/>
            <a:r>
              <a:t>Before: 뉴스 분석 가능 종목 하드코딩 8개, 미국 종목 미지원, 재무는 DART 정기공시만.</a:t>
            </a:r>
          </a:p>
          <a:p>
            <a:pPr/>
            <a:r>
              <a:t>After: TickerKeywordResolverPort로 DB에서 stock_name + alias 동적 조회. 000270(기아) → [기아, 기아차, KIA] 자동 생성. 전 KRX 2,500+ 종목 정상 동작.</a:t>
            </a:r>
          </a:p>
          <a:p>
            <a:pPr/>
            <a:r>
              <a:t>MarketRegion Enum으로 ticker 형식만 보고 KR/US 자동 추론합니다. 6자리 숫자 → KR, 1~5 알파벳 → US_NASDAQ.</a:t>
            </a:r>
          </a:p>
          <a:p>
            <a:pPr/>
            <a:r>
              <a:t>미국 경로: 뉴스는 SerpAPI(gl=us, hl=en), 재무는 yfinance 분기 EPS, 공시는 SEC EDGAR 8-K/10-K/10-Q.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7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9" name="Shape 7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김영진 두 번째 슬라이드 — Source Tier 4단계 가중치 시스템입니다.</a:t>
            </a:r>
          </a:p>
          <a:p>
            <a:pPr/>
            <a:r>
              <a:t>SourceTier를 Enum으로 정의하고 _DEFAULT_WEIGHTS로 HIGH:1.0 / MEDIUM:0.7 / MEDIUM_LOW:0.5 / LOW:0.3 매핑.</a:t>
            </a:r>
          </a:p>
          <a:p>
            <a:pPr/>
            <a:r>
              <a:t>엔터테인먼트 섹터 오버라이드: HYBE·SM·JYP·YG 분석 시 YouTube·X·Instagram → LOW → MEDIUM 자동 승격.</a:t>
            </a:r>
          </a:p>
          <a:p>
            <a:pPr/>
            <a:r>
              <a:t>종합 시그널 산출: 에이전트별 confidence × tier_weight 곱한 값을 합산, confidence_total로 나눈 avg_score가 0.2 초과면 bullish, -0.2 미만이면 bearish.</a:t>
            </a:r>
          </a:p>
          <a:p>
            <a:pPr/>
            <a:r>
              <a:t>가중치 수치는 환경 변수로 노출되어 있어 운영 중에도 실험적 튜닝이 가능합니다.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Shape 7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2" name="Shape 7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김영진 세 번째 슬라이드 — On-demand 분산 락, 조건부 Startup 잡, 사업개요 카드입니다.</a:t>
            </a:r>
          </a:p>
          <a:p>
            <a:pPr/>
            <a:r>
              <a:t>On-demand 분산 락: 동일 종목 동시 5개 요청이 들어와도 DART API는 1회만 호출. 첫 번째 요청이 Redis SET NX EX로 락 획득 → DART fetch → DB upsert → 락 해제. 나머지 요청은 락 대기 후 DB 결과 공유.</a:t>
            </a:r>
          </a:p>
          <a:p>
            <a:pPr/>
            <a:r>
              <a:t>조건부 Startup 잡: refresh_company_list는 24h 이내 성공 이력 있으면 스킵, refresh_market_risk는 Redis 4h 스냅샷 복원 → YouTube quota + LLM 비용 최대 절약.</a:t>
            </a:r>
          </a:p>
          <a:p>
            <a:pPr/>
            <a:r>
              <a:t>사업개요 카드: asyncio.create_task로 병렬 fetch(latency 거의 0), DART 사업보고서 RAG(최대 5청크·3,000자) → LLM 요약 → Redis 7일 캐시. LLM 컨텍스트 주입과 UI 카드 DTO 두 가지로 활용합니다.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hape 7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3" name="Shape 7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김세진 첫 번째 슬라이드 — Sentiment 도메인 신설입니다.</a:t>
            </a:r>
          </a:p>
          <a:p>
            <a:pPr/>
            <a:r>
              <a:t>담당 범위: 백엔드 21개 파일 신규(+1,727줄) / 프론트엔드 5개 파일 신규(+592줄).</a:t>
            </a:r>
          </a:p>
          <a:p>
            <a:pPr/>
            <a:r>
              <a:t>DDD 헥사고날 구조를 처음부터 적용해 adapter/application/domain 3계층으로 설계했습니다.</a:t>
            </a:r>
          </a:p>
          <a:p>
            <a:pPr/>
            <a:r>
              <a:t>SNS 수집기 3종: Reddit(.json 무인증 엔드포인트), 네이버 종목토론(BeautifulSoup4 HTML 스크래핑), 토스 커뮤니티(stub — SPA 봇 탐지로 Playwright 차기 이터레이션).</a:t>
            </a:r>
          </a:p>
          <a:p>
            <a:pPr/>
            <a:r>
              <a:t>Redis TTL 10분 캐시를 라우터 레벨에 배치해 UseCase 순수성(DDD 원칙)을 유지했습니다.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Shape 7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0" name="Shape 7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김세진 두 번째 슬라이드 — GPT 감정분석 + 밈/섹터 가중치 + DB 설계입니다.</a:t>
            </a:r>
          </a:p>
          <a:p>
            <a:pPr/>
            <a:r>
              <a:t>GPT 감정분석: 게시물 제목·본문 → GPT-5-mini(팀 표준 모델) → positive/negative/neutral 분류 → 종합 신호(bullish/bearish/neutral) + confidence + overall_negative_ratio(VIX 비교용).</a:t>
            </a:r>
          </a:p>
          <a:p>
            <a:pPr/>
            <a:r>
              <a:t>밈 티커 부스트: TSLA·GME·AMC·NVDA 등은 confidence x1.35, 엔터주 JYP·SM·HYBE·YG는 x1.3.</a:t>
            </a:r>
          </a:p>
          <a:p>
            <a:pPr/>
            <a:r>
              <a:t>DB 설계: sns_posts 테이블을 Alembic 마이그레이션으로 직접 작성·적용. ticker+platform 복합 인덱스와 posted_at 인덱스로 조회 최적화.</a:t>
            </a:r>
          </a:p>
          <a:p>
            <a:pPr/>
            <a:r>
              <a:t>표준 응답 DTO SnsSignalResult가 메인 에이전트의 confidence x source_tier_weight 합산에 자연스럽게 통합됩니다.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Shape 7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0" name="Shape 7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김세진 세 번째 슬라이드 — 자체 발견·수정한 버그와 Redis 캐시, 프론트엔드입니다.</a:t>
            </a:r>
          </a:p>
          <a:p>
            <a:pPr/>
            <a:r>
              <a:t>EUC-KR 디코딩 버그: 네이버 종목토론 한글이 깨져 DB에 저장되던 문제를, resp.content.decode 대신 BeautifulSoup에 from_encoding=euc-kr 직접 전달해 해결했습니다.</a:t>
            </a:r>
          </a:p>
          <a:p>
            <a:pPr/>
            <a:r>
              <a:t>DI 버그: 뉴스 라우터에서 AnalyzeNewsSignalUseCase 생성 시 keyword_resolver 파라미터가 누락된 것을 발견하고 직접 수정.</a:t>
            </a:r>
          </a:p>
          <a:p>
            <a:pPr/>
            <a:r>
              <a:t>Redis 캐시 + 자동 collect 트리거: analyze 요청 시 캐시 HIT이면 즉시 반환, DB 게시물 5건 미만이면 CollectSnsPostsUseCase 자동 호출 후 GPT 분석 진행.</a:t>
            </a:r>
          </a:p>
          <a:p>
            <a:pPr/>
            <a:r>
              <a:t>프론트엔드 SnsSignalCard: IDLE → LOADING → SUCCESS/ERROR 4개 상태. SUCCESS 시 시그널 배지·신뢰도 게이지·플랫폼별 결과·근거 게시물 top3·AI 한국어 요약으로 구성.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8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6" name="Shape 8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문우성 첫 번째 슬라이드 — 거시경제 현황판 데이터 수집 파이프라인입니다.</a:t>
            </a:r>
          </a:p>
          <a:p>
            <a:pPr/>
            <a:r>
              <a:t>매일 자동 수집 대상: 금리(기준금리·국채 10년물), 유가(WTI·브렌트), 환율(USD/KRW·DXY), 주요 경제 일정(FOMC·CPI·실업률 발표).</a:t>
            </a:r>
          </a:p>
          <a:p>
            <a:pPr/>
            <a:r>
              <a:t>소스별 수집 주기: FRED 12개 시리즈·유가·환율·VIX는 일 1회 / 경제 일정 크롤링은 주 1회.</a:t>
            </a:r>
          </a:p>
          <a:p>
            <a:pPr/>
            <a:r>
              <a:t>Redis 스냅샷 관리: _try_restore_macro_snapshot으로 4시간 이내 스냅샷이 Redis에 있으면 메모리 store에 복원합니다. 서버 재시작이나 hot-reload 시 LLM 호출 0회로 YouTube quota를 보호합니다.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Shape 8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32" name="Shape 8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문우성 두 번째 슬라이드 — Risk-ON / Risk-OFF 자동 판단입니다.</a:t>
            </a:r>
          </a:p>
          <a:p>
            <a:pPr/>
            <a:r>
              <a:t>핵심 변수 4가지를 조합합니다: 금리 방향(상승 vs 하락), 달러 강도(DXY), VIX 수준(공포 지수), 유가 방향(에너지 비용).</a:t>
            </a:r>
          </a:p>
          <a:p>
            <a:pPr/>
            <a:r>
              <a:t>이 변수들을 LLM에 주입해 Risk-ON 또는 Risk-OFF를 결정하고, 근거 텍스트를 자동 생성합니다.</a:t>
            </a:r>
          </a:p>
          <a:p>
            <a:pPr/>
            <a:r>
              <a:t>예시: VIX 25 돌파 + 달러 강세 → Risk-OFF → 미 국채·금 선호, 위험자산 매도 압력 텍스트 자동 출력.</a:t>
            </a:r>
          </a:p>
          <a:p>
            <a:pPr/>
            <a:r>
              <a:t>/macro 페이지에서 금리·유가·환율 카드(전일 대비 등락 색상), 경제 일정 캘린더, Risk 배지+LLM 근거로 시각화합니다.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Shape 8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6" name="Shape 8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문우성 세 번째 슬라이드 — 메인 에이전트 연결과 아키텍처 기여입니다.</a:t>
            </a:r>
          </a:p>
          <a:p>
            <a:pPr/>
            <a:r>
              <a:t>거시경제 에이전트가 MarketRiskJudgementResponse를 생성 → Redis 4h 캐시 저장 → 메인 에이전트 호출 시 거시 스냅샷으로 로드 → 종합 시그널 산출의 컨텍스트로 활용됩니다.</a:t>
            </a:r>
          </a:p>
          <a:p>
            <a:pPr/>
            <a:r>
              <a:t>거시 환경이 불안정할 때 전체 confidence를 하향 반영하는 구조입니다.</a:t>
            </a:r>
          </a:p>
          <a:p>
            <a:pPr/>
            <a:r>
              <a:t>아키텍처 기여: 전체 DDD·헥사고날 설계 참여, 레이어별 의존성 규칙 문서화, 도메인 간 인터페이스 표준화 방향 제시, 외부 API 공통 Client 패턴 정립.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Shape 8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0" name="Shape 8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김민규 첫 번째 슬라이드 — History Agent 8단계 타임라인 파이프라인입니다.</a:t>
            </a:r>
          </a:p>
          <a:p>
            <a:pPr/>
            <a:r>
              <a:t>한 줄 요약: 종목 코드 하나로 8개 외부 소스에서 데이터를 수집해 시점이 명확한 사건만 골라 타임라인을 자동 생성합니다.</a:t>
            </a:r>
          </a:p>
          <a:p>
            <a:pPr/>
            <a:r>
              <a:t>Step 0~1: ticker 정규화 + 자산 유형 판별(EQUITY/INDEX/ETF) → Redis 캐시 HIT이면 즉시 반환(~50ms).</a:t>
            </a:r>
          </a:p>
          <a:p>
            <a:pPr/>
            <a:r>
              <a:t>Step 2: asyncio.gather로 yfinance / DART·SEC / Finnhub → GDELT → Naver 4경로 병렬 수집.</a:t>
            </a:r>
          </a:p>
          <a:p>
            <a:pPr/>
            <a:r>
              <a:t>Step 3~5: Jaccard &gt;= 0.8 중복 제거 → DB enrichment 재사용 → 신규 이벤트 병렬 enrichment(Causality Agent 포함).</a:t>
            </a:r>
          </a:p>
          <a:p>
            <a:pPr/>
            <a:r>
              <a:t>Step 6~8: EventClassifier v2 + importance_score → DB upsert → Redis 3600s TTL 후 응답.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8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81" name="Shape 8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김민규 두 번째 슬라이드 — 5중 이상치 탐지기와 이벤트 분류 체계입니다.</a:t>
            </a:r>
          </a:p>
          <a:p>
            <a:pPr/>
            <a:r>
              <a:t>5중 탐지기: z-score(|수익률|&gt;K×σ, 노랑) / cumulative 5d(±10% 진입, 오렌지) / cumulative 20d(±15%, 진홍) / drawdown(60봉 고점 대비 -10%→-3% 회복, 보라/에메랄드) / volatility cluster(5거래일 내 |r|&gt;5% 2건 이상, 앰버).</a:t>
            </a:r>
          </a:p>
          <a:p>
            <a:pPr/>
            <a:r>
              <a:t>σ 계산 방식도 선택 가능합니다: stdev / stable / mad — settings.anomaly_robust_sigma_method 설정으로 운영 중 변경 가능.</a:t>
            </a:r>
          </a:p>
          <a:p>
            <a:pPr/>
            <a:r>
              <a:t>이벤트 분류 4카테고리: CORPORATE(yfinance 코드 매칭), ANNOUNCEMENT(SEC Item+LLM 재분류), MACRO(FRED+threshold), NEWS(source 필드 구분).</a:t>
            </a:r>
          </a:p>
          <a:p>
            <a:pPr/>
            <a:r>
              <a:t>MACRO TYPE_A(FOMC 발표 같은 원인 자체)와 TYPE_B(VIX 급등 같은 시장 반응, 추정 사유+신뢰도 포함)를 구분하는 것이 특히 중요합니다.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Shape 8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5" name="Shape 8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김민규 세 번째 슬라이드 — Causality Agent, Dashboard UI, SSE 스트리밍입니다.</a:t>
            </a:r>
          </a:p>
          <a:p>
            <a:pPr/>
            <a:r>
              <a:t>Causality Agent: 이상치 봉 탐지 → 사용자가 마커 클릭 시 lazy 호출(LLM 비용 절약) → LangGraph StateGraph 4노드(수집→Tool Use→가설 생성→환각 방지) → 가설 3~6개+신뢰도 자동 생성 → DB 영구 저장. 두 번째 요청부터 ~50ms 응답.</a:t>
            </a:r>
          </a:p>
          <a:p>
            <a:pPr/>
            <a:r>
              <a:t>Dashboard UI: /dashboard에서 2열 4:1 그리드. NasdaqChart(이상치 마커 6종)+HistoryPanel(타임라인 카드) | StockSearch+AssetProfilePanel. Jotai 2.19 atomWithStorage로 localStorage 영속.</a:t>
            </a:r>
          </a:p>
          <a:p>
            <a:pPr/>
            <a:r>
              <a:t>SSE 스트리밍 API: GET /api/v1/history-agent/timeline/stream. progress/done/error 3종 이벤트로 4~8초 로딩 대신 실시간 진행 상황을 표시합니다.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Shape 9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18" name="Shape 9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이민영 첫 번째 슬라이드 — 관심종목 기반 개인화입니다.</a:t>
            </a:r>
          </a:p>
          <a:p>
            <a:pPr/>
            <a:r>
              <a:t>watchlist 관리 UI: 테마 그룹별 종목 버튼(반도체/자동차/바이오/엔터) 클릭으로 토글 등록·해제, 현재 선택 개수 실시간 표시.</a:t>
            </a:r>
          </a:p>
          <a:p>
            <a:pPr/>
            <a:r>
              <a:t>API: GET/POST/PUT/DELETE 4개 엔드포인트. 인증은 Redis 세션 기반(쿠키 user_token 또는 Authorization: Bearer 모두 지원).</a:t>
            </a:r>
          </a:p>
          <a:p>
            <a:pPr/>
            <a:r>
              <a:t>뉴스 개인화: 관심종목 없으면 전체 최신 뉴스 100건, 있으면 등록 종목명으로 DB 필터링(종목당 최대 10건, URL 중복 제거 후 최신순 정렬).</a:t>
            </a:r>
          </a:p>
          <a:p>
            <a:pPr/>
            <a:r>
              <a:t>유튜브 개인화: 관심종목 없으면 일반 주식 키워드 5개, 있으면 종목명 최대 5개를 YouTube 병렬 검색 키워드로 사용합니다.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Shape 9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6" name="Shape 9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이민영 두 번째 슬라이드 — 국내 Smart Money(KRX 자동 수집)입니다.</a:t>
            </a:r>
          </a:p>
          <a:p>
            <a:pPr/>
            <a:r>
              <a:t>스마트머니란 외국인·기관·저명 투자자의 거래 흐름을 추적해 큰 돈이 어디로 이동하는지 파악하는 분석입니다.</a:t>
            </a:r>
          </a:p>
          <a:p>
            <a:pPr/>
            <a:r>
              <a:t>KRX 자동 수집: 매 영업일 16:30 KST(장 마감 30분 후) KOSPI+KOSDAQ 전 종목의 외국인/기관합계/개인 순매수거래량·대금 수집 후 DB 저장.</a:t>
            </a:r>
          </a:p>
          <a:p>
            <a:pPr/>
            <a:r>
              <a:t>집중도 점수: 외국인 점수(내 순매수 나누기 전체 최대값) + 기관 점수의 평균 x100. 외국인과 기관이 동시에 매수한 종목만 교집합으로 추출합니다.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Shape 9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8" name="Shape 9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이민영 세 번째 슬라이드 — 글로벌·국내 저명 투자자 포트폴리오입니다.</a:t>
            </a:r>
          </a:p>
          <a:p>
            <a:pPr/>
            <a:r>
              <a:t>글로벌 포트폴리오 — SEC 13F 19명: Warren Buffett·Michael Burry·George Soros 등 전설적 투자자부터 Ken Griffin·Renaissance Technologies 등 퀀트 운용사까지.</a:t>
            </a:r>
          </a:p>
          <a:p>
            <a:pPr/>
            <a:r>
              <a:t>수집 파이프라인: 분기별(2·5·8·11월 15일) SEC EDGAR 최신 13F-HR XML 파싱 → OpenFIGI API로 CUSIP → 티커 변환 → 전 분기와 비교 → 신규편입/비중확대/비중축소/청산 배지 자동 생성.</a:t>
            </a:r>
          </a:p>
          <a:p>
            <a:pPr/>
            <a:r>
              <a:t>국내 포트폴리오 — DART 대량보유보고 10명: 국민연금·미래에셋·삼성·박현주 등. 매월 1일 03:00 KST 자동 수집, 동시 10개 병렬 API 요청.</a:t>
            </a:r>
          </a:p>
          <a:p>
            <a:pPr/>
            <a:r>
              <a:t>변동 배지 4종(신규편입/비중확대/비중축소/청산)으로 한눈에 포트폴리오 변화를 확인할 수 있습니다.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Shape 9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3" name="Shape 9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Shape 9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6" name="Shape 9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GitHub·OKR·Slack 협업 프로세스입니다.</a:t>
            </a:r>
          </a:p>
          <a:p>
            <a:pPr/>
            <a:r>
              <a:t>GitHub 워크플로우: upstream(EDDI-RobotAcademy) → origin(개인 fork) → PR → Merge commit. main 직접 푸시 금지, squash 금지(원본 커밋 SHA 보존), Conventional Commits 준수.</a:t>
            </a:r>
          </a:p>
          <a:p>
            <a:pPr/>
            <a:r>
              <a:t>주요 PR 규모: 김세진 Sentiment 도메인 신설 PR #93이 +1,727줄·44파일, 자동 collect+Redis 캐시 PR #106이 +592줄.</a:t>
            </a:r>
          </a:p>
          <a:p>
            <a:pPr/>
            <a:r>
              <a:t>OKR 7개 Key Result 모두 달성 — 메인 에이전트 통합 / 한국+미국 / Source Tier / Sentiment / 거시 / 히스토리·인과관계 / Watchlist+Smart Money.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Shape 9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9" name="Shape 9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Shape 10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8" name="Shape 10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라이브 데모 시나리오입니다.</a:t>
            </a:r>
          </a:p>
          <a:p>
            <a:pPr/>
            <a:r>
              <a:t>① 삼성전자(005930): 5개 에이전트 병렬 분석, 통합 시그널+사업개요 카드, Source Tier 분포 확인.</a:t>
            </a:r>
          </a:p>
          <a:p>
            <a:pPr/>
            <a:r>
              <a:t>② AAPL: 영어 뉴스+yfinance 분기 EPS+SEC 8-K filing, 한국 종목과 동일 UI/UX로 표시.</a:t>
            </a:r>
          </a:p>
          <a:p>
            <a:pPr/>
            <a:r>
              <a:t>③ HYBE(352820): YouTube·X·Instagram 출처가 MEDIUM으로 자동 승격, 섹터 오버라이드 시그널 반영 확인.</a:t>
            </a:r>
          </a:p>
          <a:p>
            <a:pPr/>
            <a:r>
              <a:t>④ Smart Money 대시보드: 외국인+기관 집중 매수 카드, Warren Buffett 포트폴리오 변동 확인.</a:t>
            </a:r>
          </a:p>
          <a:p>
            <a:pPr/>
            <a:r>
              <a:t>⑤ 히스토리·인과관계: NASDAQ 차트+이상치 마커, 마커 클릭 → 원인 가설 자동 생성(LLM) 확인.</a:t>
            </a:r>
          </a:p>
          <a:p>
            <a:pPr/>
            <a:r>
              <a:t>⑥ Redis 분산 락 데모: 동일 종목 동시 5개 요청 → DART 1회만 호출됨을 로그 또는 LangSmith에서 확인.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Shape 10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4" name="Shape 10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Shape 10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1" name="Shape 10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각 팀원이 이번 3·4차 프로젝트를 통해 배운 것과 개인 소감을 나누는 슬라이드입니다.</a:t>
            </a:r>
          </a:p>
          <a:p>
            <a:pPr/>
            <a:r>
              <a:t>김영진·김세진·문우성·김민규·이민영 5명의 개발 팀원, 이지은·정우진 2명의 외부 지원 팀원이 각자의 목소리로 이야기합니다.</a:t>
            </a:r>
          </a:p>
          <a:p>
            <a:pPr/>
            <a:r>
              <a:t>발표 당일 각 팀원이 직접 작성한 내용을 기반으로 발표합니다.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Shape 10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8" name="Shape 10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발표를 마치겠습니다. 감사합니다.</a:t>
            </a:r>
          </a:p>
          <a:p>
            <a:pPr/>
            <a:r>
              <a:t>저희 Antelligen의 핵심 메시지 — 투자 결과가 아니라, 검증 가능한 의사결정 과정과 안전한 실행 구조를 제공하는 서비스였습니다.</a:t>
            </a:r>
          </a:p>
          <a:p>
            <a:pPr/>
            <a:r>
              <a:t>GitHub 리포는 EDDI-RobotAcademy 조직에 공개되어 있습니다: antelligen-backend / antelligen-frontend.</a:t>
            </a:r>
          </a:p>
          <a:p>
            <a:pPr/>
            <a:r>
              <a:t>질문 있으시면 편하게 해주세요.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Antelligen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6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AI Multi-Agent 기반 투자 인텔리전스 플랫폼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"AI가 대신 투자하는 시대가 아니라,</a:t>
            </a:r>
          </a:p>
          <a:p>
            <a:pPr>
              <a:defRPr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AI의 판단을 사람이 검증하고 통제하는 구조"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88AAC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발표일: 2026-05-02   |   팀: Antelligen (7인)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1. 문제 인식 (Problem)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서비스 개발 동기 및 목적</a:t>
            </a:r>
          </a:p>
        </p:txBody>
      </p:sp>
      <p:sp>
        <p:nvSpPr>
          <p:cNvPr id="111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왜 우리는 멀티 에이전트인가</a:t>
            </a:r>
          </a:p>
        </p:txBody>
      </p:sp>
      <p:sp>
        <p:nvSpPr>
          <p:cNvPr id="112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#2</a:t>
            </a:r>
          </a:p>
        </p:txBody>
      </p:sp>
      <p:sp>
        <p:nvSpPr>
          <p:cNvPr id="114" name="Rounded Rectangle 7"/>
          <p:cNvSpPr/>
          <p:nvPr/>
        </p:nvSpPr>
        <p:spPr>
          <a:xfrm>
            <a:off x="372108" y="1097280"/>
            <a:ext cx="5669283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" name="Rectangle 8"/>
          <p:cNvSpPr/>
          <p:nvPr/>
        </p:nvSpPr>
        <p:spPr>
          <a:xfrm>
            <a:off x="372110" y="1097280"/>
            <a:ext cx="5669280" cy="73154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Oval 9"/>
          <p:cNvSpPr/>
          <p:nvPr/>
        </p:nvSpPr>
        <p:spPr>
          <a:xfrm>
            <a:off x="554990" y="1325880"/>
            <a:ext cx="502923" cy="50292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" name="TextBox 10"/>
          <p:cNvSpPr txBox="1"/>
          <p:nvPr/>
        </p:nvSpPr>
        <p:spPr>
          <a:xfrm>
            <a:off x="582422" y="1444750"/>
            <a:ext cx="448056" cy="26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118" name="TextBox 11"/>
          <p:cNvSpPr txBox="1"/>
          <p:nvPr/>
        </p:nvSpPr>
        <p:spPr>
          <a:xfrm>
            <a:off x="1176782" y="1344166"/>
            <a:ext cx="474573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단일 LLM 서비스의 구조적 한계</a:t>
            </a:r>
          </a:p>
        </p:txBody>
      </p:sp>
      <p:sp>
        <p:nvSpPr>
          <p:cNvPr id="119" name="TextBox 12"/>
          <p:cNvSpPr txBox="1"/>
          <p:nvPr/>
        </p:nvSpPr>
        <p:spPr>
          <a:xfrm>
            <a:off x="536700" y="1965961"/>
            <a:ext cx="5340100" cy="86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복잡한 문제를 체계적으로 분해하기 어렵다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데이터 수집·분석·의사결정이 한 모델에 과도 의존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다양한 도메인(주식·뉴스·SNS·재무) 통합 반영 불가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확장성·유지보수에서 구조적 한계 발생</a:t>
            </a:r>
          </a:p>
        </p:txBody>
      </p:sp>
      <p:sp>
        <p:nvSpPr>
          <p:cNvPr id="120" name="Rounded Rectangle 13"/>
          <p:cNvSpPr/>
          <p:nvPr/>
        </p:nvSpPr>
        <p:spPr>
          <a:xfrm>
            <a:off x="6132829" y="1097280"/>
            <a:ext cx="5669282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" name="Rectangle 14"/>
          <p:cNvSpPr/>
          <p:nvPr/>
        </p:nvSpPr>
        <p:spPr>
          <a:xfrm>
            <a:off x="6132829" y="1097280"/>
            <a:ext cx="566928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" name="Oval 15"/>
          <p:cNvSpPr/>
          <p:nvPr/>
        </p:nvSpPr>
        <p:spPr>
          <a:xfrm>
            <a:off x="6315709" y="1325880"/>
            <a:ext cx="502923" cy="50292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" name="TextBox 16"/>
          <p:cNvSpPr txBox="1"/>
          <p:nvPr/>
        </p:nvSpPr>
        <p:spPr>
          <a:xfrm>
            <a:off x="6343141" y="1425700"/>
            <a:ext cx="448057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24" name="TextBox 17"/>
          <p:cNvSpPr txBox="1"/>
          <p:nvPr/>
        </p:nvSpPr>
        <p:spPr>
          <a:xfrm>
            <a:off x="6937501" y="1344166"/>
            <a:ext cx="474573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현실의 의사결정은 협업 구조</a:t>
            </a:r>
          </a:p>
        </p:txBody>
      </p:sp>
      <p:sp>
        <p:nvSpPr>
          <p:cNvPr id="125" name="TextBox 18"/>
          <p:cNvSpPr txBox="1"/>
          <p:nvPr/>
        </p:nvSpPr>
        <p:spPr>
          <a:xfrm>
            <a:off x="6297421" y="1965961"/>
            <a:ext cx="5340097" cy="872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정보 수집 → 분석 → 판단 → 추천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여러 전문가의 협업 형태로 이루어짐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기존 AI 시스템은 이를 반영하지 못함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역할별 AI 에이전트가 협업하는 구조가 필요</a:t>
            </a:r>
          </a:p>
        </p:txBody>
      </p:sp>
      <p:sp>
        <p:nvSpPr>
          <p:cNvPr id="126" name="TextBox 19"/>
          <p:cNvSpPr txBox="1"/>
          <p:nvPr/>
        </p:nvSpPr>
        <p:spPr>
          <a:xfrm>
            <a:off x="399540" y="3474720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Antelligen의 5가지 목표</a:t>
            </a:r>
          </a:p>
        </p:txBody>
      </p:sp>
      <p:sp>
        <p:nvSpPr>
          <p:cNvPr id="127" name="Rounded Rectangle 20"/>
          <p:cNvSpPr/>
          <p:nvPr/>
        </p:nvSpPr>
        <p:spPr>
          <a:xfrm>
            <a:off x="372108" y="3931920"/>
            <a:ext cx="2194563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Oval 21"/>
          <p:cNvSpPr/>
          <p:nvPr/>
        </p:nvSpPr>
        <p:spPr>
          <a:xfrm>
            <a:off x="536701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" name="TextBox 22"/>
          <p:cNvSpPr txBox="1"/>
          <p:nvPr/>
        </p:nvSpPr>
        <p:spPr>
          <a:xfrm>
            <a:off x="564133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🏗</a:t>
            </a:r>
          </a:p>
        </p:txBody>
      </p:sp>
      <p:sp>
        <p:nvSpPr>
          <p:cNvPr id="130" name="TextBox 23"/>
          <p:cNvSpPr txBox="1"/>
          <p:nvPr/>
        </p:nvSpPr>
        <p:spPr>
          <a:xfrm>
            <a:off x="1112774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구조적 AI 시스템</a:t>
            </a:r>
          </a:p>
        </p:txBody>
      </p:sp>
      <p:sp>
        <p:nvSpPr>
          <p:cNvPr id="131" name="TextBox 24"/>
          <p:cNvSpPr txBox="1"/>
          <p:nvPr/>
        </p:nvSpPr>
        <p:spPr>
          <a:xfrm>
            <a:off x="564132" y="4617720"/>
            <a:ext cx="1920244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데이터·분석·결정 협업</a:t>
            </a:r>
          </a:p>
        </p:txBody>
      </p:sp>
      <p:sp>
        <p:nvSpPr>
          <p:cNvPr id="132" name="Rounded Rectangle 25"/>
          <p:cNvSpPr/>
          <p:nvPr/>
        </p:nvSpPr>
        <p:spPr>
          <a:xfrm>
            <a:off x="2621533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Oval 26"/>
          <p:cNvSpPr/>
          <p:nvPr/>
        </p:nvSpPr>
        <p:spPr>
          <a:xfrm>
            <a:off x="2786126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TextBox 27"/>
          <p:cNvSpPr txBox="1"/>
          <p:nvPr/>
        </p:nvSpPr>
        <p:spPr>
          <a:xfrm>
            <a:off x="2813557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🧩</a:t>
            </a:r>
          </a:p>
        </p:txBody>
      </p:sp>
      <p:sp>
        <p:nvSpPr>
          <p:cNvPr id="135" name="TextBox 28"/>
          <p:cNvSpPr txBox="1"/>
          <p:nvPr/>
        </p:nvSpPr>
        <p:spPr>
          <a:xfrm>
            <a:off x="3362197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확장 가능한 아키텍처</a:t>
            </a:r>
          </a:p>
        </p:txBody>
      </p:sp>
      <p:sp>
        <p:nvSpPr>
          <p:cNvPr id="136" name="TextBox 29"/>
          <p:cNvSpPr txBox="1"/>
          <p:nvPr/>
        </p:nvSpPr>
        <p:spPr>
          <a:xfrm>
            <a:off x="2813557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기능 추가 영향 최소화</a:t>
            </a:r>
          </a:p>
        </p:txBody>
      </p:sp>
      <p:sp>
        <p:nvSpPr>
          <p:cNvPr id="137" name="Rounded Rectangle 30"/>
          <p:cNvSpPr/>
          <p:nvPr/>
        </p:nvSpPr>
        <p:spPr>
          <a:xfrm>
            <a:off x="4870958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" name="Oval 31"/>
          <p:cNvSpPr/>
          <p:nvPr/>
        </p:nvSpPr>
        <p:spPr>
          <a:xfrm>
            <a:off x="5035550" y="4069079"/>
            <a:ext cx="457200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" name="TextBox 32"/>
          <p:cNvSpPr txBox="1"/>
          <p:nvPr/>
        </p:nvSpPr>
        <p:spPr>
          <a:xfrm>
            <a:off x="5062982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🤝</a:t>
            </a:r>
          </a:p>
        </p:txBody>
      </p:sp>
      <p:sp>
        <p:nvSpPr>
          <p:cNvPr id="140" name="TextBox 33"/>
          <p:cNvSpPr txBox="1"/>
          <p:nvPr/>
        </p:nvSpPr>
        <p:spPr>
          <a:xfrm>
            <a:off x="5611621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현실적 협업 흐름</a:t>
            </a:r>
          </a:p>
        </p:txBody>
      </p:sp>
      <p:sp>
        <p:nvSpPr>
          <p:cNvPr id="141" name="TextBox 34"/>
          <p:cNvSpPr txBox="1"/>
          <p:nvPr/>
        </p:nvSpPr>
        <p:spPr>
          <a:xfrm>
            <a:off x="5062982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사람의 업무를 AI 협업으로</a:t>
            </a:r>
          </a:p>
        </p:txBody>
      </p:sp>
      <p:sp>
        <p:nvSpPr>
          <p:cNvPr id="142" name="Rounded Rectangle 35"/>
          <p:cNvSpPr/>
          <p:nvPr/>
        </p:nvSpPr>
        <p:spPr>
          <a:xfrm>
            <a:off x="7120380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Oval 36"/>
          <p:cNvSpPr/>
          <p:nvPr/>
        </p:nvSpPr>
        <p:spPr>
          <a:xfrm>
            <a:off x="7284973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TextBox 37"/>
          <p:cNvSpPr txBox="1"/>
          <p:nvPr/>
        </p:nvSpPr>
        <p:spPr>
          <a:xfrm>
            <a:off x="7312404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👤</a:t>
            </a:r>
          </a:p>
        </p:txBody>
      </p:sp>
      <p:sp>
        <p:nvSpPr>
          <p:cNvPr id="145" name="TextBox 38"/>
          <p:cNvSpPr txBox="1"/>
          <p:nvPr/>
        </p:nvSpPr>
        <p:spPr>
          <a:xfrm>
            <a:off x="7861044" y="4069079"/>
            <a:ext cx="1417323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사용자 맞춤 분석</a:t>
            </a:r>
          </a:p>
        </p:txBody>
      </p:sp>
      <p:sp>
        <p:nvSpPr>
          <p:cNvPr id="146" name="TextBox 39"/>
          <p:cNvSpPr txBox="1"/>
          <p:nvPr/>
        </p:nvSpPr>
        <p:spPr>
          <a:xfrm>
            <a:off x="7312404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성향·관심 종목 개인화</a:t>
            </a:r>
          </a:p>
        </p:txBody>
      </p:sp>
      <p:sp>
        <p:nvSpPr>
          <p:cNvPr id="147" name="Rounded Rectangle 40"/>
          <p:cNvSpPr/>
          <p:nvPr/>
        </p:nvSpPr>
        <p:spPr>
          <a:xfrm>
            <a:off x="9369806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Oval 41"/>
          <p:cNvSpPr/>
          <p:nvPr/>
        </p:nvSpPr>
        <p:spPr>
          <a:xfrm>
            <a:off x="9534397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TextBox 42"/>
          <p:cNvSpPr txBox="1"/>
          <p:nvPr/>
        </p:nvSpPr>
        <p:spPr>
          <a:xfrm>
            <a:off x="9561828" y="4146041"/>
            <a:ext cx="402338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⚙</a:t>
            </a:r>
          </a:p>
        </p:txBody>
      </p:sp>
      <p:sp>
        <p:nvSpPr>
          <p:cNvPr id="150" name="TextBox 43"/>
          <p:cNvSpPr txBox="1"/>
          <p:nvPr/>
        </p:nvSpPr>
        <p:spPr>
          <a:xfrm>
            <a:off x="10110468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자동화·효율성</a:t>
            </a:r>
          </a:p>
        </p:txBody>
      </p:sp>
      <p:sp>
        <p:nvSpPr>
          <p:cNvPr id="151" name="TextBox 44"/>
          <p:cNvSpPr txBox="1"/>
          <p:nvPr/>
        </p:nvSpPr>
        <p:spPr>
          <a:xfrm>
            <a:off x="9561828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반복 분석 자동화</a:t>
            </a:r>
          </a:p>
        </p:txBody>
      </p:sp>
      <p:sp>
        <p:nvSpPr>
          <p:cNvPr id="152" name="Rounded Rectangle 45"/>
          <p:cNvSpPr/>
          <p:nvPr/>
        </p:nvSpPr>
        <p:spPr>
          <a:xfrm>
            <a:off x="372108" y="5532120"/>
            <a:ext cx="11430002" cy="77724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" name="TextBox 46"/>
          <p:cNvSpPr txBox="1"/>
          <p:nvPr/>
        </p:nvSpPr>
        <p:spPr>
          <a:xfrm>
            <a:off x="399540" y="5788276"/>
            <a:ext cx="11375139" cy="264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“AI 간 협업을 통해 문제를 해결하는 새로운 서비스 구조”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" name="TextBox 3"/>
          <p:cNvSpPr txBox="1"/>
          <p:nvPr/>
        </p:nvSpPr>
        <p:spPr>
          <a:xfrm>
            <a:off x="399540" y="164591"/>
            <a:ext cx="10460739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TAM · SAM · SOM</a:t>
            </a:r>
          </a:p>
        </p:txBody>
      </p:sp>
      <p:sp>
        <p:nvSpPr>
          <p:cNvPr id="158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목표 시장 및 고객 요구 사항</a:t>
            </a:r>
          </a:p>
        </p:txBody>
      </p:sp>
      <p:sp>
        <p:nvSpPr>
          <p:cNvPr id="159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#3</a:t>
            </a:r>
          </a:p>
        </p:txBody>
      </p:sp>
      <p:sp>
        <p:nvSpPr>
          <p:cNvPr id="161" name="Rounded Rectangle 7"/>
          <p:cNvSpPr/>
          <p:nvPr/>
        </p:nvSpPr>
        <p:spPr>
          <a:xfrm>
            <a:off x="554990" y="1280160"/>
            <a:ext cx="10972801" cy="137160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2" name="TextBox 8"/>
          <p:cNvSpPr txBox="1"/>
          <p:nvPr/>
        </p:nvSpPr>
        <p:spPr>
          <a:xfrm>
            <a:off x="582422" y="1353311"/>
            <a:ext cx="10917936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TAM — 글로벌 AI 에이전트 시장</a:t>
            </a:r>
          </a:p>
        </p:txBody>
      </p:sp>
      <p:sp>
        <p:nvSpPr>
          <p:cNvPr id="163" name="TextBox 9"/>
          <p:cNvSpPr txBox="1"/>
          <p:nvPr/>
        </p:nvSpPr>
        <p:spPr>
          <a:xfrm>
            <a:off x="582422" y="1874517"/>
            <a:ext cx="10917936" cy="20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1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$76B (2025) → $1,820B (2033) · CAGR ≈ 50%</a:t>
            </a:r>
          </a:p>
        </p:txBody>
      </p:sp>
      <p:sp>
        <p:nvSpPr>
          <p:cNvPr id="164" name="Rounded Rectangle 10"/>
          <p:cNvSpPr/>
          <p:nvPr/>
        </p:nvSpPr>
        <p:spPr>
          <a:xfrm>
            <a:off x="1469388" y="2926078"/>
            <a:ext cx="9144002" cy="13716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5" name="TextBox 11"/>
          <p:cNvSpPr txBox="1"/>
          <p:nvPr/>
        </p:nvSpPr>
        <p:spPr>
          <a:xfrm>
            <a:off x="1496822" y="2999232"/>
            <a:ext cx="9089136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SAM — 국내 AI / BFSI</a:t>
            </a:r>
          </a:p>
        </p:txBody>
      </p:sp>
      <p:sp>
        <p:nvSpPr>
          <p:cNvPr id="166" name="TextBox 12"/>
          <p:cNvSpPr txBox="1"/>
          <p:nvPr/>
        </p:nvSpPr>
        <p:spPr>
          <a:xfrm>
            <a:off x="1496822" y="3520440"/>
            <a:ext cx="9089136" cy="214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1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$5.47B (2024) → $53.87B (2032) · 알고리즘 트레이딩·사기 탐지·리스크</a:t>
            </a:r>
          </a:p>
        </p:txBody>
      </p:sp>
      <p:sp>
        <p:nvSpPr>
          <p:cNvPr id="167" name="Rounded Rectangle 13"/>
          <p:cNvSpPr/>
          <p:nvPr/>
        </p:nvSpPr>
        <p:spPr>
          <a:xfrm>
            <a:off x="2383788" y="4572000"/>
            <a:ext cx="7315202" cy="1371600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" name="TextBox 14"/>
          <p:cNvSpPr txBox="1"/>
          <p:nvPr/>
        </p:nvSpPr>
        <p:spPr>
          <a:xfrm>
            <a:off x="2411222" y="4645152"/>
            <a:ext cx="7260336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SOM — 국내 금융 AI SW + 클라우드</a:t>
            </a:r>
          </a:p>
        </p:txBody>
      </p:sp>
      <p:sp>
        <p:nvSpPr>
          <p:cNvPr id="169" name="TextBox 15"/>
          <p:cNvSpPr txBox="1"/>
          <p:nvPr/>
        </p:nvSpPr>
        <p:spPr>
          <a:xfrm>
            <a:off x="2411222" y="5166359"/>
            <a:ext cx="7260336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1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AI SW 48.5% · 클라우드 34.9% · SME + 개인 투자자 타겟</a:t>
            </a:r>
          </a:p>
        </p:txBody>
      </p:sp>
      <p:sp>
        <p:nvSpPr>
          <p:cNvPr id="170" name="TextBox 16"/>
          <p:cNvSpPr txBox="1"/>
          <p:nvPr/>
        </p:nvSpPr>
        <p:spPr>
          <a:xfrm>
            <a:off x="582422" y="6126479"/>
            <a:ext cx="10917936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i="1"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예측 분석·의사결정 시장 — 2030년 약 $82.35B 규모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고객의 핵심 Pain Points</a:t>
            </a:r>
          </a:p>
        </p:txBody>
      </p:sp>
      <p:sp>
        <p:nvSpPr>
          <p:cNvPr id="175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MAS(Multi-Agent System) 도입 고객의 3대 문제</a:t>
            </a:r>
          </a:p>
        </p:txBody>
      </p:sp>
      <p:sp>
        <p:nvSpPr>
          <p:cNvPr id="176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7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#4</a:t>
            </a:r>
          </a:p>
        </p:txBody>
      </p:sp>
      <p:sp>
        <p:nvSpPr>
          <p:cNvPr id="178" name="Rounded Rectangle 7"/>
          <p:cNvSpPr/>
          <p:nvPr/>
        </p:nvSpPr>
        <p:spPr>
          <a:xfrm>
            <a:off x="372108" y="1097280"/>
            <a:ext cx="3749042" cy="3657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9" name="Rectangle 8"/>
          <p:cNvSpPr/>
          <p:nvPr/>
        </p:nvSpPr>
        <p:spPr>
          <a:xfrm>
            <a:off x="372108" y="1097280"/>
            <a:ext cx="3749042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" name="Oval 9"/>
          <p:cNvSpPr/>
          <p:nvPr/>
        </p:nvSpPr>
        <p:spPr>
          <a:xfrm>
            <a:off x="1926588" y="1371599"/>
            <a:ext cx="640083" cy="640084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" name="TextBox 10"/>
          <p:cNvSpPr txBox="1"/>
          <p:nvPr/>
        </p:nvSpPr>
        <p:spPr>
          <a:xfrm>
            <a:off x="1954022" y="1470150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👁</a:t>
            </a:r>
          </a:p>
        </p:txBody>
      </p:sp>
      <p:sp>
        <p:nvSpPr>
          <p:cNvPr id="182" name="TextBox 11"/>
          <p:cNvSpPr txBox="1"/>
          <p:nvPr/>
        </p:nvSpPr>
        <p:spPr>
          <a:xfrm>
            <a:off x="399540" y="2148838"/>
            <a:ext cx="36941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1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Observability</a:t>
            </a:r>
          </a:p>
        </p:txBody>
      </p:sp>
      <p:sp>
        <p:nvSpPr>
          <p:cNvPr id="183" name="TextBox 12"/>
          <p:cNvSpPr txBox="1"/>
          <p:nvPr/>
        </p:nvSpPr>
        <p:spPr>
          <a:xfrm>
            <a:off x="399540" y="2468878"/>
            <a:ext cx="3694178" cy="331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가시성 / 디버깅</a:t>
            </a:r>
          </a:p>
        </p:txBody>
      </p:sp>
      <p:sp>
        <p:nvSpPr>
          <p:cNvPr id="184" name="TextBox 13"/>
          <p:cNvSpPr txBox="1"/>
          <p:nvPr/>
        </p:nvSpPr>
        <p:spPr>
          <a:xfrm>
            <a:off x="600710" y="3108961"/>
            <a:ext cx="3383280" cy="62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멀티 에이전트 = 블랙박스화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실패 원인 파악 어려움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필요: Tracing · 의사결정 시각화 · Tool 사용 로그</a:t>
            </a:r>
          </a:p>
        </p:txBody>
      </p:sp>
      <p:sp>
        <p:nvSpPr>
          <p:cNvPr id="185" name="Rounded Rectangle 14"/>
          <p:cNvSpPr/>
          <p:nvPr/>
        </p:nvSpPr>
        <p:spPr>
          <a:xfrm>
            <a:off x="4258309" y="1097280"/>
            <a:ext cx="3749041" cy="3657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" name="Rectangle 15"/>
          <p:cNvSpPr/>
          <p:nvPr/>
        </p:nvSpPr>
        <p:spPr>
          <a:xfrm>
            <a:off x="4258308" y="1097280"/>
            <a:ext cx="3749042" cy="73154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7" name="Oval 16"/>
          <p:cNvSpPr/>
          <p:nvPr/>
        </p:nvSpPr>
        <p:spPr>
          <a:xfrm>
            <a:off x="5812790" y="1371599"/>
            <a:ext cx="640083" cy="640084"/>
          </a:xfrm>
          <a:prstGeom prst="ellipse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8" name="TextBox 17"/>
          <p:cNvSpPr txBox="1"/>
          <p:nvPr/>
        </p:nvSpPr>
        <p:spPr>
          <a:xfrm>
            <a:off x="5840221" y="1470150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💰</a:t>
            </a:r>
          </a:p>
        </p:txBody>
      </p:sp>
      <p:sp>
        <p:nvSpPr>
          <p:cNvPr id="189" name="TextBox 18"/>
          <p:cNvSpPr txBox="1"/>
          <p:nvPr/>
        </p:nvSpPr>
        <p:spPr>
          <a:xfrm>
            <a:off x="4285741" y="2148838"/>
            <a:ext cx="3694177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100">
                <a:solidFill>
                  <a:srgbClr val="FAB38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Cost Control</a:t>
            </a:r>
          </a:p>
        </p:txBody>
      </p:sp>
      <p:sp>
        <p:nvSpPr>
          <p:cNvPr id="190" name="TextBox 19"/>
          <p:cNvSpPr txBox="1"/>
          <p:nvPr/>
        </p:nvSpPr>
        <p:spPr>
          <a:xfrm>
            <a:off x="4285741" y="2468878"/>
            <a:ext cx="3694177" cy="331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비용 통제</a:t>
            </a:r>
          </a:p>
        </p:txBody>
      </p:sp>
      <p:sp>
        <p:nvSpPr>
          <p:cNvPr id="191" name="TextBox 20"/>
          <p:cNvSpPr txBox="1"/>
          <p:nvPr/>
        </p:nvSpPr>
        <p:spPr>
          <a:xfrm>
            <a:off x="4486909" y="3108961"/>
            <a:ext cx="3383282" cy="62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토큰 비용 급증 (Runaway Cost)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비효율 에이전트 루프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필요: 비용 추적 · 예산 관리 · 작업 최적화</a:t>
            </a:r>
          </a:p>
        </p:txBody>
      </p:sp>
      <p:sp>
        <p:nvSpPr>
          <p:cNvPr id="192" name="Rounded Rectangle 21"/>
          <p:cNvSpPr/>
          <p:nvPr/>
        </p:nvSpPr>
        <p:spPr>
          <a:xfrm>
            <a:off x="8144509" y="1097280"/>
            <a:ext cx="3749041" cy="3657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3" name="Rectangle 22"/>
          <p:cNvSpPr/>
          <p:nvPr/>
        </p:nvSpPr>
        <p:spPr>
          <a:xfrm>
            <a:off x="8144508" y="1097280"/>
            <a:ext cx="374904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4" name="Oval 23"/>
          <p:cNvSpPr/>
          <p:nvPr/>
        </p:nvSpPr>
        <p:spPr>
          <a:xfrm>
            <a:off x="9698990" y="1371599"/>
            <a:ext cx="640083" cy="640084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" name="TextBox 24"/>
          <p:cNvSpPr txBox="1"/>
          <p:nvPr/>
        </p:nvSpPr>
        <p:spPr>
          <a:xfrm>
            <a:off x="9726421" y="1470150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🔒</a:t>
            </a:r>
          </a:p>
        </p:txBody>
      </p:sp>
      <p:sp>
        <p:nvSpPr>
          <p:cNvPr id="196" name="TextBox 25"/>
          <p:cNvSpPr txBox="1"/>
          <p:nvPr/>
        </p:nvSpPr>
        <p:spPr>
          <a:xfrm>
            <a:off x="8171940" y="2148838"/>
            <a:ext cx="3694177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100">
                <a:solidFill>
                  <a:srgbClr val="6BD7A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Governance</a:t>
            </a:r>
          </a:p>
        </p:txBody>
      </p:sp>
      <p:sp>
        <p:nvSpPr>
          <p:cNvPr id="197" name="TextBox 26"/>
          <p:cNvSpPr txBox="1"/>
          <p:nvPr/>
        </p:nvSpPr>
        <p:spPr>
          <a:xfrm>
            <a:off x="8171940" y="2468878"/>
            <a:ext cx="3694177" cy="331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거버넌스 / 보안</a:t>
            </a:r>
          </a:p>
        </p:txBody>
      </p:sp>
      <p:sp>
        <p:nvSpPr>
          <p:cNvPr id="198" name="TextBox 27"/>
          <p:cNvSpPr txBox="1"/>
          <p:nvPr/>
        </p:nvSpPr>
        <p:spPr>
          <a:xfrm>
            <a:off x="8373109" y="3108961"/>
            <a:ext cx="3383282" cy="62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금융 데이터 민감성 / PII 유출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Prompt Injection 위험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필요: 데이터 마스킹 · 정책 필터링 · Audit Trail</a:t>
            </a:r>
          </a:p>
        </p:txBody>
      </p:sp>
      <p:sp>
        <p:nvSpPr>
          <p:cNvPr id="199" name="Rounded Rectangle 28"/>
          <p:cNvSpPr/>
          <p:nvPr/>
        </p:nvSpPr>
        <p:spPr>
          <a:xfrm>
            <a:off x="372108" y="5120640"/>
            <a:ext cx="11430002" cy="128016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TextBox 29"/>
          <p:cNvSpPr txBox="1"/>
          <p:nvPr/>
        </p:nvSpPr>
        <p:spPr>
          <a:xfrm>
            <a:off x="399540" y="5212079"/>
            <a:ext cx="11375139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💡  핵심 인사이트</a:t>
            </a:r>
          </a:p>
        </p:txBody>
      </p:sp>
      <p:sp>
        <p:nvSpPr>
          <p:cNvPr id="201" name="TextBox 30"/>
          <p:cNvSpPr txBox="1"/>
          <p:nvPr/>
        </p:nvSpPr>
        <p:spPr>
          <a:xfrm>
            <a:off x="399540" y="5704709"/>
            <a:ext cx="113751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“신뢰와 통제가 없는 AI는 금융에서 실패한다”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2. 실현 가능성 (Solution)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서비스 개발 및 문제점 해결 방안 (1/2)</a:t>
            </a:r>
          </a:p>
        </p:txBody>
      </p:sp>
      <p:sp>
        <p:nvSpPr>
          <p:cNvPr id="211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#5</a:t>
            </a:r>
          </a:p>
        </p:txBody>
      </p:sp>
      <p:sp>
        <p:nvSpPr>
          <p:cNvPr id="212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신뢰도·커버리지 해결</a:t>
            </a:r>
          </a:p>
        </p:txBody>
      </p:sp>
      <p:graphicFrame>
        <p:nvGraphicFramePr>
          <p:cNvPr id="213" name="Table 5"/>
          <p:cNvGraphicFramePr/>
          <p:nvPr/>
        </p:nvGraphicFramePr>
        <p:xfrm>
          <a:off x="457200" y="2689860"/>
          <a:ext cx="11274553" cy="192024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4003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P-1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 8종목 제한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TickerKeywordResolver Port — 전 KRX 2,500+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P-2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미국 종목 미지원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MarketRegion 추상 + SerpAPI / yfinance / SEC EDGAR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P-3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잠정실적 누락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OpenDartPreliminaryEarningsProvider — 어닝 갭 윈도우 포착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P-4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출처 무관 단순 평균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SourceTier (HIGH/MEDIUM/MEDIUM_LOW/LOW) 가중치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P-5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엔터주 SNS 시그널 묻힘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_SECTOR_OVERRIDE — 섹터별 소스 가중 보정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16" name="Rectangle 6"/>
          <p:cNvGrpSpPr/>
          <p:nvPr/>
        </p:nvGrpSpPr>
        <p:grpSpPr>
          <a:xfrm>
            <a:off x="457198" y="5849110"/>
            <a:ext cx="11274556" cy="414530"/>
            <a:chOff x="0" y="0"/>
            <a:chExt cx="11274555" cy="414529"/>
          </a:xfrm>
        </p:grpSpPr>
        <p:sp>
          <p:nvSpPr>
            <p:cNvPr id="214" name="직사각형"/>
            <p:cNvSpPr/>
            <p:nvPr/>
          </p:nvSpPr>
          <p:spPr>
            <a:xfrm>
              <a:off x="-1" y="0"/>
              <a:ext cx="11274556" cy="414530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15" name="&quot;신호의 양을 늘리되, 신호의 품질을 메타데이터로 표현한다&quot;"/>
            <p:cNvSpPr txBox="1"/>
            <p:nvPr/>
          </p:nvSpPr>
          <p:spPr>
            <a:xfrm>
              <a:off x="77914" y="20573"/>
              <a:ext cx="11118726" cy="373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"신호의 양을 늘리되, 신호의 품질을 메타데이터로 표현한다"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서비스 개발 및 문제점 해결 방안 (2/2)</a:t>
            </a:r>
          </a:p>
        </p:txBody>
      </p:sp>
      <p:sp>
        <p:nvSpPr>
          <p:cNvPr id="22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#6</a:t>
            </a:r>
          </a:p>
        </p:txBody>
      </p:sp>
      <p:sp>
        <p:nvSpPr>
          <p:cNvPr id="223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운영·비용·UX 해결</a:t>
            </a:r>
          </a:p>
        </p:txBody>
      </p:sp>
      <p:graphicFrame>
        <p:nvGraphicFramePr>
          <p:cNvPr id="224" name="Table 5"/>
          <p:cNvGraphicFramePr/>
          <p:nvPr/>
        </p:nvGraphicFramePr>
        <p:xfrm>
          <a:off x="457200" y="1772141"/>
          <a:ext cx="11274553" cy="233680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3368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P-6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LLM·YouTube quota 폭주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다층 캐시 (4h / 7d / 1d / 1h) + 조건부 startup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P-7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동시 요청 → DART 중복 호출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Redis 분산 락 (SET NX EX) + 멱등성 가드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P-8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응답 지연 5~10초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1h Postgres 캐시 + 3-에이전트 병렬 + 사업개요 별도 task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P-9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시그널만 있고 맥락 없음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BusinessOverview 카드 — RAG → LLM 요약, 7d 캐시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P-10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1개 죽으면 전체 실패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asyncio.gather(return_exceptions=True) 부분 실패 허용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P-11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"왜 이 결론?"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LangSmith Tracing + 출처 영속화 + Explainable 가중치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25" name="TextBox 6"/>
          <p:cNvSpPr txBox="1"/>
          <p:nvPr/>
        </p:nvSpPr>
        <p:spPr>
          <a:xfrm>
            <a:off x="466343" y="448509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6대 해결 원칙</a:t>
            </a:r>
          </a:p>
        </p:txBody>
      </p:sp>
      <p:sp>
        <p:nvSpPr>
          <p:cNvPr id="226" name="TextBox 7"/>
          <p:cNvSpPr txBox="1"/>
          <p:nvPr/>
        </p:nvSpPr>
        <p:spPr>
          <a:xfrm>
            <a:off x="457198" y="5002573"/>
            <a:ext cx="11274556" cy="1657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추상은 도메인에서, 실행은 어댑터에서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시간을 캐시로 사면 LLM 비용은 떨어진다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부분 실패는 기능, 전체 실패는 버그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신호의 품질을 메타데이터로 표현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동시성은 atomic primitive로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거버넌스는 사후가 아닌 사전 설계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1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2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경쟁사 분석</a:t>
            </a:r>
          </a:p>
        </p:txBody>
      </p:sp>
      <p:sp>
        <p:nvSpPr>
          <p:cNvPr id="233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기술 프레임워크 vs 서비스형 플랫폼</a:t>
            </a:r>
          </a:p>
        </p:txBody>
      </p:sp>
      <p:sp>
        <p:nvSpPr>
          <p:cNvPr id="234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5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#7</a:t>
            </a:r>
          </a:p>
        </p:txBody>
      </p:sp>
      <p:sp>
        <p:nvSpPr>
          <p:cNvPr id="236" name="TextBox 7"/>
          <p:cNvSpPr txBox="1"/>
          <p:nvPr/>
        </p:nvSpPr>
        <p:spPr>
          <a:xfrm>
            <a:off x="399541" y="1097280"/>
            <a:ext cx="561441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🔧  기술 프레임워크 경쟁자</a:t>
            </a:r>
          </a:p>
        </p:txBody>
      </p:sp>
      <p:sp>
        <p:nvSpPr>
          <p:cNvPr id="237" name="Rounded Rectangle 8"/>
          <p:cNvSpPr/>
          <p:nvPr/>
        </p:nvSpPr>
        <p:spPr>
          <a:xfrm>
            <a:off x="372108" y="1554480"/>
            <a:ext cx="5669283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8" name="Rectangle 9"/>
          <p:cNvSpPr/>
          <p:nvPr/>
        </p:nvSpPr>
        <p:spPr>
          <a:xfrm>
            <a:off x="372108" y="1554480"/>
            <a:ext cx="73154" cy="640082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9" name="TextBox 10"/>
          <p:cNvSpPr txBox="1"/>
          <p:nvPr/>
        </p:nvSpPr>
        <p:spPr>
          <a:xfrm>
            <a:off x="582421" y="1773682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LangChain / LangGraph</a:t>
            </a:r>
          </a:p>
        </p:txBody>
      </p:sp>
      <p:sp>
        <p:nvSpPr>
          <p:cNvPr id="240" name="TextBox 11"/>
          <p:cNvSpPr txBox="1"/>
          <p:nvPr/>
        </p:nvSpPr>
        <p:spPr>
          <a:xfrm>
            <a:off x="2959861" y="1775585"/>
            <a:ext cx="296265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표준 프레임워크 · 우리도 사용</a:t>
            </a:r>
          </a:p>
        </p:txBody>
      </p:sp>
      <p:sp>
        <p:nvSpPr>
          <p:cNvPr id="241" name="Rounded Rectangle 12"/>
          <p:cNvSpPr/>
          <p:nvPr/>
        </p:nvSpPr>
        <p:spPr>
          <a:xfrm>
            <a:off x="372108" y="2267711"/>
            <a:ext cx="5669283" cy="64008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2" name="Rectangle 13"/>
          <p:cNvSpPr/>
          <p:nvPr/>
        </p:nvSpPr>
        <p:spPr>
          <a:xfrm>
            <a:off x="372108" y="2267711"/>
            <a:ext cx="73154" cy="640081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3" name="TextBox 14"/>
          <p:cNvSpPr txBox="1"/>
          <p:nvPr/>
        </p:nvSpPr>
        <p:spPr>
          <a:xfrm>
            <a:off x="582421" y="2486912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CrewAI</a:t>
            </a:r>
          </a:p>
        </p:txBody>
      </p:sp>
      <p:sp>
        <p:nvSpPr>
          <p:cNvPr id="244" name="TextBox 15"/>
          <p:cNvSpPr txBox="1"/>
          <p:nvPr/>
        </p:nvSpPr>
        <p:spPr>
          <a:xfrm>
            <a:off x="2959861" y="2488817"/>
            <a:ext cx="296265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Role-based 에이전트 · 단순 협업</a:t>
            </a:r>
          </a:p>
        </p:txBody>
      </p:sp>
      <p:sp>
        <p:nvSpPr>
          <p:cNvPr id="245" name="Rounded Rectangle 16"/>
          <p:cNvSpPr/>
          <p:nvPr/>
        </p:nvSpPr>
        <p:spPr>
          <a:xfrm>
            <a:off x="372108" y="2980944"/>
            <a:ext cx="5669283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6" name="Rectangle 17"/>
          <p:cNvSpPr/>
          <p:nvPr/>
        </p:nvSpPr>
        <p:spPr>
          <a:xfrm>
            <a:off x="372108" y="2980944"/>
            <a:ext cx="73154" cy="640082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7" name="TextBox 18"/>
          <p:cNvSpPr txBox="1"/>
          <p:nvPr/>
        </p:nvSpPr>
        <p:spPr>
          <a:xfrm>
            <a:off x="582421" y="3200145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AutoGen (MS)</a:t>
            </a:r>
          </a:p>
        </p:txBody>
      </p:sp>
      <p:sp>
        <p:nvSpPr>
          <p:cNvPr id="248" name="TextBox 19"/>
          <p:cNvSpPr txBox="1"/>
          <p:nvPr/>
        </p:nvSpPr>
        <p:spPr>
          <a:xfrm>
            <a:off x="2959861" y="3202048"/>
            <a:ext cx="2962657" cy="197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대화형 에이전트 · 연구용</a:t>
            </a:r>
          </a:p>
        </p:txBody>
      </p:sp>
      <p:sp>
        <p:nvSpPr>
          <p:cNvPr id="249" name="Rounded Rectangle 20"/>
          <p:cNvSpPr/>
          <p:nvPr/>
        </p:nvSpPr>
        <p:spPr>
          <a:xfrm>
            <a:off x="372108" y="3694176"/>
            <a:ext cx="5669283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0" name="Rectangle 21"/>
          <p:cNvSpPr/>
          <p:nvPr/>
        </p:nvSpPr>
        <p:spPr>
          <a:xfrm>
            <a:off x="372108" y="3694176"/>
            <a:ext cx="73154" cy="640082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1" name="TextBox 22"/>
          <p:cNvSpPr txBox="1"/>
          <p:nvPr/>
        </p:nvSpPr>
        <p:spPr>
          <a:xfrm>
            <a:off x="582421" y="3913378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Semantic Kernel</a:t>
            </a:r>
          </a:p>
        </p:txBody>
      </p:sp>
      <p:sp>
        <p:nvSpPr>
          <p:cNvPr id="252" name="TextBox 23"/>
          <p:cNvSpPr txBox="1"/>
          <p:nvPr/>
        </p:nvSpPr>
        <p:spPr>
          <a:xfrm>
            <a:off x="2959861" y="3915281"/>
            <a:ext cx="296265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MS Copilot 통합 중심</a:t>
            </a:r>
          </a:p>
        </p:txBody>
      </p:sp>
      <p:sp>
        <p:nvSpPr>
          <p:cNvPr id="253" name="TextBox 24"/>
          <p:cNvSpPr txBox="1"/>
          <p:nvPr/>
        </p:nvSpPr>
        <p:spPr>
          <a:xfrm>
            <a:off x="6251702" y="1097280"/>
            <a:ext cx="5614417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C4A6F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🌐  서비스형 플랫폼</a:t>
            </a:r>
          </a:p>
        </p:txBody>
      </p:sp>
      <p:sp>
        <p:nvSpPr>
          <p:cNvPr id="254" name="Rounded Rectangle 25"/>
          <p:cNvSpPr/>
          <p:nvPr/>
        </p:nvSpPr>
        <p:spPr>
          <a:xfrm>
            <a:off x="6224270" y="1554480"/>
            <a:ext cx="5669280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5" name="Rectangle 26"/>
          <p:cNvSpPr/>
          <p:nvPr/>
        </p:nvSpPr>
        <p:spPr>
          <a:xfrm>
            <a:off x="6224270" y="1554480"/>
            <a:ext cx="73154" cy="640082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6" name="TextBox 27"/>
          <p:cNvSpPr txBox="1"/>
          <p:nvPr/>
        </p:nvSpPr>
        <p:spPr>
          <a:xfrm>
            <a:off x="6434582" y="1773682"/>
            <a:ext cx="23225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Lindy</a:t>
            </a:r>
          </a:p>
        </p:txBody>
      </p:sp>
      <p:sp>
        <p:nvSpPr>
          <p:cNvPr id="257" name="TextBox 28"/>
          <p:cNvSpPr txBox="1"/>
          <p:nvPr/>
        </p:nvSpPr>
        <p:spPr>
          <a:xfrm>
            <a:off x="8812021" y="1775585"/>
            <a:ext cx="2962658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노코드 AI 빌더 · 빠른 배포</a:t>
            </a:r>
          </a:p>
        </p:txBody>
      </p:sp>
      <p:sp>
        <p:nvSpPr>
          <p:cNvPr id="258" name="Rounded Rectangle 29"/>
          <p:cNvSpPr/>
          <p:nvPr/>
        </p:nvSpPr>
        <p:spPr>
          <a:xfrm>
            <a:off x="6224270" y="2267711"/>
            <a:ext cx="5669280" cy="64008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9" name="Rectangle 30"/>
          <p:cNvSpPr/>
          <p:nvPr/>
        </p:nvSpPr>
        <p:spPr>
          <a:xfrm>
            <a:off x="6224270" y="2267711"/>
            <a:ext cx="73154" cy="640081"/>
          </a:xfrm>
          <a:prstGeom prst="rect">
            <a:avLst/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0" name="TextBox 31"/>
          <p:cNvSpPr txBox="1"/>
          <p:nvPr/>
        </p:nvSpPr>
        <p:spPr>
          <a:xfrm>
            <a:off x="6434582" y="2486912"/>
            <a:ext cx="23225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AgentGPT / AutoGPT</a:t>
            </a:r>
          </a:p>
        </p:txBody>
      </p:sp>
      <p:sp>
        <p:nvSpPr>
          <p:cNvPr id="261" name="TextBox 32"/>
          <p:cNvSpPr txBox="1"/>
          <p:nvPr/>
        </p:nvSpPr>
        <p:spPr>
          <a:xfrm>
            <a:off x="8812021" y="2488817"/>
            <a:ext cx="2962658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목표 기반 자동 실행 (프로토타입)</a:t>
            </a:r>
          </a:p>
        </p:txBody>
      </p:sp>
      <p:sp>
        <p:nvSpPr>
          <p:cNvPr id="262" name="Rounded Rectangle 33"/>
          <p:cNvSpPr/>
          <p:nvPr/>
        </p:nvSpPr>
        <p:spPr>
          <a:xfrm>
            <a:off x="6224270" y="2980944"/>
            <a:ext cx="5669280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3" name="Rectangle 34"/>
          <p:cNvSpPr/>
          <p:nvPr/>
        </p:nvSpPr>
        <p:spPr>
          <a:xfrm>
            <a:off x="6224270" y="2980944"/>
            <a:ext cx="73154" cy="640082"/>
          </a:xfrm>
          <a:prstGeom prst="rect">
            <a:avLst/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4" name="TextBox 35"/>
          <p:cNvSpPr txBox="1"/>
          <p:nvPr/>
        </p:nvSpPr>
        <p:spPr>
          <a:xfrm>
            <a:off x="6434582" y="3195254"/>
            <a:ext cx="2322578" cy="211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기존 금융 도구</a:t>
            </a:r>
          </a:p>
        </p:txBody>
      </p:sp>
      <p:sp>
        <p:nvSpPr>
          <p:cNvPr id="265" name="TextBox 36"/>
          <p:cNvSpPr txBox="1"/>
          <p:nvPr/>
        </p:nvSpPr>
        <p:spPr>
          <a:xfrm>
            <a:off x="8812021" y="3202048"/>
            <a:ext cx="2962658" cy="197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알고리즘 트레이딩 중심 · 보안 강화</a:t>
            </a:r>
          </a:p>
        </p:txBody>
      </p:sp>
      <p:sp>
        <p:nvSpPr>
          <p:cNvPr id="266" name="Rounded Rectangle 37"/>
          <p:cNvSpPr/>
          <p:nvPr/>
        </p:nvSpPr>
        <p:spPr>
          <a:xfrm>
            <a:off x="6224270" y="3694176"/>
            <a:ext cx="5669280" cy="64008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7" name="Rectangle 38"/>
          <p:cNvSpPr/>
          <p:nvPr/>
        </p:nvSpPr>
        <p:spPr>
          <a:xfrm>
            <a:off x="6224270" y="3694176"/>
            <a:ext cx="73154" cy="640082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8" name="TextBox 39"/>
          <p:cNvSpPr txBox="1"/>
          <p:nvPr/>
        </p:nvSpPr>
        <p:spPr>
          <a:xfrm>
            <a:off x="6434582" y="3913378"/>
            <a:ext cx="23225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Antelligen (Ours)</a:t>
            </a:r>
          </a:p>
        </p:txBody>
      </p:sp>
      <p:sp>
        <p:nvSpPr>
          <p:cNvPr id="269" name="TextBox 40"/>
          <p:cNvSpPr txBox="1"/>
          <p:nvPr/>
        </p:nvSpPr>
        <p:spPr>
          <a:xfrm>
            <a:off x="8812021" y="3915281"/>
            <a:ext cx="2962658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검증 가능한 의사결정 과정 제공</a:t>
            </a:r>
          </a:p>
        </p:txBody>
      </p:sp>
      <p:sp>
        <p:nvSpPr>
          <p:cNvPr id="270" name="Rounded Rectangle 41"/>
          <p:cNvSpPr/>
          <p:nvPr/>
        </p:nvSpPr>
        <p:spPr>
          <a:xfrm>
            <a:off x="372108" y="4937759"/>
            <a:ext cx="11430002" cy="1371602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1" name="TextBox 42"/>
          <p:cNvSpPr txBox="1"/>
          <p:nvPr/>
        </p:nvSpPr>
        <p:spPr>
          <a:xfrm>
            <a:off x="399540" y="5029199"/>
            <a:ext cx="11375139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시장의 빈 공간</a:t>
            </a:r>
          </a:p>
        </p:txBody>
      </p:sp>
      <p:sp>
        <p:nvSpPr>
          <p:cNvPr id="272" name="TextBox 43"/>
          <p:cNvSpPr txBox="1"/>
          <p:nvPr/>
        </p:nvSpPr>
        <p:spPr>
          <a:xfrm>
            <a:off x="399540" y="5440679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“AI 빌더”와 “트레이딩 도구”는 많지만,</a:t>
            </a:r>
          </a:p>
        </p:txBody>
      </p:sp>
      <p:sp>
        <p:nvSpPr>
          <p:cNvPr id="273" name="TextBox 44"/>
          <p:cNvSpPr txBox="1"/>
          <p:nvPr/>
        </p:nvSpPr>
        <p:spPr>
          <a:xfrm>
            <a:off x="399540" y="5852159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‘검증 가능한 의사결정 과정’을 제공하는 서비스는 적다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6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7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서비스 차별화 방안</a:t>
            </a:r>
          </a:p>
        </p:txBody>
      </p:sp>
      <p:sp>
        <p:nvSpPr>
          <p:cNvPr id="278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차별화 3축</a:t>
            </a:r>
          </a:p>
        </p:txBody>
      </p:sp>
      <p:sp>
        <p:nvSpPr>
          <p:cNvPr id="279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0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#8</a:t>
            </a:r>
          </a:p>
        </p:txBody>
      </p:sp>
      <p:sp>
        <p:nvSpPr>
          <p:cNvPr id="281" name="Rounded Rectangle 7"/>
          <p:cNvSpPr/>
          <p:nvPr/>
        </p:nvSpPr>
        <p:spPr>
          <a:xfrm>
            <a:off x="372108" y="1097280"/>
            <a:ext cx="3749042" cy="4114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2" name="Rounded Rectangle 8"/>
          <p:cNvSpPr/>
          <p:nvPr/>
        </p:nvSpPr>
        <p:spPr>
          <a:xfrm>
            <a:off x="372108" y="1097280"/>
            <a:ext cx="3749042" cy="64008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3" name="TextBox 9"/>
          <p:cNvSpPr txBox="1"/>
          <p:nvPr/>
        </p:nvSpPr>
        <p:spPr>
          <a:xfrm>
            <a:off x="673862" y="1233930"/>
            <a:ext cx="859538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84" name="TextBox 10"/>
          <p:cNvSpPr txBox="1"/>
          <p:nvPr/>
        </p:nvSpPr>
        <p:spPr>
          <a:xfrm>
            <a:off x="1588261" y="1166622"/>
            <a:ext cx="241401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신뢰성 / 거버넌스</a:t>
            </a:r>
          </a:p>
        </p:txBody>
      </p:sp>
      <p:sp>
        <p:nvSpPr>
          <p:cNvPr id="285" name="TextBox 11"/>
          <p:cNvSpPr txBox="1"/>
          <p:nvPr/>
        </p:nvSpPr>
        <p:spPr>
          <a:xfrm>
            <a:off x="1588261" y="1485200"/>
            <a:ext cx="2414018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9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핵심 경쟁력</a:t>
            </a:r>
          </a:p>
        </p:txBody>
      </p:sp>
      <p:sp>
        <p:nvSpPr>
          <p:cNvPr id="286" name="TextBox 12"/>
          <p:cNvSpPr txBox="1"/>
          <p:nvPr/>
        </p:nvSpPr>
        <p:spPr>
          <a:xfrm>
            <a:off x="554990" y="1874518"/>
            <a:ext cx="3383280" cy="1059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Tracing — LangSmith로 LLM I/O · latency 추적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Source Tier 가중치 — DART 1.0 · Bloomberg 0.7 · SNS 0.3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Audit Trail — integrated_analysis_orm sub_results JSON 영속</a:t>
            </a:r>
          </a:p>
        </p:txBody>
      </p:sp>
      <p:sp>
        <p:nvSpPr>
          <p:cNvPr id="287" name="Rounded Rectangle 13"/>
          <p:cNvSpPr/>
          <p:nvPr/>
        </p:nvSpPr>
        <p:spPr>
          <a:xfrm>
            <a:off x="4258309" y="1097280"/>
            <a:ext cx="3749041" cy="4114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8" name="Rounded Rectangle 14"/>
          <p:cNvSpPr/>
          <p:nvPr/>
        </p:nvSpPr>
        <p:spPr>
          <a:xfrm>
            <a:off x="4258309" y="1097280"/>
            <a:ext cx="3749041" cy="64008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9" name="TextBox 15"/>
          <p:cNvSpPr txBox="1"/>
          <p:nvPr/>
        </p:nvSpPr>
        <p:spPr>
          <a:xfrm>
            <a:off x="4560060" y="1233930"/>
            <a:ext cx="859538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90" name="TextBox 16"/>
          <p:cNvSpPr txBox="1"/>
          <p:nvPr/>
        </p:nvSpPr>
        <p:spPr>
          <a:xfrm>
            <a:off x="5474460" y="1166622"/>
            <a:ext cx="2414019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고도화된 데이터 통합</a:t>
            </a:r>
          </a:p>
        </p:txBody>
      </p:sp>
      <p:sp>
        <p:nvSpPr>
          <p:cNvPr id="291" name="TextBox 17"/>
          <p:cNvSpPr txBox="1"/>
          <p:nvPr/>
        </p:nvSpPr>
        <p:spPr>
          <a:xfrm>
            <a:off x="5474460" y="1485200"/>
            <a:ext cx="2414019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9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넓이 × 깊이</a:t>
            </a:r>
          </a:p>
        </p:txBody>
      </p:sp>
      <p:sp>
        <p:nvSpPr>
          <p:cNvPr id="292" name="TextBox 18"/>
          <p:cNvSpPr txBox="1"/>
          <p:nvPr/>
        </p:nvSpPr>
        <p:spPr>
          <a:xfrm>
            <a:off x="4441190" y="1874518"/>
            <a:ext cx="3383282" cy="873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심층 RAG — DART 사업보고서 → 사업개요 LLM 요약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5개 멀티 에이전트 (News·Disclosure·Finance·Sentiment·Macro)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한국 공시 + 미국 SEC + yfinance + 잠정실적 통합</a:t>
            </a:r>
          </a:p>
        </p:txBody>
      </p:sp>
      <p:sp>
        <p:nvSpPr>
          <p:cNvPr id="293" name="Rounded Rectangle 19"/>
          <p:cNvSpPr/>
          <p:nvPr/>
        </p:nvSpPr>
        <p:spPr>
          <a:xfrm>
            <a:off x="8144509" y="1097280"/>
            <a:ext cx="3749041" cy="4114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4" name="Rounded Rectangle 20"/>
          <p:cNvSpPr/>
          <p:nvPr/>
        </p:nvSpPr>
        <p:spPr>
          <a:xfrm>
            <a:off x="8144509" y="1097280"/>
            <a:ext cx="3749041" cy="64008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5" name="TextBox 21"/>
          <p:cNvSpPr txBox="1"/>
          <p:nvPr/>
        </p:nvSpPr>
        <p:spPr>
          <a:xfrm>
            <a:off x="8446261" y="1233930"/>
            <a:ext cx="859538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96" name="TextBox 22"/>
          <p:cNvSpPr txBox="1"/>
          <p:nvPr/>
        </p:nvSpPr>
        <p:spPr>
          <a:xfrm>
            <a:off x="9360661" y="1166622"/>
            <a:ext cx="2414019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UX 차별화</a:t>
            </a:r>
          </a:p>
        </p:txBody>
      </p:sp>
      <p:sp>
        <p:nvSpPr>
          <p:cNvPr id="297" name="TextBox 23"/>
          <p:cNvSpPr txBox="1"/>
          <p:nvPr/>
        </p:nvSpPr>
        <p:spPr>
          <a:xfrm>
            <a:off x="9360661" y="1485200"/>
            <a:ext cx="2414019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9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본질 파악, 무결성, 간결성</a:t>
            </a:r>
          </a:p>
        </p:txBody>
      </p:sp>
      <p:sp>
        <p:nvSpPr>
          <p:cNvPr id="298" name="TextBox 24"/>
          <p:cNvSpPr txBox="1"/>
          <p:nvPr/>
        </p:nvSpPr>
        <p:spPr>
          <a:xfrm>
            <a:off x="8327390" y="1874518"/>
            <a:ext cx="3383282" cy="672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사업개요 카드 — ‘이 회사 본질’ 즉시 파악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부분 실패 표시 — ‘공시 X, 뉴스+재무로 BULLISH’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한국·미국 종목 동일 UI/UX</a:t>
            </a:r>
          </a:p>
        </p:txBody>
      </p:sp>
      <p:sp>
        <p:nvSpPr>
          <p:cNvPr id="299" name="Rounded Rectangle 25"/>
          <p:cNvSpPr/>
          <p:nvPr/>
        </p:nvSpPr>
        <p:spPr>
          <a:xfrm>
            <a:off x="372108" y="5486400"/>
            <a:ext cx="11430002" cy="914400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0" name="TextBox 26"/>
          <p:cNvSpPr txBox="1"/>
          <p:nvPr/>
        </p:nvSpPr>
        <p:spPr>
          <a:xfrm>
            <a:off x="399540" y="5811137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“검증 가능한 의사결정 과정과 안전한 실행 구조를 제공하는 서비스가 시장 승자가 된다”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3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4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3. 성장 전략 (Scale Up)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9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0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시장 진입 전략 및 사용자 확보</a:t>
            </a:r>
          </a:p>
        </p:txBody>
      </p:sp>
      <p:sp>
        <p:nvSpPr>
          <p:cNvPr id="311" name="TextBox 4"/>
          <p:cNvSpPr txBox="1"/>
          <p:nvPr/>
        </p:nvSpPr>
        <p:spPr>
          <a:xfrm>
            <a:off x="399540" y="548640"/>
            <a:ext cx="10460739" cy="200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타겟 → 가격 → 채널 → 플랫폼</a:t>
            </a:r>
          </a:p>
        </p:txBody>
      </p:sp>
      <p:sp>
        <p:nvSpPr>
          <p:cNvPr id="312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3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#9</a:t>
            </a:r>
          </a:p>
        </p:txBody>
      </p:sp>
      <p:sp>
        <p:nvSpPr>
          <p:cNvPr id="314" name="Rounded Rectangle 7"/>
          <p:cNvSpPr/>
          <p:nvPr/>
        </p:nvSpPr>
        <p:spPr>
          <a:xfrm>
            <a:off x="372108" y="1188719"/>
            <a:ext cx="2788924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5" name="Rectangle 8"/>
          <p:cNvSpPr/>
          <p:nvPr/>
        </p:nvSpPr>
        <p:spPr>
          <a:xfrm>
            <a:off x="372108" y="1188719"/>
            <a:ext cx="2788924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6" name="Oval 9"/>
          <p:cNvSpPr/>
          <p:nvPr/>
        </p:nvSpPr>
        <p:spPr>
          <a:xfrm>
            <a:off x="1400810" y="1417319"/>
            <a:ext cx="731523" cy="731523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7" name="TextBox 10"/>
          <p:cNvSpPr txBox="1"/>
          <p:nvPr/>
        </p:nvSpPr>
        <p:spPr>
          <a:xfrm>
            <a:off x="1428241" y="1529841"/>
            <a:ext cx="676659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🎯</a:t>
            </a:r>
          </a:p>
        </p:txBody>
      </p:sp>
      <p:sp>
        <p:nvSpPr>
          <p:cNvPr id="318" name="TextBox 11"/>
          <p:cNvSpPr txBox="1"/>
          <p:nvPr/>
        </p:nvSpPr>
        <p:spPr>
          <a:xfrm>
            <a:off x="399541" y="2285999"/>
            <a:ext cx="2734057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1차 타겟</a:t>
            </a:r>
          </a:p>
        </p:txBody>
      </p:sp>
      <p:sp>
        <p:nvSpPr>
          <p:cNvPr id="319" name="TextBox 12"/>
          <p:cNvSpPr txBox="1"/>
          <p:nvPr/>
        </p:nvSpPr>
        <p:spPr>
          <a:xfrm>
            <a:off x="536700" y="2697478"/>
            <a:ext cx="2459739" cy="35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‘이 종목이 오늘 왜 떨어졌지?’를 검색하는 개인 투자자 — 차트+사건+원인 한 화면</a:t>
            </a:r>
          </a:p>
        </p:txBody>
      </p:sp>
      <p:sp>
        <p:nvSpPr>
          <p:cNvPr id="320" name="Right Arrow 13"/>
          <p:cNvSpPr/>
          <p:nvPr/>
        </p:nvSpPr>
        <p:spPr>
          <a:xfrm>
            <a:off x="3115310" y="2194560"/>
            <a:ext cx="1371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1" name="Rounded Rectangle 14"/>
          <p:cNvSpPr/>
          <p:nvPr/>
        </p:nvSpPr>
        <p:spPr>
          <a:xfrm>
            <a:off x="3206749" y="1188719"/>
            <a:ext cx="2788922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2" name="Rectangle 15"/>
          <p:cNvSpPr/>
          <p:nvPr/>
        </p:nvSpPr>
        <p:spPr>
          <a:xfrm>
            <a:off x="3206749" y="1188719"/>
            <a:ext cx="278892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3" name="Oval 16"/>
          <p:cNvSpPr/>
          <p:nvPr/>
        </p:nvSpPr>
        <p:spPr>
          <a:xfrm>
            <a:off x="4235448" y="1417319"/>
            <a:ext cx="731523" cy="73152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4" name="TextBox 17"/>
          <p:cNvSpPr txBox="1"/>
          <p:nvPr/>
        </p:nvSpPr>
        <p:spPr>
          <a:xfrm>
            <a:off x="4262880" y="1529841"/>
            <a:ext cx="676658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📈</a:t>
            </a:r>
          </a:p>
        </p:txBody>
      </p:sp>
      <p:sp>
        <p:nvSpPr>
          <p:cNvPr id="325" name="TextBox 18"/>
          <p:cNvSpPr txBox="1"/>
          <p:nvPr/>
        </p:nvSpPr>
        <p:spPr>
          <a:xfrm>
            <a:off x="3234181" y="2285999"/>
            <a:ext cx="273405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2차 타겟</a:t>
            </a:r>
          </a:p>
        </p:txBody>
      </p:sp>
      <p:sp>
        <p:nvSpPr>
          <p:cNvPr id="326" name="TextBox 19"/>
          <p:cNvSpPr txBox="1"/>
          <p:nvPr/>
        </p:nvSpPr>
        <p:spPr>
          <a:xfrm>
            <a:off x="3371341" y="2697478"/>
            <a:ext cx="2459738" cy="35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신입 애널리스트 / 투자 콘텐츠 크리에이터 / 학생 투자 동아리</a:t>
            </a:r>
          </a:p>
        </p:txBody>
      </p:sp>
      <p:sp>
        <p:nvSpPr>
          <p:cNvPr id="327" name="Right Arrow 20"/>
          <p:cNvSpPr/>
          <p:nvPr/>
        </p:nvSpPr>
        <p:spPr>
          <a:xfrm>
            <a:off x="5949948" y="2194560"/>
            <a:ext cx="1371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8" name="Rounded Rectangle 21"/>
          <p:cNvSpPr/>
          <p:nvPr/>
        </p:nvSpPr>
        <p:spPr>
          <a:xfrm>
            <a:off x="6041390" y="1188719"/>
            <a:ext cx="2788922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9" name="Rectangle 22"/>
          <p:cNvSpPr/>
          <p:nvPr/>
        </p:nvSpPr>
        <p:spPr>
          <a:xfrm>
            <a:off x="6041390" y="1188719"/>
            <a:ext cx="2788922" cy="73154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0" name="Oval 23"/>
          <p:cNvSpPr/>
          <p:nvPr/>
        </p:nvSpPr>
        <p:spPr>
          <a:xfrm>
            <a:off x="7070090" y="1417319"/>
            <a:ext cx="731523" cy="731523"/>
          </a:xfrm>
          <a:prstGeom prst="ellipse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1" name="TextBox 24"/>
          <p:cNvSpPr txBox="1"/>
          <p:nvPr/>
        </p:nvSpPr>
        <p:spPr>
          <a:xfrm>
            <a:off x="7097521" y="1529841"/>
            <a:ext cx="676658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💸</a:t>
            </a:r>
          </a:p>
        </p:txBody>
      </p:sp>
      <p:sp>
        <p:nvSpPr>
          <p:cNvPr id="332" name="TextBox 25"/>
          <p:cNvSpPr txBox="1"/>
          <p:nvPr/>
        </p:nvSpPr>
        <p:spPr>
          <a:xfrm>
            <a:off x="6068821" y="2285999"/>
            <a:ext cx="273405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가격 차별화</a:t>
            </a:r>
          </a:p>
        </p:txBody>
      </p:sp>
      <p:sp>
        <p:nvSpPr>
          <p:cNvPr id="333" name="TextBox 26"/>
          <p:cNvSpPr txBox="1"/>
          <p:nvPr/>
        </p:nvSpPr>
        <p:spPr>
          <a:xfrm>
            <a:off x="6205982" y="2697478"/>
            <a:ext cx="2459736" cy="361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블룸버그 월 200만 원+ → 한국 공시 중심 + 합리적 가격</a:t>
            </a:r>
          </a:p>
        </p:txBody>
      </p:sp>
      <p:sp>
        <p:nvSpPr>
          <p:cNvPr id="334" name="Right Arrow 27"/>
          <p:cNvSpPr/>
          <p:nvPr/>
        </p:nvSpPr>
        <p:spPr>
          <a:xfrm>
            <a:off x="8784589" y="2194560"/>
            <a:ext cx="1371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5" name="Rounded Rectangle 28"/>
          <p:cNvSpPr/>
          <p:nvPr/>
        </p:nvSpPr>
        <p:spPr>
          <a:xfrm>
            <a:off x="8876030" y="1188719"/>
            <a:ext cx="2788922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6" name="Rectangle 29"/>
          <p:cNvSpPr/>
          <p:nvPr/>
        </p:nvSpPr>
        <p:spPr>
          <a:xfrm>
            <a:off x="8876030" y="1188719"/>
            <a:ext cx="2788922" cy="73154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7" name="Oval 30"/>
          <p:cNvSpPr/>
          <p:nvPr/>
        </p:nvSpPr>
        <p:spPr>
          <a:xfrm>
            <a:off x="9904730" y="1417319"/>
            <a:ext cx="731523" cy="731523"/>
          </a:xfrm>
          <a:prstGeom prst="ellipse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8" name="TextBox 31"/>
          <p:cNvSpPr txBox="1"/>
          <p:nvPr/>
        </p:nvSpPr>
        <p:spPr>
          <a:xfrm>
            <a:off x="9932161" y="1529841"/>
            <a:ext cx="676659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📱</a:t>
            </a:r>
          </a:p>
        </p:txBody>
      </p:sp>
      <p:sp>
        <p:nvSpPr>
          <p:cNvPr id="339" name="TextBox 32"/>
          <p:cNvSpPr txBox="1"/>
          <p:nvPr/>
        </p:nvSpPr>
        <p:spPr>
          <a:xfrm>
            <a:off x="8903461" y="2285999"/>
            <a:ext cx="273405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플랫폼 진화</a:t>
            </a:r>
          </a:p>
        </p:txBody>
      </p:sp>
      <p:sp>
        <p:nvSpPr>
          <p:cNvPr id="340" name="TextBox 33"/>
          <p:cNvSpPr txBox="1"/>
          <p:nvPr/>
        </p:nvSpPr>
        <p:spPr>
          <a:xfrm>
            <a:off x="9040621" y="2697478"/>
            <a:ext cx="2459738" cy="200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Web → PWA(홈 화면 추가) → 모바일 앱</a:t>
            </a:r>
          </a:p>
        </p:txBody>
      </p:sp>
      <p:sp>
        <p:nvSpPr>
          <p:cNvPr id="341" name="TextBox 34"/>
          <p:cNvSpPr txBox="1"/>
          <p:nvPr/>
        </p:nvSpPr>
        <p:spPr>
          <a:xfrm>
            <a:off x="399540" y="3749037"/>
            <a:ext cx="11375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🚀  진입 채널 및 사용자 확보</a:t>
            </a:r>
          </a:p>
        </p:txBody>
      </p:sp>
      <p:sp>
        <p:nvSpPr>
          <p:cNvPr id="342" name="Rounded Rectangle 35"/>
          <p:cNvSpPr/>
          <p:nvPr/>
        </p:nvSpPr>
        <p:spPr>
          <a:xfrm>
            <a:off x="372108" y="4297679"/>
            <a:ext cx="3749042" cy="91440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Rectangle 36"/>
          <p:cNvSpPr/>
          <p:nvPr/>
        </p:nvSpPr>
        <p:spPr>
          <a:xfrm>
            <a:off x="372108" y="4297679"/>
            <a:ext cx="73154" cy="914402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4" name="TextBox 37"/>
          <p:cNvSpPr txBox="1"/>
          <p:nvPr/>
        </p:nvSpPr>
        <p:spPr>
          <a:xfrm>
            <a:off x="582420" y="4343399"/>
            <a:ext cx="33284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SEO</a:t>
            </a:r>
          </a:p>
        </p:txBody>
      </p:sp>
      <p:sp>
        <p:nvSpPr>
          <p:cNvPr id="345" name="TextBox 38"/>
          <p:cNvSpPr txBox="1"/>
          <p:nvPr/>
        </p:nvSpPr>
        <p:spPr>
          <a:xfrm>
            <a:off x="582420" y="4709159"/>
            <a:ext cx="332841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종목별 ‘왜 떨어졌나’ 페이지 자동 생성</a:t>
            </a:r>
          </a:p>
        </p:txBody>
      </p:sp>
      <p:sp>
        <p:nvSpPr>
          <p:cNvPr id="346" name="Rounded Rectangle 39"/>
          <p:cNvSpPr/>
          <p:nvPr/>
        </p:nvSpPr>
        <p:spPr>
          <a:xfrm>
            <a:off x="4166870" y="4297679"/>
            <a:ext cx="3749041" cy="91440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7" name="Rectangle 40"/>
          <p:cNvSpPr/>
          <p:nvPr/>
        </p:nvSpPr>
        <p:spPr>
          <a:xfrm>
            <a:off x="4166870" y="4297679"/>
            <a:ext cx="73154" cy="914402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8" name="TextBox 41"/>
          <p:cNvSpPr txBox="1"/>
          <p:nvPr/>
        </p:nvSpPr>
        <p:spPr>
          <a:xfrm>
            <a:off x="4377182" y="4343399"/>
            <a:ext cx="332841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6BD7A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커뮤니티</a:t>
            </a:r>
          </a:p>
        </p:txBody>
      </p:sp>
      <p:sp>
        <p:nvSpPr>
          <p:cNvPr id="349" name="TextBox 42"/>
          <p:cNvSpPr txBox="1"/>
          <p:nvPr/>
        </p:nvSpPr>
        <p:spPr>
          <a:xfrm>
            <a:off x="4377182" y="4709159"/>
            <a:ext cx="3328416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디스코드 / 네이버 종목 카페 / 주식 갤러리</a:t>
            </a:r>
          </a:p>
        </p:txBody>
      </p:sp>
      <p:sp>
        <p:nvSpPr>
          <p:cNvPr id="350" name="Rounded Rectangle 43"/>
          <p:cNvSpPr/>
          <p:nvPr/>
        </p:nvSpPr>
        <p:spPr>
          <a:xfrm>
            <a:off x="7961627" y="4297679"/>
            <a:ext cx="3749042" cy="91440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1" name="Rectangle 44"/>
          <p:cNvSpPr/>
          <p:nvPr/>
        </p:nvSpPr>
        <p:spPr>
          <a:xfrm>
            <a:off x="7961627" y="4297679"/>
            <a:ext cx="73154" cy="914402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2" name="TextBox 45"/>
          <p:cNvSpPr txBox="1"/>
          <p:nvPr/>
        </p:nvSpPr>
        <p:spPr>
          <a:xfrm>
            <a:off x="8171939" y="4343399"/>
            <a:ext cx="332841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C4A6F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인플루언서</a:t>
            </a:r>
          </a:p>
        </p:txBody>
      </p:sp>
      <p:sp>
        <p:nvSpPr>
          <p:cNvPr id="353" name="TextBox 46"/>
          <p:cNvSpPr txBox="1"/>
          <p:nvPr/>
        </p:nvSpPr>
        <p:spPr>
          <a:xfrm>
            <a:off x="8171939" y="4709159"/>
            <a:ext cx="3328416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투자 유튜버 협업 + 분석 데이터 콘텐츠</a:t>
            </a:r>
          </a:p>
        </p:txBody>
      </p:sp>
      <p:sp>
        <p:nvSpPr>
          <p:cNvPr id="354" name="Rounded Rectangle 47"/>
          <p:cNvSpPr/>
          <p:nvPr/>
        </p:nvSpPr>
        <p:spPr>
          <a:xfrm>
            <a:off x="372108" y="5440679"/>
            <a:ext cx="11430002" cy="91440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5" name="TextBox 48"/>
          <p:cNvSpPr txBox="1"/>
          <p:nvPr/>
        </p:nvSpPr>
        <p:spPr>
          <a:xfrm>
            <a:off x="399540" y="5711830"/>
            <a:ext cx="11375139" cy="372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Web  →  PWA  →  Mobile App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8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목표 성과 (KPI)</a:t>
            </a:r>
          </a:p>
        </p:txBody>
      </p:sp>
      <p:sp>
        <p:nvSpPr>
          <p:cNvPr id="359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#10</a:t>
            </a:r>
          </a:p>
        </p:txBody>
      </p:sp>
      <p:sp>
        <p:nvSpPr>
          <p:cNvPr id="360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사용량 (Engagement)</a:t>
            </a:r>
          </a:p>
        </p:txBody>
      </p:sp>
      <p:graphicFrame>
        <p:nvGraphicFramePr>
          <p:cNvPr id="361" name="Table 5"/>
          <p:cNvGraphicFramePr/>
          <p:nvPr/>
        </p:nvGraphicFramePr>
        <p:xfrm>
          <a:off x="457200" y="1524000"/>
          <a:ext cx="11274553" cy="8331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77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MAU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30~50명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10,000명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7일 재방문율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362" name="TextBox 6"/>
          <p:cNvSpPr txBox="1"/>
          <p:nvPr/>
        </p:nvSpPr>
        <p:spPr>
          <a:xfrm>
            <a:off x="466343" y="2485134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품질 (Quality)</a:t>
            </a:r>
          </a:p>
        </p:txBody>
      </p:sp>
      <p:graphicFrame>
        <p:nvGraphicFramePr>
          <p:cNvPr id="363" name="Table 7"/>
          <p:cNvGraphicFramePr/>
          <p:nvPr/>
        </p:nvGraphicFramePr>
        <p:xfrm>
          <a:off x="457200" y="2948432"/>
          <a:ext cx="11274553" cy="8331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77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만족도 (5점)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4.5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"자신 있는 분석" 비율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45%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364" name="TextBox 8"/>
          <p:cNvSpPr txBox="1"/>
          <p:nvPr/>
        </p:nvSpPr>
        <p:spPr>
          <a:xfrm>
            <a:off x="466343" y="390956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비용 효율 (Efficiency)</a:t>
            </a:r>
          </a:p>
        </p:txBody>
      </p:sp>
      <p:graphicFrame>
        <p:nvGraphicFramePr>
          <p:cNvPr id="365" name="Table 9"/>
          <p:cNvGraphicFramePr/>
          <p:nvPr/>
        </p:nvGraphicFramePr>
        <p:xfrm>
          <a:off x="457200" y="4372864"/>
          <a:ext cx="11274553" cy="83312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77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응답 속도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8초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3초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종목당 분석 비용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200원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50원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366" name="TextBox 10"/>
          <p:cNvSpPr txBox="1"/>
          <p:nvPr/>
        </p:nvSpPr>
        <p:spPr>
          <a:xfrm>
            <a:off x="466343" y="533400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사업성 (Business)</a:t>
            </a:r>
          </a:p>
        </p:txBody>
      </p:sp>
      <p:sp>
        <p:nvSpPr>
          <p:cNvPr id="367" name="TextBox 11"/>
          <p:cNvSpPr txBox="1"/>
          <p:nvPr/>
        </p:nvSpPr>
        <p:spPr>
          <a:xfrm>
            <a:off x="457198" y="5797297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유료 전환율 3%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월 매출 100만 원 (1차 마일스톤)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앱 스토어 출시 (iOS / Android)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2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3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서비스 확장 방안</a:t>
            </a:r>
          </a:p>
        </p:txBody>
      </p:sp>
      <p:sp>
        <p:nvSpPr>
          <p:cNvPr id="374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4가지 확장 방향 + 데이터 네트워크 효과</a:t>
            </a:r>
          </a:p>
        </p:txBody>
      </p:sp>
      <p:sp>
        <p:nvSpPr>
          <p:cNvPr id="375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6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#11</a:t>
            </a:r>
          </a:p>
        </p:txBody>
      </p:sp>
      <p:sp>
        <p:nvSpPr>
          <p:cNvPr id="377" name="Rounded Rectangle 7"/>
          <p:cNvSpPr/>
          <p:nvPr/>
        </p:nvSpPr>
        <p:spPr>
          <a:xfrm>
            <a:off x="372108" y="1097280"/>
            <a:ext cx="5577844" cy="20116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8" name="Rectangle 8"/>
          <p:cNvSpPr/>
          <p:nvPr/>
        </p:nvSpPr>
        <p:spPr>
          <a:xfrm>
            <a:off x="372108" y="1097280"/>
            <a:ext cx="73154" cy="2011679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9" name="Rounded Rectangle 9"/>
          <p:cNvSpPr/>
          <p:nvPr/>
        </p:nvSpPr>
        <p:spPr>
          <a:xfrm>
            <a:off x="554990" y="1234438"/>
            <a:ext cx="685802" cy="411483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TextBox 10"/>
          <p:cNvSpPr txBox="1"/>
          <p:nvPr/>
        </p:nvSpPr>
        <p:spPr>
          <a:xfrm>
            <a:off x="582421" y="1313939"/>
            <a:ext cx="63093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81" name="TextBox 11"/>
          <p:cNvSpPr txBox="1"/>
          <p:nvPr/>
        </p:nvSpPr>
        <p:spPr>
          <a:xfrm>
            <a:off x="1359660" y="1275839"/>
            <a:ext cx="4517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🌏  시장 · 자산 확장</a:t>
            </a:r>
          </a:p>
        </p:txBody>
      </p:sp>
      <p:sp>
        <p:nvSpPr>
          <p:cNvPr id="382" name="TextBox 12"/>
          <p:cNvSpPr txBox="1"/>
          <p:nvPr/>
        </p:nvSpPr>
        <p:spPr>
          <a:xfrm>
            <a:off x="554988" y="1750061"/>
            <a:ext cx="5303523" cy="672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일본(니케이) / 유럽 / 신흥국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암호화폐 / 원자재 / 채권 / 리츠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대안 데이터 (커뮤니티 / 위성 / 카드 소비)</a:t>
            </a:r>
          </a:p>
        </p:txBody>
      </p:sp>
      <p:sp>
        <p:nvSpPr>
          <p:cNvPr id="383" name="Rounded Rectangle 13"/>
          <p:cNvSpPr/>
          <p:nvPr/>
        </p:nvSpPr>
        <p:spPr>
          <a:xfrm>
            <a:off x="6224270" y="1097280"/>
            <a:ext cx="5577842" cy="20116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4" name="Rectangle 14"/>
          <p:cNvSpPr/>
          <p:nvPr/>
        </p:nvSpPr>
        <p:spPr>
          <a:xfrm>
            <a:off x="6224270" y="1097280"/>
            <a:ext cx="73154" cy="2011679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5" name="Rounded Rectangle 15"/>
          <p:cNvSpPr/>
          <p:nvPr/>
        </p:nvSpPr>
        <p:spPr>
          <a:xfrm>
            <a:off x="6407150" y="1234438"/>
            <a:ext cx="685800" cy="411483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6" name="TextBox 16"/>
          <p:cNvSpPr txBox="1"/>
          <p:nvPr/>
        </p:nvSpPr>
        <p:spPr>
          <a:xfrm>
            <a:off x="6434582" y="1313939"/>
            <a:ext cx="63093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87" name="TextBox 17"/>
          <p:cNvSpPr txBox="1"/>
          <p:nvPr/>
        </p:nvSpPr>
        <p:spPr>
          <a:xfrm>
            <a:off x="7211821" y="1275839"/>
            <a:ext cx="451713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🛠  기능 확장</a:t>
            </a:r>
          </a:p>
        </p:txBody>
      </p:sp>
      <p:sp>
        <p:nvSpPr>
          <p:cNvPr id="388" name="TextBox 18"/>
          <p:cNvSpPr txBox="1"/>
          <p:nvPr/>
        </p:nvSpPr>
        <p:spPr>
          <a:xfrm>
            <a:off x="6407149" y="1737361"/>
            <a:ext cx="5303523" cy="672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포트폴리오 분석 / 실시간 알림 / 백테스트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일일 리포트 / 주간 인사이트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종목 비교 / 사용자 노트</a:t>
            </a:r>
          </a:p>
        </p:txBody>
      </p:sp>
      <p:sp>
        <p:nvSpPr>
          <p:cNvPr id="389" name="Rounded Rectangle 19"/>
          <p:cNvSpPr/>
          <p:nvPr/>
        </p:nvSpPr>
        <p:spPr>
          <a:xfrm>
            <a:off x="372108" y="3291837"/>
            <a:ext cx="5577844" cy="20116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Rectangle 20"/>
          <p:cNvSpPr/>
          <p:nvPr/>
        </p:nvSpPr>
        <p:spPr>
          <a:xfrm>
            <a:off x="372108" y="3291837"/>
            <a:ext cx="73154" cy="2011680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1" name="Rounded Rectangle 21"/>
          <p:cNvSpPr/>
          <p:nvPr/>
        </p:nvSpPr>
        <p:spPr>
          <a:xfrm>
            <a:off x="554990" y="3428998"/>
            <a:ext cx="685802" cy="41148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TextBox 22"/>
          <p:cNvSpPr txBox="1"/>
          <p:nvPr/>
        </p:nvSpPr>
        <p:spPr>
          <a:xfrm>
            <a:off x="582421" y="3508500"/>
            <a:ext cx="63093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93" name="TextBox 23"/>
          <p:cNvSpPr txBox="1"/>
          <p:nvPr/>
        </p:nvSpPr>
        <p:spPr>
          <a:xfrm>
            <a:off x="1359660" y="3470400"/>
            <a:ext cx="4517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💰  수익 모델</a:t>
            </a:r>
          </a:p>
        </p:txBody>
      </p:sp>
      <p:sp>
        <p:nvSpPr>
          <p:cNvPr id="394" name="TextBox 24"/>
          <p:cNvSpPr txBox="1"/>
          <p:nvPr/>
        </p:nvSpPr>
        <p:spPr>
          <a:xfrm>
            <a:off x="554988" y="3931921"/>
            <a:ext cx="5303523" cy="672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Free — 광고 / 기본 분석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Pro — 월 9.9k / 무제한 분석 + 알림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API — B2B 데이터 라이선스</a:t>
            </a:r>
          </a:p>
        </p:txBody>
      </p:sp>
      <p:sp>
        <p:nvSpPr>
          <p:cNvPr id="395" name="Rounded Rectangle 25"/>
          <p:cNvSpPr/>
          <p:nvPr/>
        </p:nvSpPr>
        <p:spPr>
          <a:xfrm>
            <a:off x="6224270" y="3291837"/>
            <a:ext cx="5577842" cy="20116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6" name="Rectangle 26"/>
          <p:cNvSpPr/>
          <p:nvPr/>
        </p:nvSpPr>
        <p:spPr>
          <a:xfrm>
            <a:off x="6224270" y="3291837"/>
            <a:ext cx="73154" cy="2011680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7" name="Rounded Rectangle 27"/>
          <p:cNvSpPr/>
          <p:nvPr/>
        </p:nvSpPr>
        <p:spPr>
          <a:xfrm>
            <a:off x="6407150" y="3428998"/>
            <a:ext cx="685800" cy="41148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8" name="TextBox 28"/>
          <p:cNvSpPr txBox="1"/>
          <p:nvPr/>
        </p:nvSpPr>
        <p:spPr>
          <a:xfrm>
            <a:off x="6434582" y="3508500"/>
            <a:ext cx="63093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9" name="TextBox 29"/>
          <p:cNvSpPr txBox="1"/>
          <p:nvPr/>
        </p:nvSpPr>
        <p:spPr>
          <a:xfrm>
            <a:off x="7211821" y="3470400"/>
            <a:ext cx="451713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📡  데이터 네트워크 효과</a:t>
            </a:r>
          </a:p>
        </p:txBody>
      </p:sp>
      <p:sp>
        <p:nvSpPr>
          <p:cNvPr id="400" name="TextBox 30"/>
          <p:cNvSpPr txBox="1"/>
          <p:nvPr/>
        </p:nvSpPr>
        <p:spPr>
          <a:xfrm>
            <a:off x="6407149" y="3931921"/>
            <a:ext cx="5303523" cy="678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사용자 행동 → 검증 사례 축적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규칙 개선 → 정확도 향상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1년 운영 시 후발주자 진입 어려움</a:t>
            </a:r>
          </a:p>
        </p:txBody>
      </p:sp>
      <p:sp>
        <p:nvSpPr>
          <p:cNvPr id="401" name="Rounded Rectangle 31"/>
          <p:cNvSpPr/>
          <p:nvPr/>
        </p:nvSpPr>
        <p:spPr>
          <a:xfrm>
            <a:off x="372108" y="5577840"/>
            <a:ext cx="11430002" cy="77724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2" name="TextBox 32"/>
          <p:cNvSpPr txBox="1"/>
          <p:nvPr/>
        </p:nvSpPr>
        <p:spPr>
          <a:xfrm>
            <a:off x="399540" y="5750885"/>
            <a:ext cx="11375139" cy="431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Flywheel:  사용자 행동 → 검증 사례 → 규칙 개선 → 정확도 ↑ → 만족도 ↑ → 재방문 ↑</a:t>
            </a:r>
          </a:p>
          <a:p>
            <a:pPr algn="ctr">
              <a:defRPr i="1" sz="1200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"1년만 운영하면, 후발주자는 따라잡기 매우 어려운 구조”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5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6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4. 시스템 아키텍처 소개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1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2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기술 스택 한눈에</a:t>
            </a:r>
          </a:p>
        </p:txBody>
      </p:sp>
      <p:sp>
        <p:nvSpPr>
          <p:cNvPr id="413" name="TextBox 4"/>
          <p:cNvSpPr txBox="1"/>
          <p:nvPr/>
        </p:nvSpPr>
        <p:spPr>
          <a:xfrm>
            <a:off x="399540" y="548640"/>
            <a:ext cx="10460739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Backend · AI/LLM · Market Data · Frontend</a:t>
            </a:r>
          </a:p>
        </p:txBody>
      </p:sp>
      <p:sp>
        <p:nvSpPr>
          <p:cNvPr id="414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5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#12</a:t>
            </a:r>
          </a:p>
        </p:txBody>
      </p:sp>
      <p:sp>
        <p:nvSpPr>
          <p:cNvPr id="416" name="Rounded Rectangle 7"/>
          <p:cNvSpPr/>
          <p:nvPr/>
        </p:nvSpPr>
        <p:spPr>
          <a:xfrm>
            <a:off x="372108" y="1097280"/>
            <a:ext cx="2880363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7" name="Rectangle 8"/>
          <p:cNvSpPr/>
          <p:nvPr/>
        </p:nvSpPr>
        <p:spPr>
          <a:xfrm>
            <a:off x="372109" y="1097280"/>
            <a:ext cx="2880362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8" name="Oval 9"/>
          <p:cNvSpPr/>
          <p:nvPr/>
        </p:nvSpPr>
        <p:spPr>
          <a:xfrm>
            <a:off x="1537969" y="1280160"/>
            <a:ext cx="548642" cy="548643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TextBox 10"/>
          <p:cNvSpPr txBox="1"/>
          <p:nvPr/>
        </p:nvSpPr>
        <p:spPr>
          <a:xfrm>
            <a:off x="1565399" y="1377441"/>
            <a:ext cx="493777" cy="354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⚙</a:t>
            </a:r>
          </a:p>
        </p:txBody>
      </p:sp>
      <p:sp>
        <p:nvSpPr>
          <p:cNvPr id="420" name="TextBox 11"/>
          <p:cNvSpPr txBox="1"/>
          <p:nvPr/>
        </p:nvSpPr>
        <p:spPr>
          <a:xfrm>
            <a:off x="399540" y="1920238"/>
            <a:ext cx="2825500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421" name="TextBox 12"/>
          <p:cNvSpPr txBox="1"/>
          <p:nvPr/>
        </p:nvSpPr>
        <p:spPr>
          <a:xfrm>
            <a:off x="554990" y="2377440"/>
            <a:ext cx="2651762" cy="1415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Python 3.13 / FastAPI ≥ 0.115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Uvicorn (port 33333)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PostgreSQL 16 (asyncpg + pgvector)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SQLAlchemy 2.0 async / Alembic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Redis 5.x asyncio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APScheduler 3.10 (20+ 정기 작업)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Docker Compose</a:t>
            </a:r>
          </a:p>
        </p:txBody>
      </p:sp>
      <p:sp>
        <p:nvSpPr>
          <p:cNvPr id="422" name="Rounded Rectangle 13"/>
          <p:cNvSpPr/>
          <p:nvPr/>
        </p:nvSpPr>
        <p:spPr>
          <a:xfrm>
            <a:off x="3321050" y="1097280"/>
            <a:ext cx="2880362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Rectangle 14"/>
          <p:cNvSpPr/>
          <p:nvPr/>
        </p:nvSpPr>
        <p:spPr>
          <a:xfrm>
            <a:off x="3321049" y="1097280"/>
            <a:ext cx="2880363" cy="73154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Oval 15"/>
          <p:cNvSpPr/>
          <p:nvPr/>
        </p:nvSpPr>
        <p:spPr>
          <a:xfrm>
            <a:off x="4486909" y="1280160"/>
            <a:ext cx="548643" cy="548643"/>
          </a:xfrm>
          <a:prstGeom prst="ellipse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TextBox 16"/>
          <p:cNvSpPr txBox="1"/>
          <p:nvPr/>
        </p:nvSpPr>
        <p:spPr>
          <a:xfrm>
            <a:off x="4514341" y="1345691"/>
            <a:ext cx="493777" cy="417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🧠</a:t>
            </a:r>
          </a:p>
        </p:txBody>
      </p:sp>
      <p:sp>
        <p:nvSpPr>
          <p:cNvPr id="426" name="TextBox 17"/>
          <p:cNvSpPr txBox="1"/>
          <p:nvPr/>
        </p:nvSpPr>
        <p:spPr>
          <a:xfrm>
            <a:off x="3348481" y="1920238"/>
            <a:ext cx="282549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AI / LLM</a:t>
            </a:r>
          </a:p>
        </p:txBody>
      </p:sp>
      <p:sp>
        <p:nvSpPr>
          <p:cNvPr id="427" name="TextBox 18"/>
          <p:cNvSpPr txBox="1"/>
          <p:nvPr/>
        </p:nvSpPr>
        <p:spPr>
          <a:xfrm>
            <a:off x="3503929" y="2377439"/>
            <a:ext cx="2651762" cy="817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OpenAI (GPT-4o · gpt-5-mini · o1)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LangChain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LangGraph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LangSmith (tracing)</a:t>
            </a:r>
          </a:p>
        </p:txBody>
      </p:sp>
      <p:sp>
        <p:nvSpPr>
          <p:cNvPr id="428" name="Rounded Rectangle 19"/>
          <p:cNvSpPr/>
          <p:nvPr/>
        </p:nvSpPr>
        <p:spPr>
          <a:xfrm>
            <a:off x="6269990" y="1097280"/>
            <a:ext cx="2880362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9" name="Rectangle 20"/>
          <p:cNvSpPr/>
          <p:nvPr/>
        </p:nvSpPr>
        <p:spPr>
          <a:xfrm>
            <a:off x="6269990" y="1097280"/>
            <a:ext cx="288036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0" name="Oval 21"/>
          <p:cNvSpPr/>
          <p:nvPr/>
        </p:nvSpPr>
        <p:spPr>
          <a:xfrm>
            <a:off x="7435850" y="1280160"/>
            <a:ext cx="548642" cy="54864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TextBox 22"/>
          <p:cNvSpPr txBox="1"/>
          <p:nvPr/>
        </p:nvSpPr>
        <p:spPr>
          <a:xfrm>
            <a:off x="7463280" y="1345691"/>
            <a:ext cx="493777" cy="417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📊</a:t>
            </a:r>
          </a:p>
        </p:txBody>
      </p:sp>
      <p:sp>
        <p:nvSpPr>
          <p:cNvPr id="432" name="TextBox 23"/>
          <p:cNvSpPr txBox="1"/>
          <p:nvPr/>
        </p:nvSpPr>
        <p:spPr>
          <a:xfrm>
            <a:off x="6297421" y="1920238"/>
            <a:ext cx="282549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Market &amp; Data</a:t>
            </a:r>
          </a:p>
        </p:txBody>
      </p:sp>
      <p:sp>
        <p:nvSpPr>
          <p:cNvPr id="433" name="TextBox 24"/>
          <p:cNvSpPr txBox="1"/>
          <p:nvPr/>
        </p:nvSpPr>
        <p:spPr>
          <a:xfrm>
            <a:off x="6452870" y="2377439"/>
            <a:ext cx="2651762" cy="101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yfinance · pykrx · FRED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Finnhub · GDELT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DART · SEC EDGAR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SerpAPI · YouTube Data API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kiwipiepy · BeautifulSoup4</a:t>
            </a:r>
          </a:p>
        </p:txBody>
      </p:sp>
      <p:sp>
        <p:nvSpPr>
          <p:cNvPr id="434" name="Rounded Rectangle 25"/>
          <p:cNvSpPr/>
          <p:nvPr/>
        </p:nvSpPr>
        <p:spPr>
          <a:xfrm>
            <a:off x="9218930" y="1097280"/>
            <a:ext cx="2880362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5" name="Rectangle 26"/>
          <p:cNvSpPr/>
          <p:nvPr/>
        </p:nvSpPr>
        <p:spPr>
          <a:xfrm>
            <a:off x="9218930" y="1097280"/>
            <a:ext cx="2880362" cy="73154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6" name="Oval 27"/>
          <p:cNvSpPr/>
          <p:nvPr/>
        </p:nvSpPr>
        <p:spPr>
          <a:xfrm>
            <a:off x="10384790" y="1280160"/>
            <a:ext cx="548643" cy="548643"/>
          </a:xfrm>
          <a:prstGeom prst="ellipse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7" name="TextBox 28"/>
          <p:cNvSpPr txBox="1"/>
          <p:nvPr/>
        </p:nvSpPr>
        <p:spPr>
          <a:xfrm>
            <a:off x="10412221" y="1345691"/>
            <a:ext cx="493777" cy="417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🎨</a:t>
            </a:r>
          </a:p>
        </p:txBody>
      </p:sp>
      <p:sp>
        <p:nvSpPr>
          <p:cNvPr id="438" name="TextBox 29"/>
          <p:cNvSpPr txBox="1"/>
          <p:nvPr/>
        </p:nvSpPr>
        <p:spPr>
          <a:xfrm>
            <a:off x="9246361" y="1920238"/>
            <a:ext cx="282549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439" name="TextBox 30"/>
          <p:cNvSpPr txBox="1"/>
          <p:nvPr/>
        </p:nvSpPr>
        <p:spPr>
          <a:xfrm>
            <a:off x="9401809" y="2377439"/>
            <a:ext cx="2651762" cy="817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Next.js 16 (App Router · Turbopack)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React 19 / TypeScript 5.9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Jotai 2 / Tailwind CSS v4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lightweight-charts · recharts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2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Hexagonal + DDD 아키텍처</a:t>
            </a:r>
          </a:p>
        </p:txBody>
      </p:sp>
      <p:sp>
        <p:nvSpPr>
          <p:cNvPr id="44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#13</a:t>
            </a:r>
          </a:p>
        </p:txBody>
      </p:sp>
      <p:sp>
        <p:nvSpPr>
          <p:cNvPr id="444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Clean Architecture 의존성 규칙</a:t>
            </a:r>
          </a:p>
        </p:txBody>
      </p:sp>
      <p:grpSp>
        <p:nvGrpSpPr>
          <p:cNvPr id="447" name="Rectangle 5"/>
          <p:cNvGrpSpPr/>
          <p:nvPr/>
        </p:nvGrpSpPr>
        <p:grpSpPr>
          <a:xfrm>
            <a:off x="457198" y="1668795"/>
            <a:ext cx="11274556" cy="2453643"/>
            <a:chOff x="0" y="0"/>
            <a:chExt cx="11274555" cy="2453641"/>
          </a:xfrm>
        </p:grpSpPr>
        <p:sp>
          <p:nvSpPr>
            <p:cNvPr id="445" name="직사각형"/>
            <p:cNvSpPr/>
            <p:nvPr/>
          </p:nvSpPr>
          <p:spPr>
            <a:xfrm>
              <a:off x="-1" y="-1"/>
              <a:ext cx="11274556" cy="245364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46" name="┌──────────────────────────────────────────────┐…"/>
            <p:cNvSpPr txBox="1"/>
            <p:nvPr/>
          </p:nvSpPr>
          <p:spPr>
            <a:xfrm>
              <a:off x="45719" y="139124"/>
              <a:ext cx="6397433" cy="2175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┌──────────────────────────────────────────────┐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Frameworks &amp; Drivers (FastAPI · DB · Redis)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┌────────────────────────────────────────┐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Interface Adapters (Router · Repo)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┌──────────────────────────────────┐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Use Cases (Application)       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┌────────────────────────────┐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│  Entities (Domain)         │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└────────────────────────────┘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└──────────────────────────────────┘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└────────────────────────────────────────┘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└──────────────────────────────────────────────┘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     의존성 방향: 바깥 → 안쪽</a:t>
              </a:r>
            </a:p>
          </p:txBody>
        </p:sp>
      </p:grpSp>
      <p:sp>
        <p:nvSpPr>
          <p:cNvPr id="448" name="TextBox 6"/>
          <p:cNvSpPr txBox="1"/>
          <p:nvPr/>
        </p:nvSpPr>
        <p:spPr>
          <a:xfrm>
            <a:off x="466343" y="4395249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레이어별 MUST 규칙</a:t>
            </a:r>
          </a:p>
        </p:txBody>
      </p:sp>
      <p:graphicFrame>
        <p:nvGraphicFramePr>
          <p:cNvPr id="449" name="Table 7"/>
          <p:cNvGraphicFramePr/>
          <p:nvPr/>
        </p:nvGraphicFramePr>
        <p:xfrm>
          <a:off x="457200" y="5003341"/>
          <a:ext cx="11274553" cy="159512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585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레이어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허용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Domain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순수 Python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 · SQLAlchemy · Redis · Pydantic · ORM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Application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UseCase / Port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 · ORM 직접 / Redis 직접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Adapter (Inbound)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Router · DTO 변환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비즈니스 로직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Adapter (Outbound)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Repo · External Client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도메인 규칙 침범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Infrastructure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 · ORM · Redis · env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도메인 맵 &amp; 데이터 흐름 (1/2)</a:t>
            </a:r>
          </a:p>
        </p:txBody>
      </p:sp>
      <p:sp>
        <p:nvSpPr>
          <p:cNvPr id="45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#14</a:t>
            </a:r>
          </a:p>
        </p:txBody>
      </p:sp>
      <p:sp>
        <p:nvSpPr>
          <p:cNvPr id="45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도메인 맵 (24개)</a:t>
            </a:r>
          </a:p>
        </p:txBody>
      </p:sp>
      <p:sp>
        <p:nvSpPr>
          <p:cNvPr id="457" name="TextBox 5"/>
          <p:cNvSpPr txBox="1"/>
          <p:nvPr/>
        </p:nvSpPr>
        <p:spPr>
          <a:xfrm>
            <a:off x="457198" y="1635117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사용자·인증: account / auth / kakao_auth / authentication</a:t>
            </a:r>
          </a:p>
        </p:txBody>
      </p:sp>
      <p:sp>
        <p:nvSpPr>
          <p:cNvPr id="458" name="TextBox 6"/>
          <p:cNvSpPr txBox="1"/>
          <p:nvPr/>
        </p:nvSpPr>
        <p:spPr>
          <a:xfrm>
            <a:off x="457198" y="2053065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시장 데이터: stock / stock_theme / dashboard / smart_money / company_profile</a:t>
            </a:r>
          </a:p>
        </p:txBody>
      </p:sp>
      <p:sp>
        <p:nvSpPr>
          <p:cNvPr id="459" name="TextBox 7"/>
          <p:cNvSpPr txBox="1"/>
          <p:nvPr/>
        </p:nvSpPr>
        <p:spPr>
          <a:xfrm>
            <a:off x="457198" y="2471012"/>
            <a:ext cx="11274556" cy="26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콘텐츠·분석: news / disclosure / market_video / macro / history_agent / causality_agent / sentiment</a:t>
            </a:r>
          </a:p>
        </p:txBody>
      </p:sp>
      <p:sp>
        <p:nvSpPr>
          <p:cNvPr id="460" name="TextBox 8"/>
          <p:cNvSpPr txBox="1"/>
          <p:nvPr/>
        </p:nvSpPr>
        <p:spPr>
          <a:xfrm>
            <a:off x="457198" y="2888963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통합 에이전트: agent (메인 오케스트레이터)</a:t>
            </a:r>
          </a:p>
        </p:txBody>
      </p:sp>
      <p:sp>
        <p:nvSpPr>
          <p:cNvPr id="461" name="TextBox 9"/>
          <p:cNvSpPr txBox="1"/>
          <p:nvPr/>
        </p:nvSpPr>
        <p:spPr>
          <a:xfrm>
            <a:off x="466343" y="3361773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요청 처리 흐름</a:t>
            </a:r>
          </a:p>
        </p:txBody>
      </p:sp>
      <p:grpSp>
        <p:nvGrpSpPr>
          <p:cNvPr id="464" name="Rectangle 10"/>
          <p:cNvGrpSpPr/>
          <p:nvPr/>
        </p:nvGrpSpPr>
        <p:grpSpPr>
          <a:xfrm>
            <a:off x="457198" y="3936185"/>
            <a:ext cx="11274556" cy="2621284"/>
            <a:chOff x="0" y="0"/>
            <a:chExt cx="11274555" cy="2621283"/>
          </a:xfrm>
        </p:grpSpPr>
        <p:sp>
          <p:nvSpPr>
            <p:cNvPr id="462" name="직사각형"/>
            <p:cNvSpPr/>
            <p:nvPr/>
          </p:nvSpPr>
          <p:spPr>
            <a:xfrm>
              <a:off x="-1" y="-1"/>
              <a:ext cx="11274556" cy="262128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63" name="HTTP Request…"/>
            <p:cNvSpPr txBox="1"/>
            <p:nvPr/>
          </p:nvSpPr>
          <p:spPr>
            <a:xfrm>
              <a:off x="45719" y="114839"/>
              <a:ext cx="3532400" cy="2391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HTTP Request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FastAPI Router (Inbound Adapter)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UseCase 실행 (Application)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Port 호출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├─▶ Repository → SQLAlchemy → PostgreSQL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├─▶ External Client → OpenAI / DART / yfinance / SEC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└─▶ Cache Adapter → Redis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Domain Entity 조작 (순수 Python)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Response DTO 변환 → HTTP Response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도메인 맵 &amp; 데이터 흐름 (2/2)</a:t>
            </a:r>
          </a:p>
        </p:txBody>
      </p:sp>
      <p:sp>
        <p:nvSpPr>
          <p:cNvPr id="47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#14</a:t>
            </a:r>
          </a:p>
        </p:txBody>
      </p:sp>
      <p:graphicFrame>
        <p:nvGraphicFramePr>
          <p:cNvPr id="471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113385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Job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 수집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매일 06:00 KST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투자자 순매수 (KRX)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 영업일 16:30 KST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 13F 글로벌 포트폴리오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분기 (2·5·8·11월 15일)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국내 포트폴리오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매월 1일 03:00 KST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4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5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5. AI Multi-Agent 구성 소개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0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1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멀티 에이전트 오케스트레이션</a:t>
            </a:r>
          </a:p>
        </p:txBody>
      </p:sp>
      <p:sp>
        <p:nvSpPr>
          <p:cNvPr id="482" name="TextBox 4"/>
          <p:cNvSpPr txBox="1"/>
          <p:nvPr/>
        </p:nvSpPr>
        <p:spPr>
          <a:xfrm>
            <a:off x="399540" y="548640"/>
            <a:ext cx="10460739" cy="200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메인 → 서브 에이전트 협업 구조</a:t>
            </a:r>
          </a:p>
        </p:txBody>
      </p:sp>
      <p:sp>
        <p:nvSpPr>
          <p:cNvPr id="483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4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#15</a:t>
            </a:r>
          </a:p>
        </p:txBody>
      </p:sp>
      <p:sp>
        <p:nvSpPr>
          <p:cNvPr id="485" name="Rounded Rectangle 7"/>
          <p:cNvSpPr/>
          <p:nvPr/>
        </p:nvSpPr>
        <p:spPr>
          <a:xfrm>
            <a:off x="372108" y="1097280"/>
            <a:ext cx="2743202" cy="64008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5BC4FF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6" name="TextBox 8"/>
          <p:cNvSpPr txBox="1"/>
          <p:nvPr/>
        </p:nvSpPr>
        <p:spPr>
          <a:xfrm>
            <a:off x="399540" y="1291080"/>
            <a:ext cx="268833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User Query</a:t>
            </a:r>
          </a:p>
        </p:txBody>
      </p:sp>
      <p:sp>
        <p:nvSpPr>
          <p:cNvPr id="487" name="Right Arrow 9"/>
          <p:cNvSpPr/>
          <p:nvPr/>
        </p:nvSpPr>
        <p:spPr>
          <a:xfrm>
            <a:off x="3161028" y="1280160"/>
            <a:ext cx="3657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8" name="Rounded Rectangle 10"/>
          <p:cNvSpPr/>
          <p:nvPr/>
        </p:nvSpPr>
        <p:spPr>
          <a:xfrm>
            <a:off x="3663950" y="1097280"/>
            <a:ext cx="4846321" cy="64008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C4A6F7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9" name="TextBox 11"/>
          <p:cNvSpPr txBox="1"/>
          <p:nvPr/>
        </p:nvSpPr>
        <p:spPr>
          <a:xfrm>
            <a:off x="3691381" y="1252980"/>
            <a:ext cx="479145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C4A6F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🎛  agent (오케스트레이터)</a:t>
            </a:r>
          </a:p>
        </p:txBody>
      </p:sp>
      <p:sp>
        <p:nvSpPr>
          <p:cNvPr id="490" name="Right Arrow 12"/>
          <p:cNvSpPr/>
          <p:nvPr/>
        </p:nvSpPr>
        <p:spPr>
          <a:xfrm>
            <a:off x="8555990" y="1280160"/>
            <a:ext cx="3657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1" name="Rounded Rectangle 13"/>
          <p:cNvSpPr/>
          <p:nvPr/>
        </p:nvSpPr>
        <p:spPr>
          <a:xfrm>
            <a:off x="9013190" y="1097280"/>
            <a:ext cx="2834642" cy="64008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2" name="TextBox 14"/>
          <p:cNvSpPr txBox="1"/>
          <p:nvPr/>
        </p:nvSpPr>
        <p:spPr>
          <a:xfrm>
            <a:off x="9040621" y="1303780"/>
            <a:ext cx="277977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asyncio.gather (병렬)</a:t>
            </a:r>
          </a:p>
        </p:txBody>
      </p:sp>
      <p:sp>
        <p:nvSpPr>
          <p:cNvPr id="493" name="Rounded Rectangle 15"/>
          <p:cNvSpPr/>
          <p:nvPr/>
        </p:nvSpPr>
        <p:spPr>
          <a:xfrm>
            <a:off x="372108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4" name="Rectangle 16"/>
          <p:cNvSpPr/>
          <p:nvPr/>
        </p:nvSpPr>
        <p:spPr>
          <a:xfrm>
            <a:off x="372110" y="2194560"/>
            <a:ext cx="2249424" cy="73154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5" name="Oval 17"/>
          <p:cNvSpPr/>
          <p:nvPr/>
        </p:nvSpPr>
        <p:spPr>
          <a:xfrm>
            <a:off x="1176780" y="2423160"/>
            <a:ext cx="640083" cy="640083"/>
          </a:xfrm>
          <a:prstGeom prst="ellipse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6" name="TextBox 18"/>
          <p:cNvSpPr txBox="1"/>
          <p:nvPr/>
        </p:nvSpPr>
        <p:spPr>
          <a:xfrm>
            <a:off x="1204211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📰</a:t>
            </a:r>
          </a:p>
        </p:txBody>
      </p:sp>
      <p:sp>
        <p:nvSpPr>
          <p:cNvPr id="497" name="TextBox 19"/>
          <p:cNvSpPr txBox="1"/>
          <p:nvPr/>
        </p:nvSpPr>
        <p:spPr>
          <a:xfrm>
            <a:off x="399541" y="3108960"/>
            <a:ext cx="2194562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News Agent</a:t>
            </a:r>
          </a:p>
        </p:txBody>
      </p:sp>
      <p:sp>
        <p:nvSpPr>
          <p:cNvPr id="498" name="TextBox 20"/>
          <p:cNvSpPr txBox="1"/>
          <p:nvPr/>
        </p:nvSpPr>
        <p:spPr>
          <a:xfrm>
            <a:off x="399541" y="3474720"/>
            <a:ext cx="2194562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SERP + LLM</a:t>
            </a:r>
          </a:p>
        </p:txBody>
      </p:sp>
      <p:sp>
        <p:nvSpPr>
          <p:cNvPr id="499" name="Rounded Rectangle 21"/>
          <p:cNvSpPr/>
          <p:nvPr/>
        </p:nvSpPr>
        <p:spPr>
          <a:xfrm>
            <a:off x="600709" y="3749037"/>
            <a:ext cx="1792225" cy="22860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0" name="TextBox 22"/>
          <p:cNvSpPr txBox="1"/>
          <p:nvPr/>
        </p:nvSpPr>
        <p:spPr>
          <a:xfrm>
            <a:off x="628141" y="3781550"/>
            <a:ext cx="1737362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 (0.7)</a:t>
            </a:r>
          </a:p>
        </p:txBody>
      </p:sp>
      <p:sp>
        <p:nvSpPr>
          <p:cNvPr id="501" name="Rounded Rectangle 23"/>
          <p:cNvSpPr/>
          <p:nvPr/>
        </p:nvSpPr>
        <p:spPr>
          <a:xfrm>
            <a:off x="2685539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2" name="Rectangle 24"/>
          <p:cNvSpPr/>
          <p:nvPr/>
        </p:nvSpPr>
        <p:spPr>
          <a:xfrm>
            <a:off x="2685540" y="2194560"/>
            <a:ext cx="2249425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3" name="Oval 25"/>
          <p:cNvSpPr/>
          <p:nvPr/>
        </p:nvSpPr>
        <p:spPr>
          <a:xfrm>
            <a:off x="3490214" y="2423160"/>
            <a:ext cx="640083" cy="64008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4" name="TextBox 26"/>
          <p:cNvSpPr txBox="1"/>
          <p:nvPr/>
        </p:nvSpPr>
        <p:spPr>
          <a:xfrm>
            <a:off x="3517646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📋</a:t>
            </a:r>
          </a:p>
        </p:txBody>
      </p:sp>
      <p:sp>
        <p:nvSpPr>
          <p:cNvPr id="505" name="TextBox 27"/>
          <p:cNvSpPr txBox="1"/>
          <p:nvPr/>
        </p:nvSpPr>
        <p:spPr>
          <a:xfrm>
            <a:off x="2712971" y="3108960"/>
            <a:ext cx="2194563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Disclosure Agent</a:t>
            </a:r>
          </a:p>
        </p:txBody>
      </p:sp>
      <p:sp>
        <p:nvSpPr>
          <p:cNvPr id="506" name="TextBox 28"/>
          <p:cNvSpPr txBox="1"/>
          <p:nvPr/>
        </p:nvSpPr>
        <p:spPr>
          <a:xfrm>
            <a:off x="2712971" y="3474720"/>
            <a:ext cx="2194563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DART + LLM + RAG</a:t>
            </a:r>
          </a:p>
        </p:txBody>
      </p:sp>
      <p:sp>
        <p:nvSpPr>
          <p:cNvPr id="507" name="Rounded Rectangle 29"/>
          <p:cNvSpPr/>
          <p:nvPr/>
        </p:nvSpPr>
        <p:spPr>
          <a:xfrm>
            <a:off x="2914139" y="3749037"/>
            <a:ext cx="1792226" cy="22860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8" name="TextBox 30"/>
          <p:cNvSpPr txBox="1"/>
          <p:nvPr/>
        </p:nvSpPr>
        <p:spPr>
          <a:xfrm>
            <a:off x="2941571" y="3781550"/>
            <a:ext cx="1737363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HIGH (1.0)</a:t>
            </a:r>
          </a:p>
        </p:txBody>
      </p:sp>
      <p:sp>
        <p:nvSpPr>
          <p:cNvPr id="509" name="Rounded Rectangle 31"/>
          <p:cNvSpPr/>
          <p:nvPr/>
        </p:nvSpPr>
        <p:spPr>
          <a:xfrm>
            <a:off x="4998973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0" name="Rectangle 32"/>
          <p:cNvSpPr/>
          <p:nvPr/>
        </p:nvSpPr>
        <p:spPr>
          <a:xfrm>
            <a:off x="4998973" y="2194560"/>
            <a:ext cx="2249426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1" name="Oval 33"/>
          <p:cNvSpPr/>
          <p:nvPr/>
        </p:nvSpPr>
        <p:spPr>
          <a:xfrm>
            <a:off x="5803646" y="2423160"/>
            <a:ext cx="640083" cy="640083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2" name="TextBox 34"/>
          <p:cNvSpPr txBox="1"/>
          <p:nvPr/>
        </p:nvSpPr>
        <p:spPr>
          <a:xfrm>
            <a:off x="5831078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💹</a:t>
            </a:r>
          </a:p>
        </p:txBody>
      </p:sp>
      <p:sp>
        <p:nvSpPr>
          <p:cNvPr id="513" name="TextBox 35"/>
          <p:cNvSpPr txBox="1"/>
          <p:nvPr/>
        </p:nvSpPr>
        <p:spPr>
          <a:xfrm>
            <a:off x="5026404" y="3108960"/>
            <a:ext cx="2194562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Finance Agent</a:t>
            </a:r>
          </a:p>
        </p:txBody>
      </p:sp>
      <p:sp>
        <p:nvSpPr>
          <p:cNvPr id="514" name="TextBox 36"/>
          <p:cNvSpPr txBox="1"/>
          <p:nvPr/>
        </p:nvSpPr>
        <p:spPr>
          <a:xfrm>
            <a:off x="5026404" y="3474720"/>
            <a:ext cx="2194562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yfinance + DART</a:t>
            </a:r>
          </a:p>
        </p:txBody>
      </p:sp>
      <p:sp>
        <p:nvSpPr>
          <p:cNvPr id="515" name="Rounded Rectangle 37"/>
          <p:cNvSpPr/>
          <p:nvPr/>
        </p:nvSpPr>
        <p:spPr>
          <a:xfrm>
            <a:off x="5227573" y="3749037"/>
            <a:ext cx="1792226" cy="2286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6" name="TextBox 38"/>
          <p:cNvSpPr txBox="1"/>
          <p:nvPr/>
        </p:nvSpPr>
        <p:spPr>
          <a:xfrm>
            <a:off x="5255004" y="3781550"/>
            <a:ext cx="1737362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HIGH (1.0)</a:t>
            </a:r>
          </a:p>
        </p:txBody>
      </p:sp>
      <p:sp>
        <p:nvSpPr>
          <p:cNvPr id="517" name="Rounded Rectangle 39"/>
          <p:cNvSpPr/>
          <p:nvPr/>
        </p:nvSpPr>
        <p:spPr>
          <a:xfrm>
            <a:off x="7312406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8" name="Rectangle 40"/>
          <p:cNvSpPr/>
          <p:nvPr/>
        </p:nvSpPr>
        <p:spPr>
          <a:xfrm>
            <a:off x="7312406" y="2194560"/>
            <a:ext cx="2249426" cy="73154"/>
          </a:xfrm>
          <a:prstGeom prst="rect">
            <a:avLst/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9" name="Oval 41"/>
          <p:cNvSpPr/>
          <p:nvPr/>
        </p:nvSpPr>
        <p:spPr>
          <a:xfrm>
            <a:off x="8117078" y="2423160"/>
            <a:ext cx="640083" cy="640083"/>
          </a:xfrm>
          <a:prstGeom prst="ellipse">
            <a:avLst/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0" name="TextBox 42"/>
          <p:cNvSpPr txBox="1"/>
          <p:nvPr/>
        </p:nvSpPr>
        <p:spPr>
          <a:xfrm>
            <a:off x="8144509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💬</a:t>
            </a:r>
          </a:p>
        </p:txBody>
      </p:sp>
      <p:sp>
        <p:nvSpPr>
          <p:cNvPr id="521" name="TextBox 43"/>
          <p:cNvSpPr txBox="1"/>
          <p:nvPr/>
        </p:nvSpPr>
        <p:spPr>
          <a:xfrm>
            <a:off x="7339838" y="3108960"/>
            <a:ext cx="2194561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Sentiment Agent</a:t>
            </a:r>
          </a:p>
        </p:txBody>
      </p:sp>
      <p:sp>
        <p:nvSpPr>
          <p:cNvPr id="522" name="TextBox 44"/>
          <p:cNvSpPr txBox="1"/>
          <p:nvPr/>
        </p:nvSpPr>
        <p:spPr>
          <a:xfrm>
            <a:off x="7339838" y="3474720"/>
            <a:ext cx="219456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Reddit + SNS + GPT</a:t>
            </a:r>
          </a:p>
        </p:txBody>
      </p:sp>
      <p:sp>
        <p:nvSpPr>
          <p:cNvPr id="523" name="Rounded Rectangle 45"/>
          <p:cNvSpPr/>
          <p:nvPr/>
        </p:nvSpPr>
        <p:spPr>
          <a:xfrm>
            <a:off x="7541006" y="3749037"/>
            <a:ext cx="1792226" cy="228602"/>
          </a:xfrm>
          <a:prstGeom prst="roundRect">
            <a:avLst>
              <a:gd name="adj" fmla="val 16667"/>
            </a:avLst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4" name="TextBox 46"/>
          <p:cNvSpPr txBox="1"/>
          <p:nvPr/>
        </p:nvSpPr>
        <p:spPr>
          <a:xfrm>
            <a:off x="7568438" y="3781550"/>
            <a:ext cx="1737361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LOW (0.3)</a:t>
            </a:r>
          </a:p>
        </p:txBody>
      </p:sp>
      <p:sp>
        <p:nvSpPr>
          <p:cNvPr id="525" name="Rounded Rectangle 47"/>
          <p:cNvSpPr/>
          <p:nvPr/>
        </p:nvSpPr>
        <p:spPr>
          <a:xfrm>
            <a:off x="9625838" y="2194560"/>
            <a:ext cx="2249424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6" name="Rectangle 48"/>
          <p:cNvSpPr/>
          <p:nvPr/>
        </p:nvSpPr>
        <p:spPr>
          <a:xfrm>
            <a:off x="9625838" y="2194560"/>
            <a:ext cx="2249424" cy="73154"/>
          </a:xfrm>
          <a:prstGeom prst="rect">
            <a:avLst/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7" name="Oval 49"/>
          <p:cNvSpPr/>
          <p:nvPr/>
        </p:nvSpPr>
        <p:spPr>
          <a:xfrm>
            <a:off x="10430509" y="2423160"/>
            <a:ext cx="640083" cy="640083"/>
          </a:xfrm>
          <a:prstGeom prst="ellipse">
            <a:avLst/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8" name="TextBox 50"/>
          <p:cNvSpPr txBox="1"/>
          <p:nvPr/>
        </p:nvSpPr>
        <p:spPr>
          <a:xfrm>
            <a:off x="10457940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🌍</a:t>
            </a:r>
          </a:p>
        </p:txBody>
      </p:sp>
      <p:sp>
        <p:nvSpPr>
          <p:cNvPr id="529" name="TextBox 51"/>
          <p:cNvSpPr txBox="1"/>
          <p:nvPr/>
        </p:nvSpPr>
        <p:spPr>
          <a:xfrm>
            <a:off x="9653268" y="3108960"/>
            <a:ext cx="2194562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Macro Agent</a:t>
            </a:r>
          </a:p>
        </p:txBody>
      </p:sp>
      <p:sp>
        <p:nvSpPr>
          <p:cNvPr id="530" name="TextBox 52"/>
          <p:cNvSpPr txBox="1"/>
          <p:nvPr/>
        </p:nvSpPr>
        <p:spPr>
          <a:xfrm>
            <a:off x="9653268" y="3474720"/>
            <a:ext cx="2194562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YouTube + LLM</a:t>
            </a:r>
          </a:p>
        </p:txBody>
      </p:sp>
      <p:sp>
        <p:nvSpPr>
          <p:cNvPr id="531" name="Rounded Rectangle 53"/>
          <p:cNvSpPr/>
          <p:nvPr/>
        </p:nvSpPr>
        <p:spPr>
          <a:xfrm>
            <a:off x="9854438" y="3749037"/>
            <a:ext cx="1792224" cy="228602"/>
          </a:xfrm>
          <a:prstGeom prst="roundRect">
            <a:avLst>
              <a:gd name="adj" fmla="val 16667"/>
            </a:avLst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2" name="TextBox 54"/>
          <p:cNvSpPr txBox="1"/>
          <p:nvPr/>
        </p:nvSpPr>
        <p:spPr>
          <a:xfrm>
            <a:off x="9881868" y="3781550"/>
            <a:ext cx="1737362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 (0.7)</a:t>
            </a:r>
          </a:p>
        </p:txBody>
      </p:sp>
      <p:sp>
        <p:nvSpPr>
          <p:cNvPr id="533" name="Down Arrow 55"/>
          <p:cNvSpPr/>
          <p:nvPr/>
        </p:nvSpPr>
        <p:spPr>
          <a:xfrm>
            <a:off x="1405380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4" name="Down Arrow 56"/>
          <p:cNvSpPr/>
          <p:nvPr/>
        </p:nvSpPr>
        <p:spPr>
          <a:xfrm>
            <a:off x="3718814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5" name="Down Arrow 57"/>
          <p:cNvSpPr/>
          <p:nvPr/>
        </p:nvSpPr>
        <p:spPr>
          <a:xfrm>
            <a:off x="6032246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6" name="Down Arrow 58"/>
          <p:cNvSpPr/>
          <p:nvPr/>
        </p:nvSpPr>
        <p:spPr>
          <a:xfrm>
            <a:off x="8345678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7" name="Down Arrow 59"/>
          <p:cNvSpPr/>
          <p:nvPr/>
        </p:nvSpPr>
        <p:spPr>
          <a:xfrm>
            <a:off x="10659109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8" name="Rounded Rectangle 60"/>
          <p:cNvSpPr/>
          <p:nvPr/>
        </p:nvSpPr>
        <p:spPr>
          <a:xfrm>
            <a:off x="1835150" y="4434840"/>
            <a:ext cx="8503920" cy="50292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5BC4FF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9" name="TextBox 61"/>
          <p:cNvSpPr txBox="1"/>
          <p:nvPr/>
        </p:nvSpPr>
        <p:spPr>
          <a:xfrm>
            <a:off x="1862581" y="4541010"/>
            <a:ext cx="8449058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🎚  Source Tier 가중치 적용 (HIGH 1.0 / MEDIUM 0.7 / LOW 0.3)</a:t>
            </a:r>
          </a:p>
        </p:txBody>
      </p:sp>
      <p:sp>
        <p:nvSpPr>
          <p:cNvPr id="540" name="Down Arrow 62"/>
          <p:cNvSpPr/>
          <p:nvPr/>
        </p:nvSpPr>
        <p:spPr>
          <a:xfrm>
            <a:off x="5995670" y="4983479"/>
            <a:ext cx="228602" cy="1828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1" name="Rounded Rectangle 63"/>
          <p:cNvSpPr/>
          <p:nvPr/>
        </p:nvSpPr>
        <p:spPr>
          <a:xfrm>
            <a:off x="1835150" y="5212079"/>
            <a:ext cx="8503920" cy="50292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C4A6F7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2" name="TextBox 64"/>
          <p:cNvSpPr txBox="1"/>
          <p:nvPr/>
        </p:nvSpPr>
        <p:spPr>
          <a:xfrm>
            <a:off x="1862581" y="5318250"/>
            <a:ext cx="8449058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🔗  LangGraph → 통합 시그널 합성 → LangSmith Tracing</a:t>
            </a:r>
          </a:p>
        </p:txBody>
      </p:sp>
      <p:sp>
        <p:nvSpPr>
          <p:cNvPr id="543" name="Down Arrow 65"/>
          <p:cNvSpPr/>
          <p:nvPr/>
        </p:nvSpPr>
        <p:spPr>
          <a:xfrm>
            <a:off x="5995670" y="5760720"/>
            <a:ext cx="228602" cy="1828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4" name="Rounded Rectangle 66"/>
          <p:cNvSpPr/>
          <p:nvPr/>
        </p:nvSpPr>
        <p:spPr>
          <a:xfrm>
            <a:off x="1835150" y="5989320"/>
            <a:ext cx="8503920" cy="54864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5" name="TextBox 67"/>
          <p:cNvSpPr txBox="1"/>
          <p:nvPr/>
        </p:nvSpPr>
        <p:spPr>
          <a:xfrm>
            <a:off x="1862581" y="6099302"/>
            <a:ext cx="844905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🟢 Bullish   /   ⚪ Neutral   /   🔴 Bearish    +   Confidence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8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9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Source Tier 가중치 시스템</a:t>
            </a:r>
          </a:p>
        </p:txBody>
      </p:sp>
      <p:sp>
        <p:nvSpPr>
          <p:cNvPr id="550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4단계 출처 신뢰도 + 섹터 오버라이드</a:t>
            </a:r>
          </a:p>
        </p:txBody>
      </p:sp>
      <p:sp>
        <p:nvSpPr>
          <p:cNvPr id="551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2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#16</a:t>
            </a:r>
          </a:p>
        </p:txBody>
      </p:sp>
      <p:sp>
        <p:nvSpPr>
          <p:cNvPr id="553" name="TextBox 7"/>
          <p:cNvSpPr txBox="1"/>
          <p:nvPr/>
        </p:nvSpPr>
        <p:spPr>
          <a:xfrm>
            <a:off x="399540" y="1097280"/>
            <a:ext cx="11375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📏  4단계 SourceTier</a:t>
            </a:r>
          </a:p>
        </p:txBody>
      </p:sp>
      <p:sp>
        <p:nvSpPr>
          <p:cNvPr id="554" name="Rounded Rectangle 8"/>
          <p:cNvSpPr/>
          <p:nvPr/>
        </p:nvSpPr>
        <p:spPr>
          <a:xfrm>
            <a:off x="372108" y="1554480"/>
            <a:ext cx="11430002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5" name="Rounded Rectangle 9"/>
          <p:cNvSpPr/>
          <p:nvPr/>
        </p:nvSpPr>
        <p:spPr>
          <a:xfrm>
            <a:off x="372108" y="1554480"/>
            <a:ext cx="1554483" cy="64008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6" name="TextBox 10"/>
          <p:cNvSpPr txBox="1"/>
          <p:nvPr/>
        </p:nvSpPr>
        <p:spPr>
          <a:xfrm>
            <a:off x="399540" y="1767332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557" name="Rounded Rectangle 11"/>
          <p:cNvSpPr/>
          <p:nvPr/>
        </p:nvSpPr>
        <p:spPr>
          <a:xfrm>
            <a:off x="2018028" y="1691638"/>
            <a:ext cx="640082" cy="36576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8" name="TextBox 12"/>
          <p:cNvSpPr txBox="1"/>
          <p:nvPr/>
        </p:nvSpPr>
        <p:spPr>
          <a:xfrm>
            <a:off x="2045461" y="1767329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1.0</a:t>
            </a:r>
          </a:p>
        </p:txBody>
      </p:sp>
      <p:sp>
        <p:nvSpPr>
          <p:cNvPr id="559" name="TextBox 13"/>
          <p:cNvSpPr txBox="1"/>
          <p:nvPr/>
        </p:nvSpPr>
        <p:spPr>
          <a:xfrm>
            <a:off x="2822701" y="1768791"/>
            <a:ext cx="5888738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DART · SEC · 미국 IB 공식 리포트</a:t>
            </a:r>
          </a:p>
        </p:txBody>
      </p:sp>
      <p:sp>
        <p:nvSpPr>
          <p:cNvPr id="560" name="Rectangle 14"/>
          <p:cNvSpPr/>
          <p:nvPr/>
        </p:nvSpPr>
        <p:spPr>
          <a:xfrm>
            <a:off x="8876030" y="1783078"/>
            <a:ext cx="2468882" cy="182882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1" name="Rectangle 15"/>
          <p:cNvSpPr/>
          <p:nvPr/>
        </p:nvSpPr>
        <p:spPr>
          <a:xfrm>
            <a:off x="8876030" y="1783078"/>
            <a:ext cx="2468882" cy="182882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2" name="Rounded Rectangle 16"/>
          <p:cNvSpPr/>
          <p:nvPr/>
        </p:nvSpPr>
        <p:spPr>
          <a:xfrm>
            <a:off x="372108" y="2267711"/>
            <a:ext cx="11430002" cy="64008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3" name="Rounded Rectangle 17"/>
          <p:cNvSpPr/>
          <p:nvPr/>
        </p:nvSpPr>
        <p:spPr>
          <a:xfrm>
            <a:off x="372108" y="2267711"/>
            <a:ext cx="1554483" cy="640081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4" name="TextBox 18"/>
          <p:cNvSpPr txBox="1"/>
          <p:nvPr/>
        </p:nvSpPr>
        <p:spPr>
          <a:xfrm>
            <a:off x="399540" y="2480562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</a:t>
            </a:r>
          </a:p>
        </p:txBody>
      </p:sp>
      <p:sp>
        <p:nvSpPr>
          <p:cNvPr id="565" name="Rounded Rectangle 19"/>
          <p:cNvSpPr/>
          <p:nvPr/>
        </p:nvSpPr>
        <p:spPr>
          <a:xfrm>
            <a:off x="2018028" y="2404872"/>
            <a:ext cx="640082" cy="365760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6" name="TextBox 20"/>
          <p:cNvSpPr txBox="1"/>
          <p:nvPr/>
        </p:nvSpPr>
        <p:spPr>
          <a:xfrm>
            <a:off x="2045461" y="2480562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0.7</a:t>
            </a:r>
          </a:p>
        </p:txBody>
      </p:sp>
      <p:sp>
        <p:nvSpPr>
          <p:cNvPr id="567" name="TextBox 21"/>
          <p:cNvSpPr txBox="1"/>
          <p:nvPr/>
        </p:nvSpPr>
        <p:spPr>
          <a:xfrm>
            <a:off x="2822701" y="2482022"/>
            <a:ext cx="5888738" cy="211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Bloomberg · Reuters · WSJ · 한경 · 매경</a:t>
            </a:r>
          </a:p>
        </p:txBody>
      </p:sp>
      <p:sp>
        <p:nvSpPr>
          <p:cNvPr id="568" name="Rectangle 22"/>
          <p:cNvSpPr/>
          <p:nvPr/>
        </p:nvSpPr>
        <p:spPr>
          <a:xfrm>
            <a:off x="8876030" y="2496310"/>
            <a:ext cx="2468882" cy="182883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9" name="Rectangle 23"/>
          <p:cNvSpPr/>
          <p:nvPr/>
        </p:nvSpPr>
        <p:spPr>
          <a:xfrm>
            <a:off x="8876030" y="2496310"/>
            <a:ext cx="1728218" cy="182883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0" name="Rounded Rectangle 24"/>
          <p:cNvSpPr/>
          <p:nvPr/>
        </p:nvSpPr>
        <p:spPr>
          <a:xfrm>
            <a:off x="372108" y="2980944"/>
            <a:ext cx="11430002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1" name="Rounded Rectangle 25"/>
          <p:cNvSpPr/>
          <p:nvPr/>
        </p:nvSpPr>
        <p:spPr>
          <a:xfrm>
            <a:off x="372108" y="2980944"/>
            <a:ext cx="1554483" cy="64008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2" name="TextBox 26"/>
          <p:cNvSpPr txBox="1"/>
          <p:nvPr/>
        </p:nvSpPr>
        <p:spPr>
          <a:xfrm>
            <a:off x="399540" y="3193795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MEDIUM_LOW</a:t>
            </a:r>
          </a:p>
        </p:txBody>
      </p:sp>
      <p:sp>
        <p:nvSpPr>
          <p:cNvPr id="573" name="Rounded Rectangle 27"/>
          <p:cNvSpPr/>
          <p:nvPr/>
        </p:nvSpPr>
        <p:spPr>
          <a:xfrm>
            <a:off x="2018028" y="3118103"/>
            <a:ext cx="640082" cy="36576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4" name="TextBox 28"/>
          <p:cNvSpPr txBox="1"/>
          <p:nvPr/>
        </p:nvSpPr>
        <p:spPr>
          <a:xfrm>
            <a:off x="2045461" y="3193794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0.5</a:t>
            </a:r>
          </a:p>
        </p:txBody>
      </p:sp>
      <p:sp>
        <p:nvSpPr>
          <p:cNvPr id="575" name="TextBox 29"/>
          <p:cNvSpPr txBox="1"/>
          <p:nvPr/>
        </p:nvSpPr>
        <p:spPr>
          <a:xfrm>
            <a:off x="2822701" y="3195254"/>
            <a:ext cx="5888738" cy="211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국내 IB 공식 리포트 (buy-bias 보정)</a:t>
            </a:r>
          </a:p>
        </p:txBody>
      </p:sp>
      <p:sp>
        <p:nvSpPr>
          <p:cNvPr id="576" name="Rectangle 30"/>
          <p:cNvSpPr/>
          <p:nvPr/>
        </p:nvSpPr>
        <p:spPr>
          <a:xfrm>
            <a:off x="8876030" y="3209544"/>
            <a:ext cx="2468882" cy="182882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7" name="Rectangle 31"/>
          <p:cNvSpPr/>
          <p:nvPr/>
        </p:nvSpPr>
        <p:spPr>
          <a:xfrm>
            <a:off x="8876030" y="3209544"/>
            <a:ext cx="1234442" cy="182882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8" name="Rounded Rectangle 32"/>
          <p:cNvSpPr/>
          <p:nvPr/>
        </p:nvSpPr>
        <p:spPr>
          <a:xfrm>
            <a:off x="372108" y="3694176"/>
            <a:ext cx="11430002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9" name="Rounded Rectangle 33"/>
          <p:cNvSpPr/>
          <p:nvPr/>
        </p:nvSpPr>
        <p:spPr>
          <a:xfrm>
            <a:off x="372108" y="3694176"/>
            <a:ext cx="1554483" cy="64008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0" name="TextBox 34"/>
          <p:cNvSpPr txBox="1"/>
          <p:nvPr/>
        </p:nvSpPr>
        <p:spPr>
          <a:xfrm>
            <a:off x="399540" y="3907028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581" name="Rounded Rectangle 35"/>
          <p:cNvSpPr/>
          <p:nvPr/>
        </p:nvSpPr>
        <p:spPr>
          <a:xfrm>
            <a:off x="2018028" y="3831335"/>
            <a:ext cx="640082" cy="36576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2" name="TextBox 36"/>
          <p:cNvSpPr txBox="1"/>
          <p:nvPr/>
        </p:nvSpPr>
        <p:spPr>
          <a:xfrm>
            <a:off x="2045461" y="3907027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0.3</a:t>
            </a:r>
          </a:p>
        </p:txBody>
      </p:sp>
      <p:sp>
        <p:nvSpPr>
          <p:cNvPr id="583" name="TextBox 37"/>
          <p:cNvSpPr txBox="1"/>
          <p:nvPr/>
        </p:nvSpPr>
        <p:spPr>
          <a:xfrm>
            <a:off x="2822701" y="3908487"/>
            <a:ext cx="5888738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SNS · 일반 뉴스 · 커뮤니티</a:t>
            </a:r>
          </a:p>
        </p:txBody>
      </p:sp>
      <p:sp>
        <p:nvSpPr>
          <p:cNvPr id="584" name="Rectangle 38"/>
          <p:cNvSpPr/>
          <p:nvPr/>
        </p:nvSpPr>
        <p:spPr>
          <a:xfrm>
            <a:off x="8876030" y="3922776"/>
            <a:ext cx="2468882" cy="182882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5" name="Rectangle 39"/>
          <p:cNvSpPr/>
          <p:nvPr/>
        </p:nvSpPr>
        <p:spPr>
          <a:xfrm>
            <a:off x="8876030" y="3922776"/>
            <a:ext cx="740666" cy="182882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6" name="TextBox 40"/>
          <p:cNvSpPr txBox="1"/>
          <p:nvPr/>
        </p:nvSpPr>
        <p:spPr>
          <a:xfrm>
            <a:off x="399540" y="4434840"/>
            <a:ext cx="11375139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5A0C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🎬  섹터 오버라이드 — 엔터테인먼트</a:t>
            </a:r>
          </a:p>
        </p:txBody>
      </p:sp>
      <p:sp>
        <p:nvSpPr>
          <p:cNvPr id="587" name="Rounded Rectangle 41"/>
          <p:cNvSpPr/>
          <p:nvPr/>
        </p:nvSpPr>
        <p:spPr>
          <a:xfrm>
            <a:off x="372108" y="4800600"/>
            <a:ext cx="7772402" cy="1325881"/>
          </a:xfrm>
          <a:prstGeom prst="roundRect">
            <a:avLst>
              <a:gd name="adj" fmla="val 16667"/>
            </a:avLst>
          </a:prstGeom>
          <a:solidFill>
            <a:srgbClr val="07142E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8" name="TextBox 42"/>
          <p:cNvSpPr txBox="1"/>
          <p:nvPr/>
        </p:nvSpPr>
        <p:spPr>
          <a:xfrm>
            <a:off x="554989" y="4892041"/>
            <a:ext cx="7406641" cy="855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_SECTOR_OVERRIDE = {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    Sector.ENTERTAINMENT: ({"youtube.com", "x.com", "instagram.com"},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                          SourceTier.MEDIUM)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}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# HYBE / SM / JYP / YG → SNS LOW(0.3) → MEDIUM(0.7) 자동 승격</a:t>
            </a:r>
          </a:p>
        </p:txBody>
      </p:sp>
      <p:sp>
        <p:nvSpPr>
          <p:cNvPr id="589" name="Rounded Rectangle 43"/>
          <p:cNvSpPr/>
          <p:nvPr/>
        </p:nvSpPr>
        <p:spPr>
          <a:xfrm>
            <a:off x="8281668" y="4800600"/>
            <a:ext cx="3520442" cy="1917671"/>
          </a:xfrm>
          <a:prstGeom prst="roundRect">
            <a:avLst>
              <a:gd name="adj" fmla="val 11524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0" name="Rectangle 44"/>
          <p:cNvSpPr/>
          <p:nvPr/>
        </p:nvSpPr>
        <p:spPr>
          <a:xfrm>
            <a:off x="8281668" y="4800600"/>
            <a:ext cx="73154" cy="1325881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1" name="TextBox 45"/>
          <p:cNvSpPr txBox="1"/>
          <p:nvPr/>
        </p:nvSpPr>
        <p:spPr>
          <a:xfrm>
            <a:off x="8446261" y="4846320"/>
            <a:ext cx="3236979" cy="26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📐  종합 시그널 산출</a:t>
            </a:r>
          </a:p>
        </p:txBody>
      </p:sp>
      <p:sp>
        <p:nvSpPr>
          <p:cNvPr id="592" name="TextBox 46"/>
          <p:cNvSpPr txBox="1"/>
          <p:nvPr/>
        </p:nvSpPr>
        <p:spPr>
          <a:xfrm>
            <a:off x="8446261" y="5971032"/>
            <a:ext cx="3236979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8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weighted_score = Σ(score × confidence × tier_w)</a:t>
            </a:r>
          </a:p>
        </p:txBody>
      </p:sp>
      <p:sp>
        <p:nvSpPr>
          <p:cNvPr id="593" name="TextBox 47"/>
          <p:cNvSpPr txBox="1"/>
          <p:nvPr/>
        </p:nvSpPr>
        <p:spPr>
          <a:xfrm>
            <a:off x="8446261" y="6148323"/>
            <a:ext cx="3236979" cy="19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000">
                <a:solidFill>
                  <a:srgbClr val="6BD7A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&gt; 0.2  →  Bullish</a:t>
            </a:r>
          </a:p>
        </p:txBody>
      </p:sp>
      <p:sp>
        <p:nvSpPr>
          <p:cNvPr id="594" name="TextBox 48"/>
          <p:cNvSpPr txBox="1"/>
          <p:nvPr/>
        </p:nvSpPr>
        <p:spPr>
          <a:xfrm>
            <a:off x="8446261" y="6330441"/>
            <a:ext cx="3236979" cy="191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000">
                <a:solidFill>
                  <a:srgbClr val="F38BA8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&lt; -0.2 → Bearish</a:t>
            </a:r>
          </a:p>
        </p:txBody>
      </p:sp>
      <p:sp>
        <p:nvSpPr>
          <p:cNvPr id="595" name="TextBox 49"/>
          <p:cNvSpPr txBox="1"/>
          <p:nvPr/>
        </p:nvSpPr>
        <p:spPr>
          <a:xfrm>
            <a:off x="8446261" y="6510528"/>
            <a:ext cx="3236979" cy="19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000">
                <a:solidFill>
                  <a:srgbClr val="F9D26A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else   → Neutral</a:t>
            </a:r>
          </a:p>
        </p:txBody>
      </p:sp>
      <p:sp>
        <p:nvSpPr>
          <p:cNvPr id="596" name="TextBox 50"/>
          <p:cNvSpPr txBox="1"/>
          <p:nvPr/>
        </p:nvSpPr>
        <p:spPr>
          <a:xfrm>
            <a:off x="399540" y="6263640"/>
            <a:ext cx="113751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i="1" sz="1000">
                <a:solidFill>
                  <a:srgbClr val="8FA8C8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사용 예: 엔터주 분석 시 팬덤 SNS 반응이 시그널에 정확히 반영됨</a:t>
            </a:r>
          </a:p>
        </p:txBody>
      </p:sp>
      <p:sp>
        <p:nvSpPr>
          <p:cNvPr id="597" name="news      → confidence × 0.7 (MEDIUM)…"/>
          <p:cNvSpPr txBox="1"/>
          <p:nvPr/>
        </p:nvSpPr>
        <p:spPr>
          <a:xfrm>
            <a:off x="8446261" y="5136832"/>
            <a:ext cx="2924246" cy="70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news      → confidence × 0.7 (MEDIUM)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disclosure → confidence × 1.0 (HIGH)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finance   → confidence × 1.0 (HIGH)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sentiment → confidence × 0.3 (LOW)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0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캐시·동시성·복원력</a:t>
            </a:r>
          </a:p>
        </p:txBody>
      </p:sp>
      <p:sp>
        <p:nvSpPr>
          <p:cNvPr id="601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#17</a:t>
            </a:r>
          </a:p>
        </p:txBody>
      </p:sp>
      <p:sp>
        <p:nvSpPr>
          <p:cNvPr id="602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다층 캐시</a:t>
            </a:r>
          </a:p>
        </p:txBody>
      </p:sp>
      <p:graphicFrame>
        <p:nvGraphicFramePr>
          <p:cNvPr id="603" name="Table 5"/>
          <p:cNvGraphicFramePr/>
          <p:nvPr/>
        </p:nvGraphicFramePr>
        <p:xfrm>
          <a:off x="457200" y="1524000"/>
          <a:ext cx="11274553" cy="15951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585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캐시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TTL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근거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매크로 스냅샷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4시간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거시 위험은 분 단위로 안 변함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 프로필 (DART)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기업개황 거의 안 변함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사업 개요 (LLM)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비즈니스 모델 + LLM 비용 절약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통합 분석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1시간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시그널은 뉴스 흐름에 따라 갱신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refresh_company_list 쿨다운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24시간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회사 마스터 갱신 주기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4" name="TextBox 6"/>
          <p:cNvSpPr txBox="1"/>
          <p:nvPr/>
        </p:nvSpPr>
        <p:spPr>
          <a:xfrm>
            <a:off x="466343" y="3247134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Redis 분산 락</a:t>
            </a:r>
          </a:p>
        </p:txBody>
      </p:sp>
      <p:grpSp>
        <p:nvGrpSpPr>
          <p:cNvPr id="607" name="Rectangle 7"/>
          <p:cNvGrpSpPr/>
          <p:nvPr/>
        </p:nvGrpSpPr>
        <p:grpSpPr>
          <a:xfrm>
            <a:off x="457198" y="3710431"/>
            <a:ext cx="11274556" cy="944883"/>
            <a:chOff x="0" y="0"/>
            <a:chExt cx="11274555" cy="944882"/>
          </a:xfrm>
        </p:grpSpPr>
        <p:sp>
          <p:nvSpPr>
            <p:cNvPr id="605" name="직사각형"/>
            <p:cNvSpPr/>
            <p:nvPr/>
          </p:nvSpPr>
          <p:spPr>
            <a:xfrm>
              <a:off x="-1" y="-1"/>
              <a:ext cx="11274556" cy="94488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06" name="acquired = await redis.set(lock_key, &quot;1&quot;, nx=True, ex=60)…"/>
            <p:cNvSpPr txBox="1"/>
            <p:nvPr/>
          </p:nvSpPr>
          <p:spPr>
            <a:xfrm>
              <a:off x="45719" y="69354"/>
              <a:ext cx="4539686" cy="806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acquired = await redis.set(lock_key, "1", nx=True, ex=60)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atomic single-shot — race condition 0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TTL 60초 — 프로세스 죽어도 자동 해제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Redis 다운 시 True 반환 (가용성 우선)</a:t>
              </a:r>
            </a:p>
          </p:txBody>
        </p:sp>
      </p:grpSp>
      <p:sp>
        <p:nvSpPr>
          <p:cNvPr id="608" name="TextBox 8"/>
          <p:cNvSpPr txBox="1"/>
          <p:nvPr/>
        </p:nvSpPr>
        <p:spPr>
          <a:xfrm>
            <a:off x="466343" y="4783328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부분 실패 허용</a:t>
            </a:r>
          </a:p>
        </p:txBody>
      </p:sp>
      <p:grpSp>
        <p:nvGrpSpPr>
          <p:cNvPr id="611" name="Rectangle 9"/>
          <p:cNvGrpSpPr/>
          <p:nvPr/>
        </p:nvGrpSpPr>
        <p:grpSpPr>
          <a:xfrm>
            <a:off x="457198" y="5246623"/>
            <a:ext cx="11274556" cy="1112523"/>
            <a:chOff x="0" y="0"/>
            <a:chExt cx="11274555" cy="1112522"/>
          </a:xfrm>
        </p:grpSpPr>
        <p:sp>
          <p:nvSpPr>
            <p:cNvPr id="609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10" name="results = await asyncio.gather(…"/>
            <p:cNvSpPr txBox="1"/>
            <p:nvPr/>
          </p:nvSpPr>
          <p:spPr>
            <a:xfrm>
              <a:off x="45719" y="80398"/>
              <a:ext cx="5454234" cy="9517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results = await asyncio.gather(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news.analyze(...), disclosure.analyze(...), finance.analyze(...),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return_exceptions=True,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1개 죽어도 나머지로 시그널 산출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6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7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6. 서비스 전반적인 소개 (기능)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2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주요 기능 한눈에 (1/2)</a:t>
            </a:r>
          </a:p>
        </p:txBody>
      </p:sp>
      <p:sp>
        <p:nvSpPr>
          <p:cNvPr id="62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#35</a:t>
            </a:r>
          </a:p>
        </p:txBody>
      </p:sp>
      <p:sp>
        <p:nvSpPr>
          <p:cNvPr id="624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1. 종합 종목 분석 (/agent/query)</a:t>
            </a:r>
          </a:p>
        </p:txBody>
      </p:sp>
      <p:sp>
        <p:nvSpPr>
          <p:cNvPr id="625" name="TextBox 5"/>
          <p:cNvSpPr txBox="1"/>
          <p:nvPr/>
        </p:nvSpPr>
        <p:spPr>
          <a:xfrm>
            <a:off x="457198" y="1524000"/>
            <a:ext cx="11274556" cy="1104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한 번의 요청 → 5개 에이전트 병렬 분석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결과: Bullish / Neutral / Bearish + Confidence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사업 개요 카드 + 출처 신뢰도 분포 시각화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한국·미국 동일 UI/UX</a:t>
            </a:r>
          </a:p>
        </p:txBody>
      </p:sp>
      <p:sp>
        <p:nvSpPr>
          <p:cNvPr id="626" name="TextBox 6"/>
          <p:cNvSpPr txBox="1"/>
          <p:nvPr/>
        </p:nvSpPr>
        <p:spPr>
          <a:xfrm>
            <a:off x="466343" y="2568446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2. 히스토리·인과관계 대시보드 (/dashboard)</a:t>
            </a:r>
          </a:p>
        </p:txBody>
      </p:sp>
      <p:sp>
        <p:nvSpPr>
          <p:cNvPr id="627" name="TextBox 7"/>
          <p:cNvSpPr txBox="1"/>
          <p:nvPr/>
        </p:nvSpPr>
        <p:spPr>
          <a:xfrm>
            <a:off x="457198" y="3031745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종목 일봉 + 이상치 봉(anomaly) 자동 탐지 (5중 탐지기)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LLM 원인 추론 ("왜 이 날 떨어졌는가") + 가설 신뢰도 (HIGH/MEDIUM/LOW)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거시 이벤트 매칭 + 마커 6종</a:t>
            </a:r>
          </a:p>
        </p:txBody>
      </p:sp>
      <p:sp>
        <p:nvSpPr>
          <p:cNvPr id="628" name="TextBox 8"/>
          <p:cNvSpPr txBox="1"/>
          <p:nvPr/>
        </p:nvSpPr>
        <p:spPr>
          <a:xfrm>
            <a:off x="466343" y="386080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3. Sentiment 분석 (/sentiment)</a:t>
            </a:r>
          </a:p>
        </p:txBody>
      </p:sp>
      <p:sp>
        <p:nvSpPr>
          <p:cNvPr id="629" name="TextBox 9"/>
          <p:cNvSpPr txBox="1"/>
          <p:nvPr/>
        </p:nvSpPr>
        <p:spPr>
          <a:xfrm>
            <a:off x="457198" y="4324097"/>
            <a:ext cx="11274556" cy="1100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Reddit + 네이버 종목토론 SNS 감정 점수화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GPT-5-mini 감정 분류 (positive / negative / neutral)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밈 티커 부스트 (TSLA · GME · NVDA × 1.35)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부정 비율 vs VIX 비교</a:t>
            </a:r>
          </a:p>
        </p:txBody>
      </p:sp>
      <p:sp>
        <p:nvSpPr>
          <p:cNvPr id="630" name="TextBox 10"/>
          <p:cNvSpPr txBox="1"/>
          <p:nvPr/>
        </p:nvSpPr>
        <p:spPr>
          <a:xfrm>
            <a:off x="466343" y="5368544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4. 거시 경제 현황판 (/macro)</a:t>
            </a:r>
          </a:p>
        </p:txBody>
      </p:sp>
      <p:sp>
        <p:nvSpPr>
          <p:cNvPr id="631" name="TextBox 11"/>
          <p:cNvSpPr txBox="1"/>
          <p:nvPr/>
        </p:nvSpPr>
        <p:spPr>
          <a:xfrm>
            <a:off x="457198" y="5831841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금리 / 유가 / 환율 / 경제 일정 자동 수집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Risk-ON / Risk-OFF 자동 판단 + LLM 근거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4h Redis 캐시로 실시간성 + 비용 균형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주요 기능 한눈에 (2/2)</a:t>
            </a:r>
          </a:p>
        </p:txBody>
      </p:sp>
      <p:sp>
        <p:nvSpPr>
          <p:cNvPr id="63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#36</a:t>
            </a:r>
          </a:p>
        </p:txBody>
      </p:sp>
      <p:sp>
        <p:nvSpPr>
          <p:cNvPr id="638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5. Smart Money — 국내 자금 흐름 (/smart-money)</a:t>
            </a:r>
          </a:p>
        </p:txBody>
      </p:sp>
      <p:sp>
        <p:nvSpPr>
          <p:cNvPr id="639" name="TextBox 5"/>
          <p:cNvSpPr txBox="1"/>
          <p:nvPr/>
        </p:nvSpPr>
        <p:spPr>
          <a:xfrm>
            <a:off x="457198" y="1499770"/>
            <a:ext cx="11274556" cy="825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외국인 / 기관 / 개인 순매수 랭킹 (당일)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집중 매수 종목 (3일 / 5일 / 10일 기간 선택)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종목 클릭 → 최근 30일 투자자별 추이 차트</a:t>
            </a:r>
          </a:p>
        </p:txBody>
      </p:sp>
      <p:sp>
        <p:nvSpPr>
          <p:cNvPr id="640" name="TextBox 6"/>
          <p:cNvSpPr txBox="1"/>
          <p:nvPr/>
        </p:nvSpPr>
        <p:spPr>
          <a:xfrm>
            <a:off x="466343" y="2290655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6. 글로벌 포트폴리오 (/smart-money/global-portfolio)</a:t>
            </a:r>
          </a:p>
        </p:txBody>
      </p:sp>
      <p:sp>
        <p:nvSpPr>
          <p:cNvPr id="641" name="TextBox 7"/>
          <p:cNvSpPr txBox="1"/>
          <p:nvPr/>
        </p:nvSpPr>
        <p:spPr>
          <a:xfrm>
            <a:off x="457198" y="2729721"/>
            <a:ext cx="11274556" cy="82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Warren Buffett · Michael Burry · Cathie Wood 등 19명 (SEC 13F)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신규편입 / 비중확대 / 비중축소 / 청산 배지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국내 — 국민연금 · 미래에셋 · 박현주 등 10명 (DART)</a:t>
            </a:r>
          </a:p>
        </p:txBody>
      </p:sp>
      <p:sp>
        <p:nvSpPr>
          <p:cNvPr id="642" name="TextBox 8"/>
          <p:cNvSpPr txBox="1"/>
          <p:nvPr/>
        </p:nvSpPr>
        <p:spPr>
          <a:xfrm>
            <a:off x="466343" y="3520606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7. 관심 종목 + 개인화 (/settings/watchlist)</a:t>
            </a:r>
          </a:p>
        </p:txBody>
      </p:sp>
      <p:sp>
        <p:nvSpPr>
          <p:cNvPr id="643" name="TextBox 9"/>
          <p:cNvSpPr txBox="1"/>
          <p:nvPr/>
        </p:nvSpPr>
        <p:spPr>
          <a:xfrm>
            <a:off x="457198" y="3959674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테마별 종목 토글 등록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뉴스 페이지 — 등록 종목명으로 자동 필터링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유튜브 페이지 — 종목명으로 YouTube 병렬 검색</a:t>
            </a:r>
          </a:p>
        </p:txBody>
      </p:sp>
      <p:sp>
        <p:nvSpPr>
          <p:cNvPr id="644" name="TextBox 10"/>
          <p:cNvSpPr txBox="1"/>
          <p:nvPr/>
        </p:nvSpPr>
        <p:spPr>
          <a:xfrm>
            <a:off x="466343" y="475056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8. 회사 프로필 (/company-profile/{ticker})</a:t>
            </a:r>
          </a:p>
        </p:txBody>
      </p:sp>
      <p:sp>
        <p:nvSpPr>
          <p:cNvPr id="645" name="TextBox 11"/>
          <p:cNvSpPr txBox="1"/>
          <p:nvPr/>
        </p:nvSpPr>
        <p:spPr>
          <a:xfrm>
            <a:off x="457198" y="5189626"/>
            <a:ext cx="11274556" cy="826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DART 회사 마스터 + SEC EDGAR (US)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DART 사업보고서 RAG → LLM 사업 개요 (7일 캐시)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ETF / INDEX 종목도 동일 카드 형식 제공</a:t>
            </a:r>
          </a:p>
        </p:txBody>
      </p:sp>
      <p:sp>
        <p:nvSpPr>
          <p:cNvPr id="646" name="TextBox 12"/>
          <p:cNvSpPr txBox="1"/>
          <p:nvPr/>
        </p:nvSpPr>
        <p:spPr>
          <a:xfrm>
            <a:off x="466343" y="5980512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9. 카카오 OAuth 인증</a:t>
            </a:r>
          </a:p>
        </p:txBody>
      </p:sp>
      <p:sp>
        <p:nvSpPr>
          <p:cNvPr id="647" name="TextBox 13"/>
          <p:cNvSpPr txBox="1"/>
          <p:nvPr/>
        </p:nvSpPr>
        <p:spPr>
          <a:xfrm>
            <a:off x="457198" y="6419578"/>
            <a:ext cx="11274556" cy="26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• temp_token / user_token 분리 → 가입 전 사용자도 핵심 기능 시연 가능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2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3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7. 팀 구성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8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팀원 구성 및 테크 역량 (1/2)</a:t>
            </a:r>
          </a:p>
        </p:txBody>
      </p:sp>
      <p:sp>
        <p:nvSpPr>
          <p:cNvPr id="659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#18</a:t>
            </a:r>
          </a:p>
        </p:txBody>
      </p:sp>
      <p:sp>
        <p:nvSpPr>
          <p:cNvPr id="660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Antelligen 팀 (5인)</a:t>
            </a:r>
          </a:p>
        </p:txBody>
      </p:sp>
      <p:graphicFrame>
        <p:nvGraphicFramePr>
          <p:cNvPr id="661" name="Table 5"/>
          <p:cNvGraphicFramePr/>
          <p:nvPr/>
        </p:nvGraphicFramePr>
        <p:xfrm>
          <a:off x="457200" y="1450847"/>
          <a:ext cx="11274553" cy="470238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81181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영역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테크 역량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김영진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통합 에이전트 / 데이터 인프라 / 신뢰도 시스템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Python · DDD · Hexagonal · LangChain · Redis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김세진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Sentiment 에이전트 전체 / 미국 주식 뉴스 보강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Python · DDD · BS4 · OpenAI · Next.js · Jotai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문우성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거시 경제 현황판 / 시스템 아키텍처 정립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설계 · Hexagonal · LLM · YouTube API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김민규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History Agent / Causality Agent / Dashboard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Python · LangGraph · Next.js · lightweight-charts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이민영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개인화 시스템 / Smart Money 대시보드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Next.js · React · Playwright · Jotai · DDD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팀원 구성 및 테크 역량 (2/2)</a:t>
            </a:r>
          </a:p>
        </p:txBody>
      </p:sp>
      <p:sp>
        <p:nvSpPr>
          <p:cNvPr id="66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#18</a:t>
            </a:r>
          </a:p>
        </p:txBody>
      </p:sp>
      <p:grpSp>
        <p:nvGrpSpPr>
          <p:cNvPr id="670" name="Rectangle 4"/>
          <p:cNvGrpSpPr/>
          <p:nvPr/>
        </p:nvGrpSpPr>
        <p:grpSpPr>
          <a:xfrm>
            <a:off x="457198" y="1005840"/>
            <a:ext cx="11274556" cy="4297681"/>
            <a:chOff x="0" y="0"/>
            <a:chExt cx="11274555" cy="4297679"/>
          </a:xfrm>
        </p:grpSpPr>
        <p:sp>
          <p:nvSpPr>
            <p:cNvPr id="668" name="직사각형"/>
            <p:cNvSpPr/>
            <p:nvPr/>
          </p:nvSpPr>
          <p:spPr>
            <a:xfrm>
              <a:off x="-1" y="0"/>
              <a:ext cx="11274556" cy="4297681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69" name="┌─────────────────────────────────────────────────────────┐…"/>
            <p:cNvSpPr txBox="1"/>
            <p:nvPr/>
          </p:nvSpPr>
          <p:spPr>
            <a:xfrm>
              <a:off x="45719" y="169589"/>
              <a:ext cx="7688579" cy="3958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┌─────────────────────────────────────────────────────────┐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Antelligen 플랫폼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                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┌──────────────────────────────────────────────────┐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김영진 — 메인 에이전트 + 데이터 인프라       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(뉴스·공시·재무 서브에이전트 통합 / US 확대 /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SourceTier 가중치 / 분산 락 / 사업개요 카드)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└──────────────────────────────────────────────────┘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                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┌──────────────┐  ┌──────────────┐  ┌──────────────┐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김세진     │  │   문우성     │  │   김민규 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감정분석    │  │  거시경제    │  │  히스토리·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에이전트    │  │  현황판      │  │  인과관계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(SNS·Reddit │  │  (금리·유가· │  │  에이전트 +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GPT 분석)  │  │   환율·      │  │  Dashboard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           │  │   Risk판단)  │  │  UI      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└──────────────┘  └──────────────┘  └──────────────┘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                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┌──────────────────────────────────────────────────┐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이민영 — 개인화 시스템 + Smart Money 대시보드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(관심종목 watchlist → 뉴스·유튜브 개인화 /   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KRX 순매수 수집 / SEC 13F 19명 / DART 10명)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└──────────────────────────────────────────────────┘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└─────────────────────────────────────────────────────────┘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(1/3): 전 KRX 종목 지원 + 미국 주식 확대 (1/2)</a:t>
            </a:r>
          </a:p>
        </p:txBody>
      </p:sp>
      <p:sp>
        <p:nvSpPr>
          <p:cNvPr id="67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#19</a:t>
            </a:r>
          </a:p>
        </p:txBody>
      </p:sp>
      <p:sp>
        <p:nvSpPr>
          <p:cNvPr id="675" name="TextBox 4"/>
          <p:cNvSpPr txBox="1"/>
          <p:nvPr/>
        </p:nvSpPr>
        <p:spPr>
          <a:xfrm>
            <a:off x="466343" y="1060702"/>
            <a:ext cx="11256266" cy="30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Before vs After</a:t>
            </a:r>
          </a:p>
        </p:txBody>
      </p:sp>
      <p:graphicFrame>
        <p:nvGraphicFramePr>
          <p:cNvPr id="676" name="Table 5"/>
          <p:cNvGraphicFramePr/>
          <p:nvPr/>
        </p:nvGraphicFramePr>
        <p:xfrm>
          <a:off x="457200" y="1502576"/>
          <a:ext cx="11274553" cy="127655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5531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Before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After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 분석 가능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하드코딩 8개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KRX 2,500+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미국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미지원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미국 상장주 (AAPL, TSLA 등)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재무 데이터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정기공시만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+ yfinance(US) + 잠정실적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공시 데이터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+ SEC EDGAR (8-K/10-K/10-Q)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77" name="TextBox 6"/>
          <p:cNvSpPr txBox="1"/>
          <p:nvPr/>
        </p:nvSpPr>
        <p:spPr>
          <a:xfrm>
            <a:off x="466343" y="2907151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TickerKeywordResolverPort — 종목 제한 해제</a:t>
            </a:r>
          </a:p>
        </p:txBody>
      </p:sp>
      <p:grpSp>
        <p:nvGrpSpPr>
          <p:cNvPr id="680" name="Rectangle 7"/>
          <p:cNvGrpSpPr/>
          <p:nvPr/>
        </p:nvGrpSpPr>
        <p:grpSpPr>
          <a:xfrm>
            <a:off x="457198" y="3349024"/>
            <a:ext cx="11274556" cy="1537676"/>
            <a:chOff x="0" y="-1"/>
            <a:chExt cx="11274555" cy="1537675"/>
          </a:xfrm>
        </p:grpSpPr>
        <p:sp>
          <p:nvSpPr>
            <p:cNvPr id="678" name="직사각형"/>
            <p:cNvSpPr/>
            <p:nvPr/>
          </p:nvSpPr>
          <p:spPr>
            <a:xfrm>
              <a:off x="-1" y="-2"/>
              <a:ext cx="11274556" cy="1537677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79" name="기존 문제:…"/>
            <p:cNvSpPr txBox="1"/>
            <p:nvPr/>
          </p:nvSpPr>
          <p:spPr>
            <a:xfrm>
              <a:off x="45719" y="43835"/>
              <a:ext cx="5367277" cy="1450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기존 문제: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TICKER_TO_KEYWORDS = {"005930": ["삼성전자"], ...}  ← 8개 외 키워드 없음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→ 시그널 산출 불가, 레이어 위반(use case 내부 상수 직접 import)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해결: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Port.resolve(ticker) → DB에서 stock_name 동적 조회 + alias 결합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→ "000270" (기아) → ["기아", "기아차", "KIA"] 자동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→ 전 KRX 2,500+ 종목 정상 동작</a:t>
              </a:r>
            </a:p>
          </p:txBody>
        </p:sp>
      </p:grpSp>
      <p:sp>
        <p:nvSpPr>
          <p:cNvPr id="681" name="TextBox 8"/>
          <p:cNvSpPr txBox="1"/>
          <p:nvPr/>
        </p:nvSpPr>
        <p:spPr>
          <a:xfrm>
            <a:off x="466343" y="5014712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MarketRegion — KR/US 분기 기반 인프라</a:t>
            </a:r>
          </a:p>
        </p:txBody>
      </p:sp>
      <p:grpSp>
        <p:nvGrpSpPr>
          <p:cNvPr id="684" name="Rectangle 9"/>
          <p:cNvGrpSpPr/>
          <p:nvPr/>
        </p:nvGrpSpPr>
        <p:grpSpPr>
          <a:xfrm>
            <a:off x="457198" y="5456585"/>
            <a:ext cx="11274556" cy="1218535"/>
            <a:chOff x="0" y="0"/>
            <a:chExt cx="11274555" cy="1218534"/>
          </a:xfrm>
        </p:grpSpPr>
        <p:sp>
          <p:nvSpPr>
            <p:cNvPr id="682" name="직사각형"/>
            <p:cNvSpPr/>
            <p:nvPr/>
          </p:nvSpPr>
          <p:spPr>
            <a:xfrm>
              <a:off x="-1" y="-1"/>
              <a:ext cx="11274556" cy="1218536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83" name="class MarketRegion(Enum):…"/>
            <p:cNvSpPr txBox="1"/>
            <p:nvPr/>
          </p:nvSpPr>
          <p:spPr>
            <a:xfrm>
              <a:off x="45719" y="53781"/>
              <a:ext cx="3099007" cy="11109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class MarketRegion(Enum):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KR_KOSPI / KR_KOSDAQ / KR_KONEX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US_NYSE / US_NASDAQ / UNKNOWN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ticker 형식으로 자동 추론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6자리 숫자 → KR / 1~5 알파벳 → US_NASDAQ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(1/3): 전 KRX 종목 지원 + 미국 주식 확대 (2/2)</a:t>
            </a:r>
          </a:p>
        </p:txBody>
      </p:sp>
      <p:sp>
        <p:nvSpPr>
          <p:cNvPr id="69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#19</a:t>
            </a:r>
          </a:p>
        </p:txBody>
      </p:sp>
      <p:graphicFrame>
        <p:nvGraphicFramePr>
          <p:cNvPr id="691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141732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KR 경로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 경로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네이버 뉴스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SerpAPI (gl=us, hl=en)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분기보고서 + 잠정실적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yfinance 분기 EPS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 EDGAR (8-K/10-K/10-Q)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(2/3): Source Tier 가중치 + 종합 시그널 반영 (1/2)</a:t>
            </a:r>
          </a:p>
        </p:txBody>
      </p:sp>
      <p:sp>
        <p:nvSpPr>
          <p:cNvPr id="69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#20</a:t>
            </a:r>
          </a:p>
        </p:txBody>
      </p:sp>
      <p:sp>
        <p:nvSpPr>
          <p:cNvPr id="69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4단계 SourceTier</a:t>
            </a:r>
          </a:p>
        </p:txBody>
      </p:sp>
      <p:grpSp>
        <p:nvGrpSpPr>
          <p:cNvPr id="699" name="Rectangle 5"/>
          <p:cNvGrpSpPr/>
          <p:nvPr/>
        </p:nvGrpSpPr>
        <p:grpSpPr>
          <a:xfrm>
            <a:off x="457198" y="1482698"/>
            <a:ext cx="11274556" cy="1313440"/>
            <a:chOff x="0" y="-1"/>
            <a:chExt cx="11274555" cy="1313439"/>
          </a:xfrm>
        </p:grpSpPr>
        <p:sp>
          <p:nvSpPr>
            <p:cNvPr id="697" name="직사각형"/>
            <p:cNvSpPr/>
            <p:nvPr/>
          </p:nvSpPr>
          <p:spPr>
            <a:xfrm>
              <a:off x="-1" y="-2"/>
              <a:ext cx="11274556" cy="131344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98" name="class SourceTier(str, Enum):…"/>
            <p:cNvSpPr txBox="1"/>
            <p:nvPr/>
          </p:nvSpPr>
          <p:spPr>
            <a:xfrm>
              <a:off x="45719" y="18187"/>
              <a:ext cx="5682872" cy="12770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class SourceTier(str, Enum):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HIGH       = "HIGH"        # DART, SEC, 미국 IB 공식 리포트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MEDIUM     = "MEDIUM"      # Bloomberg, Reuters, WSJ, 한경, 매경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MEDIUM_LOW = "MEDIUM_LOW"  # 국내 IB 공식 리포트 (buy-bias 보정)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LOW        = "LOW"         # SNS, 일반 뉴스, 커뮤니티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_DEFAULT_WEIGHTS = { HIGH: 1.0, MEDIUM: 0.7, MEDIUM_LOW: 0.5, LOW: 0.3 }</a:t>
              </a:r>
            </a:p>
          </p:txBody>
        </p:sp>
      </p:grpSp>
      <p:sp>
        <p:nvSpPr>
          <p:cNvPr id="700" name="TextBox 6"/>
          <p:cNvSpPr txBox="1"/>
          <p:nvPr/>
        </p:nvSpPr>
        <p:spPr>
          <a:xfrm>
            <a:off x="466343" y="2924151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엔터테인먼트 섹터 — SNS 가중치 보정</a:t>
            </a:r>
          </a:p>
        </p:txBody>
      </p:sp>
      <p:grpSp>
        <p:nvGrpSpPr>
          <p:cNvPr id="703" name="Rectangle 7"/>
          <p:cNvGrpSpPr/>
          <p:nvPr/>
        </p:nvGrpSpPr>
        <p:grpSpPr>
          <a:xfrm>
            <a:off x="457198" y="3346148"/>
            <a:ext cx="11274556" cy="1161359"/>
            <a:chOff x="0" y="-1"/>
            <a:chExt cx="11274555" cy="1161357"/>
          </a:xfrm>
        </p:grpSpPr>
        <p:sp>
          <p:nvSpPr>
            <p:cNvPr id="701" name="직사각형"/>
            <p:cNvSpPr/>
            <p:nvPr/>
          </p:nvSpPr>
          <p:spPr>
            <a:xfrm>
              <a:off x="-1" y="-2"/>
              <a:ext cx="11274556" cy="1161358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2" name="_SECTOR_OVERRIDE = {…"/>
            <p:cNvSpPr txBox="1"/>
            <p:nvPr/>
          </p:nvSpPr>
          <p:spPr>
            <a:xfrm>
              <a:off x="45719" y="25191"/>
              <a:ext cx="6902270" cy="11109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_SECTOR_OVERRIDE =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Sector.ENTERTAINMENT: ({"youtube.com", "x.com", "instagram.com"}, SourceTier.MEDIUM)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}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HYBE(352820) / SM(041510) / JYP(035900) / YG(122870)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YouTube·X·Instagram → LOW(0.3) → MEDIUM(0.7) 자동 승격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→ 엔터주 분석 시 팬덤 SNS 반응이 시그널에 제대로 반영됨</a:t>
              </a:r>
            </a:p>
          </p:txBody>
        </p:sp>
      </p:grpSp>
      <p:sp>
        <p:nvSpPr>
          <p:cNvPr id="704" name="TextBox 8"/>
          <p:cNvSpPr txBox="1"/>
          <p:nvPr/>
        </p:nvSpPr>
        <p:spPr>
          <a:xfrm>
            <a:off x="466343" y="463552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메인 에이전트 종합 시그널 산출</a:t>
            </a:r>
          </a:p>
        </p:txBody>
      </p:sp>
      <p:grpSp>
        <p:nvGrpSpPr>
          <p:cNvPr id="707" name="Rectangle 9"/>
          <p:cNvGrpSpPr/>
          <p:nvPr/>
        </p:nvGrpSpPr>
        <p:grpSpPr>
          <a:xfrm>
            <a:off x="457198" y="5057517"/>
            <a:ext cx="11274556" cy="1617604"/>
            <a:chOff x="0" y="0"/>
            <a:chExt cx="11274555" cy="1617603"/>
          </a:xfrm>
        </p:grpSpPr>
        <p:sp>
          <p:nvSpPr>
            <p:cNvPr id="705" name="직사각형"/>
            <p:cNvSpPr/>
            <p:nvPr/>
          </p:nvSpPr>
          <p:spPr>
            <a:xfrm>
              <a:off x="-1" y="-1"/>
              <a:ext cx="11274556" cy="161760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6" name="for r in results:…"/>
            <p:cNvSpPr txBox="1"/>
            <p:nvPr/>
          </p:nvSpPr>
          <p:spPr>
            <a:xfrm>
              <a:off x="45719" y="28138"/>
              <a:ext cx="5149385" cy="15613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for r in results: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tier = r.source_tier or _AGENT_DEFAULT_TIER.get(r.agent_name)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multiplier = default_multiplier(tier)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confidence = r.confidence * multiplier      # 티어 보정 적용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weighted_score += signal_score * confidence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confidence_total += confidence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avg_score = weighted_score / confidence_total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&gt; 0.2 → bullish / &lt; -0.2 → bearish / else → neutral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2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(2/3): Source Tier 가중치 + 종합 시그널 반영 (2/2)</a:t>
            </a:r>
          </a:p>
        </p:txBody>
      </p:sp>
      <p:sp>
        <p:nvSpPr>
          <p:cNvPr id="71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#20</a:t>
            </a:r>
          </a:p>
        </p:txBody>
      </p:sp>
      <p:grpSp>
        <p:nvGrpSpPr>
          <p:cNvPr id="716" name="Rectangle 4"/>
          <p:cNvGrpSpPr/>
          <p:nvPr/>
        </p:nvGrpSpPr>
        <p:grpSpPr>
          <a:xfrm>
            <a:off x="457198" y="1005839"/>
            <a:ext cx="11274556" cy="414530"/>
            <a:chOff x="0" y="0"/>
            <a:chExt cx="11274555" cy="414529"/>
          </a:xfrm>
        </p:grpSpPr>
        <p:sp>
          <p:nvSpPr>
            <p:cNvPr id="714" name="직사각형"/>
            <p:cNvSpPr/>
            <p:nvPr/>
          </p:nvSpPr>
          <p:spPr>
            <a:xfrm>
              <a:off x="-1" y="0"/>
              <a:ext cx="11274556" cy="414530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15" name="가중치 수치(HIGH/MEDIUM/MEDIUM_LOW/LOW)는 env로 노출 → 운영 중 튜닝 가능"/>
            <p:cNvSpPr txBox="1"/>
            <p:nvPr/>
          </p:nvSpPr>
          <p:spPr>
            <a:xfrm>
              <a:off x="77914" y="13787"/>
              <a:ext cx="11118726" cy="3869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가중치 수치(HIGH/MEDIUM/MEDIUM_LOW/LOW)는 env로 노출 → 운영 중 튜닝 가능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(3/3): On-demand 분산 락 + 조건부 Startup + 사업개요 카드</a:t>
            </a:r>
          </a:p>
        </p:txBody>
      </p:sp>
      <p:sp>
        <p:nvSpPr>
          <p:cNvPr id="72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#21</a:t>
            </a:r>
          </a:p>
        </p:txBody>
      </p:sp>
      <p:sp>
        <p:nvSpPr>
          <p:cNvPr id="72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On-demand 공시 수집 + Redis 분산 락</a:t>
            </a:r>
          </a:p>
        </p:txBody>
      </p:sp>
      <p:grpSp>
        <p:nvGrpSpPr>
          <p:cNvPr id="724" name="Rectangle 5"/>
          <p:cNvGrpSpPr/>
          <p:nvPr/>
        </p:nvGrpSpPr>
        <p:grpSpPr>
          <a:xfrm>
            <a:off x="457198" y="1509244"/>
            <a:ext cx="11274556" cy="1886048"/>
            <a:chOff x="0" y="0"/>
            <a:chExt cx="11274555" cy="1886046"/>
          </a:xfrm>
        </p:grpSpPr>
        <p:sp>
          <p:nvSpPr>
            <p:cNvPr id="722" name="직사각형"/>
            <p:cNvSpPr/>
            <p:nvPr/>
          </p:nvSpPr>
          <p:spPr>
            <a:xfrm>
              <a:off x="-1" y="-1"/>
              <a:ext cx="11274556" cy="1886048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3" name="문제: 동일 종목 동시 5개 요청 → DART API 5중 호출 → quota 낭비…"/>
            <p:cNvSpPr txBox="1"/>
            <p:nvPr/>
          </p:nvSpPr>
          <p:spPr>
            <a:xfrm>
              <a:off x="45719" y="47966"/>
              <a:ext cx="3699323" cy="17901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문제: 동일 종목 동시 5개 요청 → DART API 5중 호출 → quota 낭비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해결: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요청 A → Redis SET NX EX 락 획득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 → DART 5개 유형 병렬 fetch (A/B/C/D/E)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 → DB upsert → 락 해제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요청 B → 락 대기 (최대 30초) → DB에 결과 보이면 즉시 공유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요청 C 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보장: TTL 60초 deadlock 방지 / Redis 장애 시 graceful degrade</a:t>
              </a:r>
            </a:p>
          </p:txBody>
        </p:sp>
      </p:grpSp>
      <p:sp>
        <p:nvSpPr>
          <p:cNvPr id="725" name="TextBox 6"/>
          <p:cNvSpPr txBox="1"/>
          <p:nvPr/>
        </p:nvSpPr>
        <p:spPr>
          <a:xfrm>
            <a:off x="466343" y="3523307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조건부 Startup 잡</a:t>
            </a:r>
          </a:p>
        </p:txBody>
      </p:sp>
      <p:graphicFrame>
        <p:nvGraphicFramePr>
          <p:cNvPr id="726" name="Table 7"/>
          <p:cNvGraphicFramePr/>
          <p:nvPr/>
        </p:nvGraphicFramePr>
        <p:xfrm>
          <a:off x="457200" y="3971849"/>
          <a:ext cx="11274553" cy="105107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276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잡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절약 효과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2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refresh_company_list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24h 이내 성공 이력 있으면 스킵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KRX 전종목 재호출 방지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2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process_documents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미처리 공시 1건이라도 있을 때만 실행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불필요한 LLM 처리 방지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2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refresh_market_risk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Redis 4h 이내 스냅샷 있으면 복원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YouTube quota + LLM 비용 최대 절약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7" name="TextBox 8"/>
          <p:cNvSpPr txBox="1"/>
          <p:nvPr/>
        </p:nvSpPr>
        <p:spPr>
          <a:xfrm>
            <a:off x="466343" y="515094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사업개요 카드 — 메인 에이전트 답변 강화</a:t>
            </a:r>
          </a:p>
        </p:txBody>
      </p:sp>
      <p:grpSp>
        <p:nvGrpSpPr>
          <p:cNvPr id="730" name="Rectangle 9"/>
          <p:cNvGrpSpPr/>
          <p:nvPr/>
        </p:nvGrpSpPr>
        <p:grpSpPr>
          <a:xfrm>
            <a:off x="457198" y="5599483"/>
            <a:ext cx="11274556" cy="1075639"/>
            <a:chOff x="0" y="-1"/>
            <a:chExt cx="11274555" cy="1075638"/>
          </a:xfrm>
        </p:grpSpPr>
        <p:sp>
          <p:nvSpPr>
            <p:cNvPr id="728" name="직사각형"/>
            <p:cNvSpPr/>
            <p:nvPr/>
          </p:nvSpPr>
          <p:spPr>
            <a:xfrm>
              <a:off x="-1" y="-2"/>
              <a:ext cx="11274556" cy="107563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9" name="asyncio.create_task → 병렬 fetch (latency 거의 0)…"/>
            <p:cNvSpPr txBox="1"/>
            <p:nvPr/>
          </p:nvSpPr>
          <p:spPr>
            <a:xfrm>
              <a:off x="45719" y="48263"/>
              <a:ext cx="3759955" cy="9791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asyncio.create_task → 병렬 fetch (latency 거의 0)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DART 사업보고서 RAG (최대 5청크 / 3,000자)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LLM 사업개요 요약 → Redis 7일 캐시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(1) LLM 합성 컨텍스트로 주입 → 답변 품질 향상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(2) 응답 페이로드에 카드 DTO로 부착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5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(1/3): Sentiment 도메인 신설 (DDD 헥사고날) (1/2)</a:t>
            </a:r>
          </a:p>
        </p:txBody>
      </p:sp>
      <p:sp>
        <p:nvSpPr>
          <p:cNvPr id="736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#22</a:t>
            </a:r>
          </a:p>
        </p:txBody>
      </p:sp>
      <p:sp>
        <p:nvSpPr>
          <p:cNvPr id="737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담당 범위: 백엔드 21개 파일 신규 (+1,727줄) / 프론트엔드 5개 파일 신규 (+592줄)</a:t>
            </a:r>
          </a:p>
        </p:txBody>
      </p:sp>
      <p:sp>
        <p:nvSpPr>
          <p:cNvPr id="738" name="TextBox 5"/>
          <p:cNvSpPr txBox="1"/>
          <p:nvPr/>
        </p:nvSpPr>
        <p:spPr>
          <a:xfrm>
            <a:off x="466343" y="2006344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신설 도메인 구조</a:t>
            </a:r>
          </a:p>
        </p:txBody>
      </p:sp>
      <p:grpSp>
        <p:nvGrpSpPr>
          <p:cNvPr id="741" name="Rectangle 6"/>
          <p:cNvGrpSpPr/>
          <p:nvPr/>
        </p:nvGrpSpPr>
        <p:grpSpPr>
          <a:xfrm>
            <a:off x="457198" y="2897121"/>
            <a:ext cx="11274556" cy="3627124"/>
            <a:chOff x="0" y="0"/>
            <a:chExt cx="11274555" cy="3627122"/>
          </a:xfrm>
        </p:grpSpPr>
        <p:sp>
          <p:nvSpPr>
            <p:cNvPr id="739" name="직사각형"/>
            <p:cNvSpPr/>
            <p:nvPr/>
          </p:nvSpPr>
          <p:spPr>
            <a:xfrm>
              <a:off x="-1" y="-1"/>
              <a:ext cx="11274556" cy="36271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40" name="app/domains/sentiment/…"/>
            <p:cNvSpPr txBox="1"/>
            <p:nvPr/>
          </p:nvSpPr>
          <p:spPr>
            <a:xfrm>
              <a:off x="45719" y="127407"/>
              <a:ext cx="4248144" cy="3372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app/domains/sentiment/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├── adapter/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├── inbound/api/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│   └── sentiment_router.py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└── outbound/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├── external/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├── reddit_client.py          ← Reddit 무인증 수집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├── naver_finance_discussion_client.py  ← HTML 스크래핑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├── toss_community_client.py  ← stub (차기 이터레이션)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└── openai_sns_signal_adapter.py  ← GPT 감정분석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├── persistence/sns_post_repository_impl.py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└── cache/sns_signal_cache.py    ← Redis TTL 10분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├── application/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├── port/ (수집·분석·저장 Port 4개)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└── usecase/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├── collect_sns_posts_usecase.py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└── analyze_sns_signal_usecase.py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└── domain/model/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├── sns_post.py        ← 도메인 엔티티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└── sns_signal_result.py  ← 표준 응답 DTO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(1/3): Sentiment 도메인 신설 (DDD 헥사고날) (2/2)</a:t>
            </a:r>
          </a:p>
        </p:txBody>
      </p:sp>
      <p:sp>
        <p:nvSpPr>
          <p:cNvPr id="74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#22</a:t>
            </a:r>
          </a:p>
        </p:txBody>
      </p:sp>
      <p:graphicFrame>
        <p:nvGraphicFramePr>
          <p:cNvPr id="748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141732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방식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특이사항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Reddit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.json 무인증 엔드포인트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신규 계정 OAuth 락 우회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네이버 종목토론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BeautifulSoup4 HTML 스크래핑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EUC-KR 디코딩 버그 직접 발견·수정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토스 커뮤니티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stub (인터페이스만 보존)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SPA 봇 탐지 → Playwright 차기 이터레이션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(2/3): GPT 감정분석 + 밈/섹터 가중치 + DB 설계 (1/2)</a:t>
            </a:r>
          </a:p>
        </p:txBody>
      </p:sp>
      <p:sp>
        <p:nvSpPr>
          <p:cNvPr id="75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#23</a:t>
            </a:r>
          </a:p>
        </p:txBody>
      </p:sp>
      <p:sp>
        <p:nvSpPr>
          <p:cNvPr id="753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GPT 감정분석 어댑터</a:t>
            </a:r>
          </a:p>
        </p:txBody>
      </p:sp>
      <p:grpSp>
        <p:nvGrpSpPr>
          <p:cNvPr id="756" name="Rectangle 5"/>
          <p:cNvGrpSpPr/>
          <p:nvPr/>
        </p:nvGrpSpPr>
        <p:grpSpPr>
          <a:xfrm>
            <a:off x="457198" y="1930755"/>
            <a:ext cx="11274556" cy="1783080"/>
            <a:chOff x="0" y="0"/>
            <a:chExt cx="11274555" cy="1783078"/>
          </a:xfrm>
        </p:grpSpPr>
        <p:sp>
          <p:nvSpPr>
            <p:cNvPr id="754" name="직사각형"/>
            <p:cNvSpPr/>
            <p:nvPr/>
          </p:nvSpPr>
          <p:spPr>
            <a:xfrm>
              <a:off x="-1" y="0"/>
              <a:ext cx="11274556" cy="178307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55" name="입력: 게시물 제목/본문 리스트…"/>
            <p:cNvSpPr txBox="1"/>
            <p:nvPr/>
          </p:nvSpPr>
          <p:spPr>
            <a:xfrm>
              <a:off x="45719" y="97185"/>
              <a:ext cx="3665640" cy="15887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입력: 게시물 제목/본문 리스트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GPT-5-mini (팀 표준 모델)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게시물별 감정 분류 (positive / negative / neutral)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종합 시그널: bullish / bearish / neutral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+ confidence (0~1)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+ overall_negative_ratio (VIX 비교용)</a:t>
              </a:r>
            </a:p>
          </p:txBody>
        </p:sp>
      </p:grpSp>
      <p:sp>
        <p:nvSpPr>
          <p:cNvPr id="757" name="TextBox 6"/>
          <p:cNvSpPr txBox="1"/>
          <p:nvPr/>
        </p:nvSpPr>
        <p:spPr>
          <a:xfrm>
            <a:off x="466343" y="4248606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밈 티커 · 섹터별 가중치</a:t>
            </a:r>
          </a:p>
        </p:txBody>
      </p:sp>
      <p:graphicFrame>
        <p:nvGraphicFramePr>
          <p:cNvPr id="758" name="Table 7"/>
          <p:cNvGraphicFramePr/>
          <p:nvPr/>
        </p:nvGraphicFramePr>
        <p:xfrm>
          <a:off x="457200" y="5118658"/>
          <a:ext cx="11274553" cy="134112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822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유형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가중치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TSLA, GME, AMC, NVDA 등 밈 티커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confidence × 1.35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SNS 반응이 실제 가격에 직접 영향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엔터(JYP/SM/HYBE/YG)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 1.3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아티스트 SNS가 핵심 알파 소스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게임주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 1.2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커뮤니티 여론과 출시 성과 연동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 1.0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(2/3): GPT 감정분석 + 밈/섹터 가중치 + DB 설계 (2/2)</a:t>
            </a:r>
          </a:p>
        </p:txBody>
      </p:sp>
      <p:sp>
        <p:nvSpPr>
          <p:cNvPr id="76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#23</a:t>
            </a:r>
          </a:p>
        </p:txBody>
      </p:sp>
      <p:grpSp>
        <p:nvGrpSpPr>
          <p:cNvPr id="767" name="Rectangle 4"/>
          <p:cNvGrpSpPr/>
          <p:nvPr/>
        </p:nvGrpSpPr>
        <p:grpSpPr>
          <a:xfrm>
            <a:off x="457198" y="1005837"/>
            <a:ext cx="11274556" cy="1950724"/>
            <a:chOff x="0" y="-1"/>
            <a:chExt cx="11274555" cy="1950722"/>
          </a:xfrm>
        </p:grpSpPr>
        <p:sp>
          <p:nvSpPr>
            <p:cNvPr id="765" name="직사각형"/>
            <p:cNvSpPr/>
            <p:nvPr/>
          </p:nvSpPr>
          <p:spPr>
            <a:xfrm>
              <a:off x="-1" y="-2"/>
              <a:ext cx="11274556" cy="195072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66" name="CREATE TABLE sns_posts (…"/>
            <p:cNvSpPr txBox="1"/>
            <p:nvPr/>
          </p:nvSpPr>
          <p:spPr>
            <a:xfrm>
              <a:off x="45719" y="121919"/>
              <a:ext cx="5835296" cy="17068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CREATE TABLE sns_posts (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id SERIAL PRIMARY KEY,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external_id VARCHAR UNIQUE,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platform VARCHAR NOT NULL,    -- reddit / naver_finance / toss_community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ticker VARCHAR NOT NULL,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title TEXT, body TEXT, author VARCHAR, url VARCHAR,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posted_at TIMESTAMP, collected_at TIMESTAMP DEFAULT NOW()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CREATE INDEX idx_sns_posts_ticker_platform ON sns_posts(ticker, platform);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CREATE INDEX idx_sns_posts_posted_at ON sns_posts(posted_at);</a:t>
              </a:r>
            </a:p>
          </p:txBody>
        </p:sp>
      </p:grpSp>
      <p:sp>
        <p:nvSpPr>
          <p:cNvPr id="768" name="TextBox 5"/>
          <p:cNvSpPr txBox="1"/>
          <p:nvPr/>
        </p:nvSpPr>
        <p:spPr>
          <a:xfrm>
            <a:off x="466343" y="3727093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표준 응답 DTO — 메인 에이전트 자연 통합</a:t>
            </a:r>
          </a:p>
        </p:txBody>
      </p:sp>
      <p:grpSp>
        <p:nvGrpSpPr>
          <p:cNvPr id="771" name="Rectangle 6"/>
          <p:cNvGrpSpPr/>
          <p:nvPr/>
        </p:nvGrpSpPr>
        <p:grpSpPr>
          <a:xfrm>
            <a:off x="457198" y="4832907"/>
            <a:ext cx="11274556" cy="1615444"/>
            <a:chOff x="0" y="-1"/>
            <a:chExt cx="11274555" cy="1615443"/>
          </a:xfrm>
        </p:grpSpPr>
        <p:sp>
          <p:nvSpPr>
            <p:cNvPr id="769" name="직사각형"/>
            <p:cNvSpPr/>
            <p:nvPr/>
          </p:nvSpPr>
          <p:spPr>
            <a:xfrm>
              <a:off x="-1" y="-2"/>
              <a:ext cx="11274556" cy="1615445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0" name="SnsSignalResult {…"/>
            <p:cNvSpPr txBox="1"/>
            <p:nvPr/>
          </p:nvSpPr>
          <p:spPr>
            <a:xfrm>
              <a:off x="45719" y="92988"/>
              <a:ext cx="4892148" cy="142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SnsSignalResult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ticker, signal, confidence, source_tier,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overall_negative_ratio,   # VIX 비교용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per_platform,             # 플랫폼별 결과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evidence,                 # 근거 게시물 top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reasoning, analyzed_at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}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→ 메인 에이전트가 confidence × source_tier_weight 로 자연스럽게 합산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(3/3): 운영 이슈 직접 수정 + Redis 캐시 + 프론트엔드 (1/2)</a:t>
            </a:r>
          </a:p>
        </p:txBody>
      </p:sp>
      <p:sp>
        <p:nvSpPr>
          <p:cNvPr id="77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#24</a:t>
            </a:r>
          </a:p>
        </p:txBody>
      </p:sp>
      <p:sp>
        <p:nvSpPr>
          <p:cNvPr id="77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자체 발견·수정한 버그 및 운영 이슈</a:t>
            </a:r>
          </a:p>
        </p:txBody>
      </p:sp>
      <p:sp>
        <p:nvSpPr>
          <p:cNvPr id="777" name="TextBox 5"/>
          <p:cNvSpPr txBox="1"/>
          <p:nvPr/>
        </p:nvSpPr>
        <p:spPr>
          <a:xfrm>
            <a:off x="457198" y="1677290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① 네이버 한글 깨짐 (EUC-KR 디코딩 버그)</a:t>
            </a:r>
          </a:p>
        </p:txBody>
      </p:sp>
      <p:grpSp>
        <p:nvGrpSpPr>
          <p:cNvPr id="780" name="Rectangle 6"/>
          <p:cNvGrpSpPr/>
          <p:nvPr/>
        </p:nvGrpSpPr>
        <p:grpSpPr>
          <a:xfrm>
            <a:off x="457198" y="2137409"/>
            <a:ext cx="11274556" cy="1112524"/>
            <a:chOff x="0" y="0"/>
            <a:chExt cx="11274555" cy="1112522"/>
          </a:xfrm>
        </p:grpSpPr>
        <p:sp>
          <p:nvSpPr>
            <p:cNvPr id="778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9" name="# Before — DB에 한글이 깨져 저장됨 (&quot;@@@ ��ш꼍遺�&quot;)…"/>
            <p:cNvSpPr txBox="1"/>
            <p:nvPr/>
          </p:nvSpPr>
          <p:spPr>
            <a:xfrm>
              <a:off x="45719" y="76975"/>
              <a:ext cx="5759084" cy="958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Before — DB에 한글이 깨져 저장됨 ("@@@ ��ш꼍遺�")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content = resp.content.decode("euc-kr", errors="replace")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After — 정상 한글 저장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soup = BeautifulSoup(resp.content, "html.parser", from_encoding="euc-kr")</a:t>
              </a:r>
            </a:p>
          </p:txBody>
        </p:sp>
      </p:grpSp>
      <p:sp>
        <p:nvSpPr>
          <p:cNvPr id="781" name="TextBox 7"/>
          <p:cNvSpPr txBox="1"/>
          <p:nvPr/>
        </p:nvSpPr>
        <p:spPr>
          <a:xfrm>
            <a:off x="457198" y="3476372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뉴스 라우터 DI 버그 수정</a:t>
            </a:r>
          </a:p>
        </p:txBody>
      </p:sp>
      <p:grpSp>
        <p:nvGrpSpPr>
          <p:cNvPr id="784" name="Rectangle 8"/>
          <p:cNvGrpSpPr/>
          <p:nvPr/>
        </p:nvGrpSpPr>
        <p:grpSpPr>
          <a:xfrm>
            <a:off x="457198" y="3936490"/>
            <a:ext cx="11274556" cy="777243"/>
            <a:chOff x="0" y="0"/>
            <a:chExt cx="11274555" cy="777241"/>
          </a:xfrm>
        </p:grpSpPr>
        <p:sp>
          <p:nvSpPr>
            <p:cNvPr id="782" name="직사각형"/>
            <p:cNvSpPr/>
            <p:nvPr/>
          </p:nvSpPr>
          <p:spPr>
            <a:xfrm>
              <a:off x="-1" y="-1"/>
              <a:ext cx="11274556" cy="77724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83" name="# Before: AnalyzeNewsSignalUseCase(repository=repo)  ← keyword_resolver 누락…"/>
            <p:cNvSpPr txBox="1"/>
            <p:nvPr/>
          </p:nvSpPr>
          <p:spPr>
            <a:xfrm>
              <a:off x="45719" y="65156"/>
              <a:ext cx="5902830" cy="6469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Before: AnalyzeNewsSignalUseCase(repository=repo)  ← keyword_resolver 누락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After:  AnalyzeNewsSignalUseCase(repository=repo,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            keyword_resolver=TickerKeywordResolver(...))</a:t>
              </a:r>
            </a:p>
          </p:txBody>
        </p:sp>
      </p:grpSp>
      <p:sp>
        <p:nvSpPr>
          <p:cNvPr id="785" name="TextBox 9"/>
          <p:cNvSpPr txBox="1"/>
          <p:nvPr/>
        </p:nvSpPr>
        <p:spPr>
          <a:xfrm>
            <a:off x="457198" y="4940173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③ Redis 캐시 + 자동 collect 트리거 (PR 머지 후 운영 이슈 즉시 해결)</a:t>
            </a:r>
          </a:p>
        </p:txBody>
      </p:sp>
      <p:grpSp>
        <p:nvGrpSpPr>
          <p:cNvPr id="788" name="Rectangle 10"/>
          <p:cNvGrpSpPr/>
          <p:nvPr/>
        </p:nvGrpSpPr>
        <p:grpSpPr>
          <a:xfrm>
            <a:off x="457198" y="5400293"/>
            <a:ext cx="11274556" cy="1112523"/>
            <a:chOff x="0" y="0"/>
            <a:chExt cx="11274555" cy="1112522"/>
          </a:xfrm>
        </p:grpSpPr>
        <p:sp>
          <p:nvSpPr>
            <p:cNvPr id="786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87" name="analyze 엔드포인트 흐름:…"/>
            <p:cNvSpPr txBox="1"/>
            <p:nvPr/>
          </p:nvSpPr>
          <p:spPr>
            <a:xfrm>
              <a:off x="45719" y="66706"/>
              <a:ext cx="4504225" cy="9791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analyze 엔드포인트 흐름: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1. Redis cache.get(ticker) → HIT이면 즉시 반환 (GPT 호출 X)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2. DB에 게시물 5건 미만 → CollectSnsPostsUseCase 자동 호출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3. GPT 분석 → 결과를 Redis TTL 600초 캐시에 저장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※ 캐시를 라우터 레벨에 배치 → UseCase 순수성 (DDD 원칙) 유지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(3/3): 운영 이슈 직접 수정 + Redis 캐시 + 프론트엔드 (2/2)</a:t>
            </a:r>
          </a:p>
        </p:txBody>
      </p:sp>
      <p:sp>
        <p:nvSpPr>
          <p:cNvPr id="79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#24</a:t>
            </a:r>
          </a:p>
        </p:txBody>
      </p:sp>
      <p:grpSp>
        <p:nvGrpSpPr>
          <p:cNvPr id="797" name="Rectangle 4"/>
          <p:cNvGrpSpPr/>
          <p:nvPr/>
        </p:nvGrpSpPr>
        <p:grpSpPr>
          <a:xfrm>
            <a:off x="457198" y="1005838"/>
            <a:ext cx="11274556" cy="1783082"/>
            <a:chOff x="0" y="0"/>
            <a:chExt cx="11274555" cy="1783081"/>
          </a:xfrm>
        </p:grpSpPr>
        <p:sp>
          <p:nvSpPr>
            <p:cNvPr id="795" name="직사각형"/>
            <p:cNvSpPr/>
            <p:nvPr/>
          </p:nvSpPr>
          <p:spPr>
            <a:xfrm>
              <a:off x="-1" y="-1"/>
              <a:ext cx="11274556" cy="178308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96" name="4가지 상태: IDLE → LOADING → SUCCESS / ERROR…"/>
            <p:cNvSpPr txBox="1"/>
            <p:nvPr/>
          </p:nvSpPr>
          <p:spPr>
            <a:xfrm>
              <a:off x="45719" y="86916"/>
              <a:ext cx="3697465" cy="16092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4가지 상태: IDLE → LOADING → SUCCESS / ERROR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SUCCESS 시 시각화: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시그널 배지 (상승↑ / 하락↓ / 중립) + 색상 차별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신뢰도 게이지 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긍정/중립/부정 누적 비율 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플랫폼별 결과 (Reddit / 네이버 종목토론 한국어 라벨)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근거 게시물 top 3 (감정 색상 마킹)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AI 한국어 요약</a:t>
              </a:r>
            </a:p>
          </p:txBody>
        </p:sp>
      </p:grpSp>
      <p:grpSp>
        <p:nvGrpSpPr>
          <p:cNvPr id="800" name="Rectangle 5"/>
          <p:cNvGrpSpPr/>
          <p:nvPr/>
        </p:nvGrpSpPr>
        <p:grpSpPr>
          <a:xfrm>
            <a:off x="457198" y="5750814"/>
            <a:ext cx="11274556" cy="414530"/>
            <a:chOff x="0" y="0"/>
            <a:chExt cx="11274555" cy="414529"/>
          </a:xfrm>
        </p:grpSpPr>
        <p:sp>
          <p:nvSpPr>
            <p:cNvPr id="798" name="직사각형"/>
            <p:cNvSpPr/>
            <p:nvPr/>
          </p:nvSpPr>
          <p:spPr>
            <a:xfrm>
              <a:off x="-1" y="0"/>
              <a:ext cx="11274556" cy="414530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99" name="김영진의 StockAnalysisView 페이지에 자연스럽게 통합 — 다른 sub_agent 카드들과 동일 패널에 표시"/>
            <p:cNvSpPr txBox="1"/>
            <p:nvPr/>
          </p:nvSpPr>
          <p:spPr>
            <a:xfrm>
              <a:off x="77914" y="20573"/>
              <a:ext cx="11118726" cy="373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김영진의 StockAnalysisView 페이지에 자연스럽게 통합 — 다른 sub_agent 카드들과 동일 패널에 표시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문우성 (1/3): 거시경제 현황판 데이터 수집 파이프라인</a:t>
            </a:r>
          </a:p>
        </p:txBody>
      </p:sp>
      <p:sp>
        <p:nvSpPr>
          <p:cNvPr id="80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#25</a:t>
            </a:r>
          </a:p>
        </p:txBody>
      </p:sp>
      <p:sp>
        <p:nvSpPr>
          <p:cNvPr id="805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수집 구조</a:t>
            </a:r>
          </a:p>
        </p:txBody>
      </p:sp>
      <p:grpSp>
        <p:nvGrpSpPr>
          <p:cNvPr id="808" name="Rectangle 5"/>
          <p:cNvGrpSpPr/>
          <p:nvPr/>
        </p:nvGrpSpPr>
        <p:grpSpPr>
          <a:xfrm>
            <a:off x="457198" y="1490202"/>
            <a:ext cx="11274556" cy="1028036"/>
            <a:chOff x="0" y="0"/>
            <a:chExt cx="11274555" cy="1028035"/>
          </a:xfrm>
        </p:grpSpPr>
        <p:sp>
          <p:nvSpPr>
            <p:cNvPr id="806" name="직사각형"/>
            <p:cNvSpPr/>
            <p:nvPr/>
          </p:nvSpPr>
          <p:spPr>
            <a:xfrm>
              <a:off x="-1" y="-1"/>
              <a:ext cx="11274556" cy="1028036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07" name="매일 자동 수집 → 저장 → 전일 대비 등락 계산…"/>
            <p:cNvSpPr txBox="1"/>
            <p:nvPr/>
          </p:nvSpPr>
          <p:spPr>
            <a:xfrm>
              <a:off x="45719" y="18135"/>
              <a:ext cx="2988415" cy="9917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매일 자동 수집 → 저장 → 전일 대비 등락 계산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금리 (기준금리, 국채 10년물)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유가 (WTI, 브렌트)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환율 (USD/KRW, DXY)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주요 경제 일정 (FOMC, CPI, 실업률 발표 등)</a:t>
              </a:r>
            </a:p>
          </p:txBody>
        </p:sp>
      </p:grpSp>
      <p:sp>
        <p:nvSpPr>
          <p:cNvPr id="809" name="TextBox 6"/>
          <p:cNvSpPr txBox="1"/>
          <p:nvPr/>
        </p:nvSpPr>
        <p:spPr>
          <a:xfrm>
            <a:off x="466343" y="2646252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소스 &amp; 스케줄러</a:t>
            </a:r>
          </a:p>
        </p:txBody>
      </p:sp>
      <p:graphicFrame>
        <p:nvGraphicFramePr>
          <p:cNvPr id="810" name="Table 7"/>
          <p:cNvGraphicFramePr/>
          <p:nvPr/>
        </p:nvGraphicFramePr>
        <p:xfrm>
          <a:off x="457200" y="3075752"/>
          <a:ext cx="11274553" cy="123927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4785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금리·거시지표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FRED (12개 시리즈)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1회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유가 · 환율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연관자산 파이프라인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1회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VIX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CBOE / yfinance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1회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경제 일정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크롤링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 1회 갱신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11" name="TextBox 8"/>
          <p:cNvSpPr txBox="1"/>
          <p:nvPr/>
        </p:nvSpPr>
        <p:spPr>
          <a:xfrm>
            <a:off x="466343" y="4443040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Redis 스냅샷 관리</a:t>
            </a:r>
          </a:p>
        </p:txBody>
      </p:sp>
      <p:grpSp>
        <p:nvGrpSpPr>
          <p:cNvPr id="814" name="Rectangle 9"/>
          <p:cNvGrpSpPr/>
          <p:nvPr/>
        </p:nvGrpSpPr>
        <p:grpSpPr>
          <a:xfrm>
            <a:off x="457198" y="4872541"/>
            <a:ext cx="11274556" cy="1802581"/>
            <a:chOff x="0" y="0"/>
            <a:chExt cx="11274555" cy="1802579"/>
          </a:xfrm>
        </p:grpSpPr>
        <p:sp>
          <p:nvSpPr>
            <p:cNvPr id="812" name="직사각형"/>
            <p:cNvSpPr/>
            <p:nvPr/>
          </p:nvSpPr>
          <p:spPr>
            <a:xfrm>
              <a:off x="-1" y="-1"/>
              <a:ext cx="11274556" cy="180258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13" name="# 4시간 이내 스냅샷이 Redis에 있으면 메모리 store로 복원…"/>
            <p:cNvSpPr txBox="1"/>
            <p:nvPr/>
          </p:nvSpPr>
          <p:spPr>
            <a:xfrm>
              <a:off x="45719" y="41004"/>
              <a:ext cx="5759084" cy="1720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4시간 이내 스냅샷이 Redis에 있으면 메모리 store로 복원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async def _try_restore_macro_snapshot(max_age_hours: int = 4) -&gt; bool: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raw = await redis_client.get(MACRO_SNAPSHOT_REDIS_KEY)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if not raw: return False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payload = json.loads(raw)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if datetime.now() - updated_at &gt; timedelta(hours=max_age_hours):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return False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get_market_risk_snapshot_store().set(response, updated_at=updated_at)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return True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→ 서버 재시작·hot-reload 시 LLM 호출 0회 (YouTube quota 보호)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문우성 (2/3): Risk-ON / Risk-OFF 자동 판단</a:t>
            </a:r>
          </a:p>
        </p:txBody>
      </p:sp>
      <p:sp>
        <p:nvSpPr>
          <p:cNvPr id="82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#26</a:t>
            </a:r>
          </a:p>
        </p:txBody>
      </p:sp>
      <p:sp>
        <p:nvSpPr>
          <p:cNvPr id="82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시장 상태 판단 로직</a:t>
            </a:r>
          </a:p>
        </p:txBody>
      </p:sp>
      <p:grpSp>
        <p:nvGrpSpPr>
          <p:cNvPr id="824" name="Rectangle 5"/>
          <p:cNvGrpSpPr/>
          <p:nvPr/>
        </p:nvGrpSpPr>
        <p:grpSpPr>
          <a:xfrm>
            <a:off x="457198" y="1524000"/>
            <a:ext cx="11274556" cy="1783079"/>
            <a:chOff x="0" y="0"/>
            <a:chExt cx="11274555" cy="1783078"/>
          </a:xfrm>
        </p:grpSpPr>
        <p:sp>
          <p:nvSpPr>
            <p:cNvPr id="822" name="직사각형"/>
            <p:cNvSpPr/>
            <p:nvPr/>
          </p:nvSpPr>
          <p:spPr>
            <a:xfrm>
              <a:off x="-1" y="0"/>
              <a:ext cx="11274556" cy="178307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23" name="핵심 변수 조합 분석…"/>
            <p:cNvSpPr txBox="1"/>
            <p:nvPr/>
          </p:nvSpPr>
          <p:spPr>
            <a:xfrm>
              <a:off x="45719" y="80757"/>
              <a:ext cx="2524315" cy="1621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핵심 변수 조합 분석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금리 방향 (상승 vs 하락)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달러 강도 (DXY 방향)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VIX 수준 (공포 지수)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유가 방향 (에너지 비용)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LLM 기반 종합 판단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Risk-ON / Risk-OFF 결정 + 근거 자동 생성</a:t>
              </a:r>
            </a:p>
          </p:txBody>
        </p:sp>
      </p:grpSp>
      <p:sp>
        <p:nvSpPr>
          <p:cNvPr id="825" name="TextBox 6"/>
          <p:cNvSpPr txBox="1"/>
          <p:nvPr/>
        </p:nvSpPr>
        <p:spPr>
          <a:xfrm>
            <a:off x="466343" y="3435096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Risk-ON / Risk-OFF 출력 예시</a:t>
            </a:r>
          </a:p>
        </p:txBody>
      </p:sp>
      <p:graphicFrame>
        <p:nvGraphicFramePr>
          <p:cNvPr id="826" name="Table 7"/>
          <p:cNvGraphicFramePr/>
          <p:nvPr/>
        </p:nvGraphicFramePr>
        <p:xfrm>
          <a:off x="457200" y="3898391"/>
          <a:ext cx="11274553" cy="115824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31648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근거 예시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Risk-ON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위험자산 선호 심리 강화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"금리 하락 + 달러 약세 → 성장주·신흥국 매수 환경 조성"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Risk-OFF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위험자산 회피 심리 강화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"VIX 25 돌파 + 달러 강세 → 미 국채·금 선호, 위험자산 매도 압력"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27" name="TextBox 8"/>
          <p:cNvSpPr txBox="1"/>
          <p:nvPr/>
        </p:nvSpPr>
        <p:spPr>
          <a:xfrm>
            <a:off x="466343" y="518464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사용자 화면 구성</a:t>
            </a:r>
          </a:p>
        </p:txBody>
      </p:sp>
      <p:grpSp>
        <p:nvGrpSpPr>
          <p:cNvPr id="830" name="Rectangle 9"/>
          <p:cNvGrpSpPr/>
          <p:nvPr/>
        </p:nvGrpSpPr>
        <p:grpSpPr>
          <a:xfrm>
            <a:off x="457198" y="5647943"/>
            <a:ext cx="11274556" cy="944883"/>
            <a:chOff x="0" y="0"/>
            <a:chExt cx="11274555" cy="944882"/>
          </a:xfrm>
        </p:grpSpPr>
        <p:sp>
          <p:nvSpPr>
            <p:cNvPr id="828" name="직사각형"/>
            <p:cNvSpPr/>
            <p:nvPr/>
          </p:nvSpPr>
          <p:spPr>
            <a:xfrm>
              <a:off x="-1" y="-1"/>
              <a:ext cx="11274556" cy="94488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29" name="/macro 페이지…"/>
            <p:cNvSpPr txBox="1"/>
            <p:nvPr/>
          </p:nvSpPr>
          <p:spPr>
            <a:xfrm>
              <a:off x="45719" y="58414"/>
              <a:ext cx="3077799" cy="8280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/macro 페이지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금리 · 유가 · 환율 카드 (전일 대비 등락 색상)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주요 경제 일정 캘린더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Risk-ON / Risk-OFF 배지 + LLM 근거 텍스트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5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문우성 (3/3): 메인 에이전트 연결 + 아키텍처 기여</a:t>
            </a:r>
          </a:p>
        </p:txBody>
      </p:sp>
      <p:sp>
        <p:nvSpPr>
          <p:cNvPr id="836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#27</a:t>
            </a:r>
          </a:p>
        </p:txBody>
      </p:sp>
      <p:sp>
        <p:nvSpPr>
          <p:cNvPr id="837" name="TextBox 4"/>
          <p:cNvSpPr txBox="1"/>
          <p:nvPr/>
        </p:nvSpPr>
        <p:spPr>
          <a:xfrm>
            <a:off x="466343" y="1060702"/>
            <a:ext cx="11256266" cy="318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거시경제 에이전트 → 메인 에이전트 통합</a:t>
            </a:r>
          </a:p>
        </p:txBody>
      </p:sp>
      <p:grpSp>
        <p:nvGrpSpPr>
          <p:cNvPr id="840" name="Rectangle 5"/>
          <p:cNvGrpSpPr/>
          <p:nvPr/>
        </p:nvGrpSpPr>
        <p:grpSpPr>
          <a:xfrm>
            <a:off x="457198" y="1524000"/>
            <a:ext cx="11274556" cy="1783079"/>
            <a:chOff x="0" y="0"/>
            <a:chExt cx="11274555" cy="1783078"/>
          </a:xfrm>
        </p:grpSpPr>
        <p:sp>
          <p:nvSpPr>
            <p:cNvPr id="838" name="직사각형"/>
            <p:cNvSpPr/>
            <p:nvPr/>
          </p:nvSpPr>
          <p:spPr>
            <a:xfrm>
              <a:off x="-1" y="0"/>
              <a:ext cx="11274556" cy="178307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39" name="거시경제 에이전트 (문우성)…"/>
            <p:cNvSpPr txBox="1"/>
            <p:nvPr/>
          </p:nvSpPr>
          <p:spPr>
            <a:xfrm>
              <a:off x="45719" y="81575"/>
              <a:ext cx="3398665" cy="16199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거시경제 에이전트 (문우성)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MarketRiskJudgementResponse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Redis 4h 캐시 저장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메인 에이전트 (김영진 통합) 호출 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거시 스냅샷 로드 → 종합 시그널 산출 컨텍스트로 활용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거시 환경 불안정 → 전체 confidence 하향 반영</a:t>
              </a:r>
            </a:p>
          </p:txBody>
        </p:sp>
      </p:grpSp>
      <p:sp>
        <p:nvSpPr>
          <p:cNvPr id="841" name="TextBox 6"/>
          <p:cNvSpPr txBox="1"/>
          <p:nvPr/>
        </p:nvSpPr>
        <p:spPr>
          <a:xfrm>
            <a:off x="466343" y="3435096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시스템 아키텍처 정립 기여</a:t>
            </a:r>
          </a:p>
        </p:txBody>
      </p:sp>
      <p:sp>
        <p:nvSpPr>
          <p:cNvPr id="842" name="TextBox 7"/>
          <p:cNvSpPr txBox="1"/>
          <p:nvPr/>
        </p:nvSpPr>
        <p:spPr>
          <a:xfrm>
            <a:off x="457198" y="3898392"/>
            <a:ext cx="11274556" cy="1100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전체 DDD · 헥사고날 아키텍처 설계 참여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레이어별 의존성 규칙 문서화 (WOOSUNG_system-architecture.md)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도메인 간 인터페이스 표준화 방향 제시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외부 API 공통 Client 패턴 정립</a:t>
            </a:r>
          </a:p>
        </p:txBody>
      </p:sp>
      <p:sp>
        <p:nvSpPr>
          <p:cNvPr id="843" name="TextBox 8"/>
          <p:cNvSpPr txBox="1"/>
          <p:nvPr/>
        </p:nvSpPr>
        <p:spPr>
          <a:xfrm>
            <a:off x="466343" y="4942840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기술 스택 (담당 영역)</a:t>
            </a:r>
          </a:p>
        </p:txBody>
      </p:sp>
      <p:sp>
        <p:nvSpPr>
          <p:cNvPr id="844" name="TextBox 9"/>
          <p:cNvSpPr txBox="1"/>
          <p:nvPr/>
        </p:nvSpPr>
        <p:spPr>
          <a:xfrm>
            <a:off x="457198" y="5406136"/>
            <a:ext cx="11274556" cy="1378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YouTube Data API (거시 뉴스·영상 수집)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FRED API (금리·CPI·실업률 시리즈)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OpenAI GPT (Risk 판단 LLM)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APScheduler (거시 데이터 정기 수집 잡)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Redis (스냅샷 4h 캐시 + 분산 락)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(1/3): History Agent — 8단계 타임라인 파이프라인 (1/2)</a:t>
            </a:r>
          </a:p>
        </p:txBody>
      </p:sp>
      <p:sp>
        <p:nvSpPr>
          <p:cNvPr id="85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#28</a:t>
            </a:r>
          </a:p>
        </p:txBody>
      </p:sp>
      <p:sp>
        <p:nvSpPr>
          <p:cNvPr id="85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한 줄 요약</a:t>
            </a:r>
          </a:p>
        </p:txBody>
      </p:sp>
      <p:grpSp>
        <p:nvGrpSpPr>
          <p:cNvPr id="854" name="Rectangle 5"/>
          <p:cNvGrpSpPr/>
          <p:nvPr/>
        </p:nvGrpSpPr>
        <p:grpSpPr>
          <a:xfrm>
            <a:off x="457198" y="1499315"/>
            <a:ext cx="11274556" cy="391539"/>
            <a:chOff x="0" y="-1"/>
            <a:chExt cx="11274555" cy="391537"/>
          </a:xfrm>
        </p:grpSpPr>
        <p:sp>
          <p:nvSpPr>
            <p:cNvPr id="852" name="직사각형"/>
            <p:cNvSpPr/>
            <p:nvPr/>
          </p:nvSpPr>
          <p:spPr>
            <a:xfrm>
              <a:off x="-1" y="-2"/>
              <a:ext cx="11274556" cy="391539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53" name="종목 코드 하나 → 8개 외부 소스에서 데이터 수집 → &quot;시점이 명확한 사건&quot;만 골라 타임라인 자동 생성"/>
            <p:cNvSpPr txBox="1"/>
            <p:nvPr/>
          </p:nvSpPr>
          <p:spPr>
            <a:xfrm>
              <a:off x="77914" y="2289"/>
              <a:ext cx="11118726" cy="386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종목 코드 하나 → 8개 외부 소스에서 데이터 수집 → "시점이 명확한 사건"만 골라 타임라인 자동 생성</a:t>
              </a:r>
            </a:p>
          </p:txBody>
        </p:sp>
      </p:grpSp>
      <p:sp>
        <p:nvSpPr>
          <p:cNvPr id="855" name="TextBox 6"/>
          <p:cNvSpPr txBox="1"/>
          <p:nvPr/>
        </p:nvSpPr>
        <p:spPr>
          <a:xfrm>
            <a:off x="466343" y="2018865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8단계 파이프라인</a:t>
            </a:r>
          </a:p>
        </p:txBody>
      </p:sp>
      <p:grpSp>
        <p:nvGrpSpPr>
          <p:cNvPr id="858" name="Rectangle 7"/>
          <p:cNvGrpSpPr/>
          <p:nvPr/>
        </p:nvGrpSpPr>
        <p:grpSpPr>
          <a:xfrm>
            <a:off x="457198" y="2457479"/>
            <a:ext cx="11274556" cy="4217642"/>
            <a:chOff x="0" y="0"/>
            <a:chExt cx="11274555" cy="4217641"/>
          </a:xfrm>
        </p:grpSpPr>
        <p:sp>
          <p:nvSpPr>
            <p:cNvPr id="856" name="직사각형"/>
            <p:cNvSpPr/>
            <p:nvPr/>
          </p:nvSpPr>
          <p:spPr>
            <a:xfrm>
              <a:off x="-1" y="-1"/>
              <a:ext cx="11274556" cy="421764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57" name="Step 0  ticker 정규화 + 자산 유형 자동 판별 (EQUITY / INDEX / ETF)…"/>
            <p:cNvSpPr txBox="1"/>
            <p:nvPr/>
          </p:nvSpPr>
          <p:spPr>
            <a:xfrm>
              <a:off x="45719" y="25519"/>
              <a:ext cx="3861136" cy="4166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0  ticker 정규화 + 자산 유형 자동 판별 (EQUITY / INDEX / ETF)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1  Redis 캐시 HIT → 즉시 반환 (~50ms)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 MISS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2  4개 소스 비동기 병렬 수집 (asyncio.gather)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yfinance  OHLCV + 기업이벤트 (배당·분할)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DART + yfinance  실적·임원변동·자사주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SEC EDGAR + DART  공시 (8-K/DART 주요사항)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└── Finnhub → GDELT → Naver  뉴스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3  Jaccard ≥ 0.8 공시 중복 제거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(같은 사건이 DART + SEC + Yahoo 에서 동시 입수될 때)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4  DB에서 기존 enrichment 로드 → title/causality 즉시 주입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5  신규 이벤트 병렬 enrichment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SURGE/PLUNGE 상위 3건 → Causality Agent 호출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가격 이벤트 제목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└── 공시 한글 요약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6  EventClassifier v2 + importance_score 산정 (0~1)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7  DB upsert (event_enrichments, detail_hash PK)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8  Redis setex 3600s TTL → 응답 반환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(1/3): History Agent — 8단계 타임라인 파이프라인 (2/2)</a:t>
            </a:r>
          </a:p>
        </p:txBody>
      </p:sp>
      <p:sp>
        <p:nvSpPr>
          <p:cNvPr id="86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#28</a:t>
            </a:r>
          </a:p>
        </p:txBody>
      </p:sp>
      <p:sp>
        <p:nvSpPr>
          <p:cNvPr id="865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자산 유형별 파이프라인 분기</a:t>
            </a:r>
          </a:p>
        </p:txBody>
      </p:sp>
      <p:graphicFrame>
        <p:nvGraphicFramePr>
          <p:cNvPr id="866" name="Table 5"/>
          <p:cNvGraphicFramePr/>
          <p:nvPr/>
        </p:nvGraphicFramePr>
        <p:xfrm>
          <a:off x="457200" y="1588008"/>
          <a:ext cx="11274553" cy="450189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112547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자산 유형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파이프라인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12547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EQUITY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AAPL, 005930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기업 이벤트 + 공시 + 뉴스 + 거시 컨텍스트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12547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INDEX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^GSPC, ^KS11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지수별 맞춤 매크로 이벤트 + 인과 규칙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12547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ETF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SPY, QQQ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자산 클래스 매크로 + 상위 5개 보유 종목 이벤트 분해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(2/3): 이상치 탐지 + 이벤트 분류</a:t>
            </a:r>
          </a:p>
        </p:txBody>
      </p:sp>
      <p:sp>
        <p:nvSpPr>
          <p:cNvPr id="87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#29</a:t>
            </a:r>
          </a:p>
        </p:txBody>
      </p:sp>
      <p:sp>
        <p:nvSpPr>
          <p:cNvPr id="87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5중 이상치 탐지기</a:t>
            </a:r>
          </a:p>
        </p:txBody>
      </p:sp>
      <p:graphicFrame>
        <p:nvGraphicFramePr>
          <p:cNvPr id="872" name="Table 5"/>
          <p:cNvGraphicFramePr/>
          <p:nvPr/>
        </p:nvGraphicFramePr>
        <p:xfrm>
          <a:off x="457200" y="1500733"/>
          <a:ext cx="11274553" cy="15117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5195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탐지기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트리거 조건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마커 색상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z-score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수익률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cumulative 5d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5일 누적 수익률 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±10%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cumulative 20d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20일 누적 수익률 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±15%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drawdown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60봉 고점 대비 -10% 도달 → -3% 회복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보라 🔽 / 에메랄드 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volatility cluster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5거래일 내 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875" name="Rectangle 6"/>
          <p:cNvGrpSpPr/>
          <p:nvPr/>
        </p:nvGrpSpPr>
        <p:grpSpPr>
          <a:xfrm>
            <a:off x="457198" y="3085606"/>
            <a:ext cx="11274556" cy="392859"/>
            <a:chOff x="0" y="-1"/>
            <a:chExt cx="11274555" cy="392857"/>
          </a:xfrm>
        </p:grpSpPr>
        <p:sp>
          <p:nvSpPr>
            <p:cNvPr id="873" name="직사각형"/>
            <p:cNvSpPr/>
            <p:nvPr/>
          </p:nvSpPr>
          <p:spPr>
            <a:xfrm>
              <a:off x="-1" y="-2"/>
              <a:ext cx="11274556" cy="392859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74" name="settings.anomaly_robust_sigma_method: &quot;stdev&quot; / &quot;stable&quot; / &quot;mad&quot; 선택 가능"/>
            <p:cNvSpPr txBox="1"/>
            <p:nvPr/>
          </p:nvSpPr>
          <p:spPr>
            <a:xfrm>
              <a:off x="77914" y="9737"/>
              <a:ext cx="11118726" cy="373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settings.anomaly_robust_sigma_method: "stdev" / "stable" / "mad" 선택 가능</a:t>
              </a:r>
            </a:p>
          </p:txBody>
        </p:sp>
      </p:grpSp>
      <p:sp>
        <p:nvSpPr>
          <p:cNvPr id="876" name="TextBox 7"/>
          <p:cNvSpPr txBox="1"/>
          <p:nvPr/>
        </p:nvSpPr>
        <p:spPr>
          <a:xfrm>
            <a:off x="466343" y="3606479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이벤트 분류 체계</a:t>
            </a:r>
          </a:p>
        </p:txBody>
      </p:sp>
      <p:graphicFrame>
        <p:nvGraphicFramePr>
          <p:cNvPr id="877" name="Table 8"/>
          <p:cNvGraphicFramePr/>
          <p:nvPr/>
        </p:nvGraphicFramePr>
        <p:xfrm>
          <a:off x="457200" y="4046508"/>
          <a:ext cx="11274553" cy="127100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542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Category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대표 Types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탐지 방법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CORPORATE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EARNINGS, DIVIDEND, STOCK_SPLIT, BUYBACK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yfinance 코드 매칭 (규칙)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ANNOUNCEMENT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MERGER_ACQUISITION, CONTRACT, MAJOR_EVENT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 Item 코드 + 본문 LLM 재분류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MACRO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INTEREST_RATE, CPI, VIX_SPIKE, OIL_SPIKE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FRED 시리즈 + 연관자산 threshold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NEWS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(단일 유형)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source 필드로 provider 구분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78" name="TextBox 9"/>
          <p:cNvSpPr txBox="1"/>
          <p:nvPr/>
        </p:nvSpPr>
        <p:spPr>
          <a:xfrm>
            <a:off x="466343" y="5445528"/>
            <a:ext cx="11256266" cy="30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MACRO TYPE_A vs TYPE_B</a:t>
            </a:r>
          </a:p>
        </p:txBody>
      </p:sp>
      <p:graphicFrame>
        <p:nvGraphicFramePr>
          <p:cNvPr id="879" name="Table 10"/>
          <p:cNvGraphicFramePr/>
          <p:nvPr/>
        </p:nvGraphicFramePr>
        <p:xfrm>
          <a:off x="457200" y="5885557"/>
          <a:ext cx="11274553" cy="78956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318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reason 필드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318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TYPE_A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원인 / 발표 자체 (FOMC, CPI 발표)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없음 (사실 자체가 사유)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318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TYPE_B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결과 / 시장 반응 (VIX 급등, 환율 변동)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추정 사유 + 신뢰도 (HIGH/MEDIUM/LOW)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(3/3): Causality Agent + Dashboard UI + SSE (1/2)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#30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Causality Agent — "왜 이 날 급등/급락했는가"</a:t>
            </a:r>
          </a:p>
        </p:txBody>
      </p:sp>
      <p:grpSp>
        <p:nvGrpSpPr>
          <p:cNvPr id="889" name="Rectangle 5"/>
          <p:cNvGrpSpPr/>
          <p:nvPr/>
        </p:nvGrpSpPr>
        <p:grpSpPr>
          <a:xfrm>
            <a:off x="457198" y="1524000"/>
            <a:ext cx="11274556" cy="2286000"/>
            <a:chOff x="0" y="0"/>
            <a:chExt cx="11274555" cy="2286000"/>
          </a:xfrm>
        </p:grpSpPr>
        <p:sp>
          <p:nvSpPr>
            <p:cNvPr id="887" name="직사각형"/>
            <p:cNvSpPr/>
            <p:nvPr/>
          </p:nvSpPr>
          <p:spPr>
            <a:xfrm>
              <a:off x="-1" y="0"/>
              <a:ext cx="11274556" cy="228600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88" name="이상치 봉(Anomaly Bar) 탐지 → 차트에 마커 자동 표시…"/>
            <p:cNvSpPr txBox="1"/>
            <p:nvPr/>
          </p:nvSpPr>
          <p:spPr>
            <a:xfrm>
              <a:off x="45719" y="106353"/>
              <a:ext cx="4113988" cy="2073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이상치 봉(Anomaly Bar) 탐지 → 차트에 마커 자동 표시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사용자 마커 클릭 (lazy 호출 — LLM 비용 절약)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LangGraph StateGraph 4노드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1: 날짜 주변 뉴스·공시·거시지표 병렬 수집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2: LLM Tool Use (8개 도구 자율 선택·호출)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3: 가설 3~6개 생성 + 신뢰도 평가 (HIGH/MEDIUM/LOW)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4: 환각 방지 후처리 + 출처 검증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event_enrichments DB 영구 저장 (detail_hash PK)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동일 봉 두 번째 요청부터 ~50ms 응답 (캐시 write-through)</a:t>
              </a:r>
            </a:p>
          </p:txBody>
        </p:sp>
      </p:grpSp>
      <p:sp>
        <p:nvSpPr>
          <p:cNvPr id="890" name="TextBox 6"/>
          <p:cNvSpPr txBox="1"/>
          <p:nvPr/>
        </p:nvSpPr>
        <p:spPr>
          <a:xfrm>
            <a:off x="466343" y="3938015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Dashboard UI — /dashboard 2열 4:1 그리드</a:t>
            </a:r>
          </a:p>
        </p:txBody>
      </p:sp>
      <p:grpSp>
        <p:nvGrpSpPr>
          <p:cNvPr id="893" name="Rectangle 7"/>
          <p:cNvGrpSpPr/>
          <p:nvPr/>
        </p:nvGrpSpPr>
        <p:grpSpPr>
          <a:xfrm>
            <a:off x="457198" y="4401309"/>
            <a:ext cx="11274556" cy="2118364"/>
            <a:chOff x="0" y="0"/>
            <a:chExt cx="11274555" cy="2118362"/>
          </a:xfrm>
        </p:grpSpPr>
        <p:sp>
          <p:nvSpPr>
            <p:cNvPr id="891" name="직사각형"/>
            <p:cNvSpPr/>
            <p:nvPr/>
          </p:nvSpPr>
          <p:spPr>
            <a:xfrm>
              <a:off x="-1" y="-1"/>
              <a:ext cx="11274556" cy="211836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92" name="┌──────────────────────────────┬──────────────────┐…"/>
            <p:cNvSpPr txBox="1"/>
            <p:nvPr/>
          </p:nvSpPr>
          <p:spPr>
            <a:xfrm>
              <a:off x="45719" y="87105"/>
              <a:ext cx="6655434" cy="1944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┌──────────────────────────────┬──────────────────┐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NasdaqChart                 │  StockSearch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+ 이상치 봉 마커 6종        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(SURGE/PLUNGE/VIX_SPIKE)  ├──────────────────┤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마커 클릭 → Causality 팝업  │  AssetProfile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├──────────────────────────────│  Panel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HistoryPanel               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(타임라인 카드 목록)        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카드 클릭 → 차트 봉 하이라이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└──────────────────────────────┴──────────────────┘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상태: Jotai 2.19 (atomWithStorage — localStorage 영속)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8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(3/3): Causality Agent + Dashboard UI + SSE (2/2)</a:t>
            </a:r>
          </a:p>
        </p:txBody>
      </p:sp>
      <p:sp>
        <p:nvSpPr>
          <p:cNvPr id="899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#30</a:t>
            </a:r>
          </a:p>
        </p:txBody>
      </p:sp>
      <p:grpSp>
        <p:nvGrpSpPr>
          <p:cNvPr id="902" name="Rectangle 4"/>
          <p:cNvGrpSpPr/>
          <p:nvPr/>
        </p:nvGrpSpPr>
        <p:grpSpPr>
          <a:xfrm>
            <a:off x="457198" y="1005837"/>
            <a:ext cx="11274556" cy="1615445"/>
            <a:chOff x="0" y="-1"/>
            <a:chExt cx="11274555" cy="1615443"/>
          </a:xfrm>
        </p:grpSpPr>
        <p:sp>
          <p:nvSpPr>
            <p:cNvPr id="900" name="직사각형"/>
            <p:cNvSpPr/>
            <p:nvPr/>
          </p:nvSpPr>
          <p:spPr>
            <a:xfrm>
              <a:off x="-1" y="-2"/>
              <a:ext cx="11274556" cy="1615445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01" name="GET /api/v1/history-agent/timeline/stream…"/>
            <p:cNvSpPr txBox="1"/>
            <p:nvPr/>
          </p:nvSpPr>
          <p:spPr>
            <a:xfrm>
              <a:off x="45719" y="89566"/>
              <a:ext cx="3417083" cy="14363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GET /api/v1/history-agent/timeline/stream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이벤트 타입: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progress → 처리 중인 단계 실시간 표시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done     → 완성된 타임라인 데이터 전송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error    → 에러 메시지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효과: 4~8초 로딩 대신 진행 상황을 사용자가 실시간 확인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5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(1/3): 관심종목 기반 개인화</a:t>
            </a:r>
          </a:p>
        </p:txBody>
      </p:sp>
      <p:sp>
        <p:nvSpPr>
          <p:cNvPr id="906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#31</a:t>
            </a:r>
          </a:p>
        </p:txBody>
      </p:sp>
      <p:sp>
        <p:nvSpPr>
          <p:cNvPr id="907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watchlist 관리 (/settings/watchlist)</a:t>
            </a:r>
          </a:p>
        </p:txBody>
      </p:sp>
      <p:grpSp>
        <p:nvGrpSpPr>
          <p:cNvPr id="910" name="Rectangle 5"/>
          <p:cNvGrpSpPr/>
          <p:nvPr/>
        </p:nvGrpSpPr>
        <p:grpSpPr>
          <a:xfrm>
            <a:off x="457198" y="1516126"/>
            <a:ext cx="11274556" cy="1751542"/>
            <a:chOff x="0" y="0"/>
            <a:chExt cx="11274555" cy="1751540"/>
          </a:xfrm>
        </p:grpSpPr>
        <p:sp>
          <p:nvSpPr>
            <p:cNvPr id="908" name="직사각형"/>
            <p:cNvSpPr/>
            <p:nvPr/>
          </p:nvSpPr>
          <p:spPr>
            <a:xfrm>
              <a:off x="-1" y="-1"/>
              <a:ext cx="11274556" cy="175154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09" name="UI: 테마 그룹별 종목 버튼 (반도체 / 자동차 / 바이오 / 엔터 / ...)…"/>
            <p:cNvSpPr txBox="1"/>
            <p:nvPr/>
          </p:nvSpPr>
          <p:spPr>
            <a:xfrm>
              <a:off x="45719" y="74569"/>
              <a:ext cx="5391744" cy="1602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UI: 테마 그룹별 종목 버튼 (반도체 / 자동차 / 바이오 / 엔터 / ...)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버튼 클릭 → 토글 등록/해제 / 현재 선택 개수 실시간 표시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API: GET /me/watchlist  → 관심종목 전체 조회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POST /me/watchlist → 종목 추가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PUT /me/watchlist/{stock_code} → 종목 교체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DELETE /me/watchlist/{stock_code} → 종목 삭제 (204)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인증: Redis 세션 기반 (쿠키 user_token 또는 Authorization: Bearer 모두 지원)</a:t>
              </a:r>
            </a:p>
          </p:txBody>
        </p:sp>
      </p:grpSp>
      <p:sp>
        <p:nvSpPr>
          <p:cNvPr id="911" name="TextBox 6"/>
          <p:cNvSpPr txBox="1"/>
          <p:nvPr/>
        </p:nvSpPr>
        <p:spPr>
          <a:xfrm>
            <a:off x="466343" y="3395683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뉴스 · 유튜브 개인화 연동</a:t>
            </a:r>
          </a:p>
        </p:txBody>
      </p:sp>
      <p:graphicFrame>
        <p:nvGraphicFramePr>
          <p:cNvPr id="912" name="Table 7"/>
          <p:cNvGraphicFramePr/>
          <p:nvPr/>
        </p:nvGraphicFramePr>
        <p:xfrm>
          <a:off x="457200" y="3851107"/>
          <a:ext cx="11274553" cy="81838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279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관심종목 없을 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관심종목 있을 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279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/news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최신 뉴스 100건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등록 종목명으로 DB 뉴스 필터링 (종목당 최대 10건)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279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/youtube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 주식 키워드 5개로 검색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종목명 최대 5개를 YouTube 병렬 검색 키워드로 사용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13" name="TextBox 8"/>
          <p:cNvSpPr txBox="1"/>
          <p:nvPr/>
        </p:nvSpPr>
        <p:spPr>
          <a:xfrm>
            <a:off x="466343" y="4797506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뉴스 개인화 상세 흐름</a:t>
            </a:r>
          </a:p>
        </p:txBody>
      </p:sp>
      <p:grpSp>
        <p:nvGrpSpPr>
          <p:cNvPr id="916" name="Rectangle 9"/>
          <p:cNvGrpSpPr/>
          <p:nvPr/>
        </p:nvGrpSpPr>
        <p:grpSpPr>
          <a:xfrm>
            <a:off x="457198" y="5252929"/>
            <a:ext cx="11274556" cy="1422193"/>
            <a:chOff x="0" y="0"/>
            <a:chExt cx="11274555" cy="1422191"/>
          </a:xfrm>
        </p:grpSpPr>
        <p:sp>
          <p:nvSpPr>
            <p:cNvPr id="914" name="직사각형"/>
            <p:cNvSpPr/>
            <p:nvPr/>
          </p:nvSpPr>
          <p:spPr>
            <a:xfrm>
              <a:off x="-1" y="-1"/>
              <a:ext cx="11274556" cy="142219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15" name="사용자 세션 → 관심종목 목록 조회…"/>
            <p:cNvSpPr txBox="1"/>
            <p:nvPr/>
          </p:nvSpPr>
          <p:spPr>
            <a:xfrm>
              <a:off x="45719" y="72563"/>
              <a:ext cx="2699595" cy="12770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사용자 세션 → 관심종목 목록 조회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종목별 stock_name으로 뉴스 DB 제목 검색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URL 기준 중복 제거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최신순 정렬 후 반환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(2/3): 국내 Smart Money (KRX 자동 수집) (1/2)</a:t>
            </a:r>
          </a:p>
        </p:txBody>
      </p:sp>
      <p:sp>
        <p:nvSpPr>
          <p:cNvPr id="92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#32</a:t>
            </a:r>
          </a:p>
        </p:txBody>
      </p:sp>
      <p:sp>
        <p:nvSpPr>
          <p:cNvPr id="923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스마트머니란?</a:t>
            </a:r>
          </a:p>
        </p:txBody>
      </p:sp>
      <p:grpSp>
        <p:nvGrpSpPr>
          <p:cNvPr id="926" name="Rectangle 5"/>
          <p:cNvGrpSpPr/>
          <p:nvPr/>
        </p:nvGrpSpPr>
        <p:grpSpPr>
          <a:xfrm>
            <a:off x="457198" y="1659757"/>
            <a:ext cx="11274556" cy="609602"/>
            <a:chOff x="0" y="0"/>
            <a:chExt cx="11274555" cy="609601"/>
          </a:xfrm>
        </p:grpSpPr>
        <p:sp>
          <p:nvSpPr>
            <p:cNvPr id="924" name="직사각형"/>
            <p:cNvSpPr/>
            <p:nvPr/>
          </p:nvSpPr>
          <p:spPr>
            <a:xfrm>
              <a:off x="-1" y="-1"/>
              <a:ext cx="11274556" cy="609603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25" name="개인보다 정보력·자본력이 높은 외국인·기관·저명 투자자의 거래 흐름을 추적해…"/>
            <p:cNvSpPr txBox="1"/>
            <p:nvPr/>
          </p:nvSpPr>
          <p:spPr>
            <a:xfrm>
              <a:off x="77914" y="22859"/>
              <a:ext cx="11118726" cy="5638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/>
            <a:p>
              <a: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개인보다 정보력·자본력이 높은 외국인·기관·저명 투자자의 거래 흐름을 추적해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어디에 "큰 돈"이 들어오고 있는지 파악하는 투자 분석</a:t>
              </a:r>
            </a:p>
          </p:txBody>
        </p:sp>
      </p:grpSp>
      <p:sp>
        <p:nvSpPr>
          <p:cNvPr id="927" name="TextBox 6"/>
          <p:cNvSpPr txBox="1"/>
          <p:nvPr/>
        </p:nvSpPr>
        <p:spPr>
          <a:xfrm>
            <a:off x="466343" y="253313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KRX 자동 수집 스케줄러</a:t>
            </a:r>
          </a:p>
        </p:txBody>
      </p:sp>
      <p:grpSp>
        <p:nvGrpSpPr>
          <p:cNvPr id="930" name="Rectangle 7"/>
          <p:cNvGrpSpPr/>
          <p:nvPr/>
        </p:nvGrpSpPr>
        <p:grpSpPr>
          <a:xfrm>
            <a:off x="457198" y="3132183"/>
            <a:ext cx="11274556" cy="1447803"/>
            <a:chOff x="0" y="0"/>
            <a:chExt cx="11274555" cy="1447801"/>
          </a:xfrm>
        </p:grpSpPr>
        <p:sp>
          <p:nvSpPr>
            <p:cNvPr id="928" name="직사각형"/>
            <p:cNvSpPr/>
            <p:nvPr/>
          </p:nvSpPr>
          <p:spPr>
            <a:xfrm>
              <a:off x="-1" y="-1"/>
              <a:ext cx="11274556" cy="144780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29" name="매 영업일 16:30 KST (장 마감 30분 후)…"/>
            <p:cNvSpPr txBox="1"/>
            <p:nvPr/>
          </p:nvSpPr>
          <p:spPr>
            <a:xfrm>
              <a:off x="45719" y="85368"/>
              <a:ext cx="3932963" cy="12770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매 영업일 16:30 KST (장 마감 30분 후)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KRX → KOSPI + KOSDAQ 전 종목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외국인 / 기관합계 / 개인 → 종목별 순매수거래량 + 순매수거래대금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DB 저장</a:t>
              </a:r>
            </a:p>
          </p:txBody>
        </p:sp>
      </p:grpSp>
      <p:sp>
        <p:nvSpPr>
          <p:cNvPr id="931" name="TextBox 8"/>
          <p:cNvSpPr txBox="1"/>
          <p:nvPr/>
        </p:nvSpPr>
        <p:spPr>
          <a:xfrm>
            <a:off x="466343" y="484375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집중 매수 종목 — 집중도 점수 계산</a:t>
            </a:r>
          </a:p>
        </p:txBody>
      </p:sp>
      <p:grpSp>
        <p:nvGrpSpPr>
          <p:cNvPr id="934" name="Rectangle 9"/>
          <p:cNvGrpSpPr/>
          <p:nvPr/>
        </p:nvGrpSpPr>
        <p:grpSpPr>
          <a:xfrm>
            <a:off x="457198" y="5442813"/>
            <a:ext cx="11274556" cy="1112523"/>
            <a:chOff x="0" y="0"/>
            <a:chExt cx="11274555" cy="1112522"/>
          </a:xfrm>
        </p:grpSpPr>
        <p:sp>
          <p:nvSpPr>
            <p:cNvPr id="932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33" name="외국인 점수 = 내 순매수 ÷ 전체 최대값 (0~1 정규화)…"/>
            <p:cNvSpPr txBox="1"/>
            <p:nvPr/>
          </p:nvSpPr>
          <p:spPr>
            <a:xfrm>
              <a:off x="45719" y="70129"/>
              <a:ext cx="3327498" cy="972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외국인 점수 = 내 순매수 ÷ 전체 최대값 (0~1 정규화)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기관 점수   = 내 순매수 ÷ 전체 최대값 (0~1 정규화)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집중도 점수 = (외국인 점수 + 기관 점수) ÷ 2 × 100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외국인·기관이 "동시에" 매수한 종목만 교집합 추출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(2/3): 국내 Smart Money (KRX 자동 수집) (2/2)</a:t>
            </a:r>
          </a:p>
        </p:txBody>
      </p:sp>
      <p:sp>
        <p:nvSpPr>
          <p:cNvPr id="94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#32</a:t>
            </a:r>
          </a:p>
        </p:txBody>
      </p:sp>
      <p:grpSp>
        <p:nvGrpSpPr>
          <p:cNvPr id="943" name="Rectangle 4"/>
          <p:cNvGrpSpPr/>
          <p:nvPr/>
        </p:nvGrpSpPr>
        <p:grpSpPr>
          <a:xfrm>
            <a:off x="457198" y="1005838"/>
            <a:ext cx="11274556" cy="1447803"/>
            <a:chOff x="0" y="0"/>
            <a:chExt cx="11274555" cy="1447801"/>
          </a:xfrm>
        </p:grpSpPr>
        <p:sp>
          <p:nvSpPr>
            <p:cNvPr id="941" name="직사각형"/>
            <p:cNvSpPr/>
            <p:nvPr/>
          </p:nvSpPr>
          <p:spPr>
            <a:xfrm>
              <a:off x="-1" y="-1"/>
              <a:ext cx="11274556" cy="144780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42" name="① 스마트머니 집중 매수 종목 카드 (기간: 3일 / 5일 / 10일 선택)…"/>
            <p:cNvSpPr txBox="1"/>
            <p:nvPr/>
          </p:nvSpPr>
          <p:spPr>
            <a:xfrm>
              <a:off x="45719" y="78522"/>
              <a:ext cx="4466202" cy="12907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① 스마트머니 집중 매수 종목 카드 (기간: 3일 / 5일 / 10일 선택)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종목명 + 외국인 순매수 금액 + 기관 순매수 금액 + 집중도 게이지 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② 투자자별 순매수 랭킹 탭 (외국인 / 기관 / 개인)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행 클릭 → 최근 30일 투자자별 추이 차트 펼침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외국인(파랑) / 기관(초록) / 개인(노랑) 3개 라인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Redis TTL 10분 캐싱 적용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(3/3): 글로벌·국내 저명 투자자 포트폴리오 (1/2)</a:t>
            </a:r>
          </a:p>
        </p:txBody>
      </p:sp>
      <p:sp>
        <p:nvSpPr>
          <p:cNvPr id="94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#33</a:t>
            </a:r>
          </a:p>
        </p:txBody>
      </p:sp>
      <p:sp>
        <p:nvSpPr>
          <p:cNvPr id="948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글로벌 포트폴리오 — SEC 13F (19명)</a:t>
            </a:r>
          </a:p>
        </p:txBody>
      </p:sp>
      <p:sp>
        <p:nvSpPr>
          <p:cNvPr id="949" name="TextBox 5"/>
          <p:cNvSpPr txBox="1"/>
          <p:nvPr/>
        </p:nvSpPr>
        <p:spPr>
          <a:xfrm>
            <a:off x="457198" y="1524001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대상 투자자</a:t>
            </a:r>
          </a:p>
        </p:txBody>
      </p:sp>
      <p:graphicFrame>
        <p:nvGraphicFramePr>
          <p:cNvPr id="950" name="Table 6"/>
          <p:cNvGraphicFramePr/>
          <p:nvPr/>
        </p:nvGraphicFramePr>
        <p:xfrm>
          <a:off x="457200" y="1830832"/>
          <a:ext cx="11274553" cy="150368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25061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06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전설적 투자자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Warren Buffett, Michael Burry, George Soros, Carl Icahn, Seth Klarman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0122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헤지펀드 매니저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Bill Ackman, David Tepper, Ray Dalio, Stan Druckenmiller, Dan Loeb, Steve Cohen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06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퀀트·대형 운용사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Ken Griffin, Renaissance Technologies, Two Sigma, D.E. Shaw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06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성장주 중심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Cathie Wood, Tiger Global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51" name="TextBox 7"/>
          <p:cNvSpPr txBox="1"/>
          <p:nvPr/>
        </p:nvSpPr>
        <p:spPr>
          <a:xfrm>
            <a:off x="457198" y="3407665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파이프라인</a:t>
            </a:r>
          </a:p>
        </p:txBody>
      </p:sp>
      <p:grpSp>
        <p:nvGrpSpPr>
          <p:cNvPr id="954" name="Rectangle 8"/>
          <p:cNvGrpSpPr/>
          <p:nvPr/>
        </p:nvGrpSpPr>
        <p:grpSpPr>
          <a:xfrm>
            <a:off x="457198" y="3714496"/>
            <a:ext cx="11274556" cy="1783082"/>
            <a:chOff x="0" y="0"/>
            <a:chExt cx="11274555" cy="1783081"/>
          </a:xfrm>
        </p:grpSpPr>
        <p:sp>
          <p:nvSpPr>
            <p:cNvPr id="952" name="직사각형"/>
            <p:cNvSpPr/>
            <p:nvPr/>
          </p:nvSpPr>
          <p:spPr>
            <a:xfrm>
              <a:off x="-1" y="-1"/>
              <a:ext cx="11274556" cy="178308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53" name="분기별 (2·5·8·11월 15일 09:00 KST)…"/>
            <p:cNvSpPr txBox="1"/>
            <p:nvPr/>
          </p:nvSpPr>
          <p:spPr>
            <a:xfrm>
              <a:off x="45719" y="97185"/>
              <a:ext cx="4000248" cy="1588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분기별 (2·5·8·11월 15일 09:00 KST)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SEC EDGAR 최신 13F-HR 공시 → XML 파싱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OpenFIGI API로 CUSIP → 티커 변환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직전 분기와 비교 → 신규편입/비중확대/비중축소/청산 배지 자동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포트폴리오 비중(%) 계산 → DB 저장</a:t>
              </a:r>
            </a:p>
          </p:txBody>
        </p:sp>
      </p:grpSp>
      <p:sp>
        <p:nvSpPr>
          <p:cNvPr id="955" name="TextBox 9"/>
          <p:cNvSpPr txBox="1"/>
          <p:nvPr/>
        </p:nvSpPr>
        <p:spPr>
          <a:xfrm>
            <a:off x="466343" y="5625591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국내 포트폴리오 — DART 대량보유보고 (10명)</a:t>
            </a:r>
          </a:p>
        </p:txBody>
      </p:sp>
      <p:sp>
        <p:nvSpPr>
          <p:cNvPr id="956" name="TextBox 10"/>
          <p:cNvSpPr txBox="1"/>
          <p:nvPr/>
        </p:nvSpPr>
        <p:spPr>
          <a:xfrm>
            <a:off x="457198" y="6088889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대상: 국민연금, 미래에셋, 삼성, KB, 신한, NH-아문디, 박현주, 강방천, 이채원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(3/3): 글로벌·국내 저명 투자자 포트폴리오 (2/2)</a:t>
            </a:r>
          </a:p>
        </p:txBody>
      </p:sp>
      <p:sp>
        <p:nvSpPr>
          <p:cNvPr id="96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#33</a:t>
            </a:r>
          </a:p>
        </p:txBody>
      </p:sp>
      <p:grpSp>
        <p:nvGrpSpPr>
          <p:cNvPr id="965" name="Rectangle 4"/>
          <p:cNvGrpSpPr/>
          <p:nvPr/>
        </p:nvGrpSpPr>
        <p:grpSpPr>
          <a:xfrm>
            <a:off x="457198" y="1005838"/>
            <a:ext cx="11274556" cy="1783082"/>
            <a:chOff x="0" y="0"/>
            <a:chExt cx="11274555" cy="1783081"/>
          </a:xfrm>
        </p:grpSpPr>
        <p:sp>
          <p:nvSpPr>
            <p:cNvPr id="963" name="직사각형"/>
            <p:cNvSpPr/>
            <p:nvPr/>
          </p:nvSpPr>
          <p:spPr>
            <a:xfrm>
              <a:off x="-1" y="-1"/>
              <a:ext cx="11274556" cy="178308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64" name="매월 1일 03:00 KST…"/>
            <p:cNvSpPr txBox="1"/>
            <p:nvPr/>
          </p:nvSpPr>
          <p:spPr>
            <a:xfrm>
              <a:off x="45719" y="97185"/>
              <a:ext cx="3242257" cy="1588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매월 1일 03:00 KST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DART corp_code XML → 상장주 상위 800종목 추출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동시 10개 병렬 API 요청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5% 이상 대량보유 종목 중 수집 대상 투자자 매칭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기존 보유와 비교 → 변동 유형 계산 → DB upsert</a:t>
              </a:r>
            </a:p>
          </p:txBody>
        </p:sp>
      </p:grpSp>
      <p:sp>
        <p:nvSpPr>
          <p:cNvPr id="966" name="TextBox 5"/>
          <p:cNvSpPr txBox="1"/>
          <p:nvPr/>
        </p:nvSpPr>
        <p:spPr>
          <a:xfrm>
            <a:off x="466343" y="308974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UI — 변동 배지</a:t>
            </a:r>
          </a:p>
        </p:txBody>
      </p:sp>
      <p:graphicFrame>
        <p:nvGraphicFramePr>
          <p:cNvPr id="967" name="Table 6"/>
          <p:cNvGraphicFramePr/>
          <p:nvPr/>
        </p:nvGraphicFramePr>
        <p:xfrm>
          <a:off x="457200" y="3479886"/>
          <a:ext cx="11274553" cy="291131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59803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신규편입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이번 분기 처음 매수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비중확대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분기 대비 주식 수 증가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비중축소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분기 대비 주식 수 감소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청산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이번 분기에서 제거된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0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1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8. 실제 업무를 어떻게 했는가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6" name="TextBox 2"/>
          <p:cNvSpPr txBox="1"/>
          <p:nvPr/>
        </p:nvSpPr>
        <p:spPr>
          <a:xfrm>
            <a:off x="457200" y="237236"/>
            <a:ext cx="10058400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 · OKR · Slack (1/2)</a:t>
            </a:r>
          </a:p>
        </p:txBody>
      </p:sp>
      <p:sp>
        <p:nvSpPr>
          <p:cNvPr id="97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#34</a:t>
            </a:r>
          </a:p>
        </p:txBody>
      </p:sp>
      <p:sp>
        <p:nvSpPr>
          <p:cNvPr id="978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 커밋 컨벤션 &amp; PR 워크플로우</a:t>
            </a:r>
          </a:p>
        </p:txBody>
      </p:sp>
      <p:grpSp>
        <p:nvGrpSpPr>
          <p:cNvPr id="981" name="Rectangle 5"/>
          <p:cNvGrpSpPr/>
          <p:nvPr/>
        </p:nvGrpSpPr>
        <p:grpSpPr>
          <a:xfrm>
            <a:off x="457198" y="1894700"/>
            <a:ext cx="11274556" cy="441963"/>
            <a:chOff x="0" y="0"/>
            <a:chExt cx="11274555" cy="441962"/>
          </a:xfrm>
        </p:grpSpPr>
        <p:sp>
          <p:nvSpPr>
            <p:cNvPr id="979" name="직사각형"/>
            <p:cNvSpPr/>
            <p:nvPr/>
          </p:nvSpPr>
          <p:spPr>
            <a:xfrm>
              <a:off x="-1" y="-1"/>
              <a:ext cx="11274556" cy="44196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0" name="upstream (EDDI-RobotAcademy)  →  origin (개인 fork)  →  PR  →  Merge commit"/>
            <p:cNvSpPr txBox="1"/>
            <p:nvPr/>
          </p:nvSpPr>
          <p:spPr>
            <a:xfrm>
              <a:off x="45719" y="49918"/>
              <a:ext cx="5827113" cy="3421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>
              <a:lvl1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lvl1pPr>
            </a:lstStyle>
            <a:p>
              <a:pPr/>
              <a:r>
                <a:t>upstream (EDDI-RobotAcademy)  →  origin (개인 fork)  →  PR  →  Merge commit</a:t>
              </a:r>
            </a:p>
          </p:txBody>
        </p:sp>
      </p:grpSp>
      <p:sp>
        <p:nvSpPr>
          <p:cNvPr id="982" name="TextBox 6"/>
          <p:cNvSpPr txBox="1"/>
          <p:nvPr/>
        </p:nvSpPr>
        <p:spPr>
          <a:xfrm>
            <a:off x="457198" y="2780513"/>
            <a:ext cx="11274556" cy="1088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main 직접 푸시 금지 — 항상 PR 워크플로우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Merge commit (squash 금지 — 원본 커밋 SHA 보존)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Conventional Commits: feat / fix / refactor / docs / chore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머지 후 fork sync: git fetch upstream &amp;&amp; git merge --ff-only upstream/main</a:t>
            </a:r>
          </a:p>
        </p:txBody>
      </p:sp>
      <p:sp>
        <p:nvSpPr>
          <p:cNvPr id="983" name="TextBox 7"/>
          <p:cNvSpPr txBox="1"/>
          <p:nvPr/>
        </p:nvSpPr>
        <p:spPr>
          <a:xfrm>
            <a:off x="457198" y="4140797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실제 PR 사례</a:t>
            </a:r>
          </a:p>
        </p:txBody>
      </p:sp>
      <p:graphicFrame>
        <p:nvGraphicFramePr>
          <p:cNvPr id="984" name="Table 8"/>
          <p:cNvGraphicFramePr/>
          <p:nvPr/>
        </p:nvGraphicFramePr>
        <p:xfrm>
          <a:off x="457200" y="4479533"/>
          <a:ext cx="11274553" cy="194543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335858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#93 (김세진)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sentiment 도메인 신설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+1,727/-14, 44 files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#106 (김세진)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자동 collect + Redis 캐시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+592 lines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(김영진)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 확대 + Source Tier + On-demand 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40+ files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(김민규)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History + Causality Agent + Dashboard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대규모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(이민영)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watchlist + KRX + 글로벌 포트폴리오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대규모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9" name="TextBox 2"/>
          <p:cNvSpPr txBox="1"/>
          <p:nvPr/>
        </p:nvSpPr>
        <p:spPr>
          <a:xfrm>
            <a:off x="457200" y="237236"/>
            <a:ext cx="10058400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 · OKR · Slack (2/2)</a:t>
            </a:r>
          </a:p>
        </p:txBody>
      </p:sp>
      <p:sp>
        <p:nvSpPr>
          <p:cNvPr id="99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#34</a:t>
            </a:r>
          </a:p>
        </p:txBody>
      </p:sp>
      <p:graphicFrame>
        <p:nvGraphicFramePr>
          <p:cNvPr id="991" name="Table 4"/>
          <p:cNvGraphicFramePr/>
          <p:nvPr/>
        </p:nvGraphicFramePr>
        <p:xfrm>
          <a:off x="457200" y="1005838"/>
          <a:ext cx="11274553" cy="428124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56076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Key Result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 에이전트 통합 분석 (News · Disclosure · Finance)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한국 + 미국 시장 동일 UI/UX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Source Tier 4단계 + 섹터 오버라이드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Sentiment 에이전트 신설 + 메인 통합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거시 경제 현황판 + 시장 위험도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히스토리·인과관계 대시보드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Watchlist + Smart Money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2" name="TextBox 5"/>
          <p:cNvSpPr txBox="1"/>
          <p:nvPr/>
        </p:nvSpPr>
        <p:spPr>
          <a:xfrm>
            <a:off x="466343" y="5383943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Slack 협업</a:t>
            </a:r>
          </a:p>
        </p:txBody>
      </p:sp>
      <p:sp>
        <p:nvSpPr>
          <p:cNvPr id="993" name="TextBox 6"/>
          <p:cNvSpPr txBox="1"/>
          <p:nvPr/>
        </p:nvSpPr>
        <p:spPr>
          <a:xfrm>
            <a:off x="457198" y="5816092"/>
            <a:ext cx="11274556" cy="547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채널: #general #dev-backend #dev-frontend #design-architecture #bugs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실제 사례 — "영진 sentiment 빈 결과 공유 → 김세진 자동 collect + 캐시 추가 커밋으로 즉시 해결"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6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7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9. 라이브 시연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2" name="TextBox 2"/>
          <p:cNvSpPr txBox="1"/>
          <p:nvPr/>
        </p:nvSpPr>
        <p:spPr>
          <a:xfrm>
            <a:off x="457200" y="237236"/>
            <a:ext cx="10058400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100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#37</a:t>
            </a:r>
          </a:p>
        </p:txBody>
      </p:sp>
      <p:sp>
        <p:nvSpPr>
          <p:cNvPr id="1004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시연 시나리오</a:t>
            </a:r>
          </a:p>
        </p:txBody>
      </p:sp>
      <p:sp>
        <p:nvSpPr>
          <p:cNvPr id="1005" name="TextBox 5"/>
          <p:cNvSpPr txBox="1"/>
          <p:nvPr/>
        </p:nvSpPr>
        <p:spPr>
          <a:xfrm>
            <a:off x="457198" y="1524001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① 종목 분석 — 한국 종목 (삼성전자 005930)</a:t>
            </a:r>
          </a:p>
        </p:txBody>
      </p:sp>
      <p:sp>
        <p:nvSpPr>
          <p:cNvPr id="1006" name="TextBox 6"/>
          <p:cNvSpPr txBox="1"/>
          <p:nvPr/>
        </p:nvSpPr>
        <p:spPr>
          <a:xfrm>
            <a:off x="457198" y="1830833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5개 에이전트 병렬 분석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통합 시그널 + 사업개요 카드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Source Tier 분포 확인</a:t>
            </a:r>
          </a:p>
        </p:txBody>
      </p:sp>
      <p:sp>
        <p:nvSpPr>
          <p:cNvPr id="1007" name="TextBox 7"/>
          <p:cNvSpPr txBox="1"/>
          <p:nvPr/>
        </p:nvSpPr>
        <p:spPr>
          <a:xfrm>
            <a:off x="457198" y="2605023"/>
            <a:ext cx="11274556" cy="26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종목 분석 — 미국 종목 (AAPL)</a:t>
            </a:r>
          </a:p>
        </p:txBody>
      </p:sp>
      <p:sp>
        <p:nvSpPr>
          <p:cNvPr id="1008" name="TextBox 8"/>
          <p:cNvSpPr txBox="1"/>
          <p:nvPr/>
        </p:nvSpPr>
        <p:spPr>
          <a:xfrm>
            <a:off x="457198" y="2911856"/>
            <a:ext cx="11274556" cy="544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영어 뉴스 + yfinance 분기 EPS + SEC 8-K filing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동일 UI/UX로 동일하게 표시</a:t>
            </a:r>
          </a:p>
        </p:txBody>
      </p:sp>
      <p:sp>
        <p:nvSpPr>
          <p:cNvPr id="1009" name="TextBox 9"/>
          <p:cNvSpPr txBox="1"/>
          <p:nvPr/>
        </p:nvSpPr>
        <p:spPr>
          <a:xfrm>
            <a:off x="457198" y="3470655"/>
            <a:ext cx="11274556" cy="26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③ 엔터 섹터 — HYBE (352820)</a:t>
            </a:r>
          </a:p>
        </p:txBody>
      </p:sp>
      <p:sp>
        <p:nvSpPr>
          <p:cNvPr id="1010" name="TextBox 10"/>
          <p:cNvSpPr txBox="1"/>
          <p:nvPr/>
        </p:nvSpPr>
        <p:spPr>
          <a:xfrm>
            <a:off x="457198" y="3777489"/>
            <a:ext cx="11274556" cy="544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YouTube · X · Instagram 출처가 MEDIUM으로 승격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섹터 오버라이드가 시그널에 반영</a:t>
            </a:r>
          </a:p>
        </p:txBody>
      </p:sp>
      <p:sp>
        <p:nvSpPr>
          <p:cNvPr id="1011" name="TextBox 11"/>
          <p:cNvSpPr txBox="1"/>
          <p:nvPr/>
        </p:nvSpPr>
        <p:spPr>
          <a:xfrm>
            <a:off x="457198" y="4336289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④ Smart Money 대시보드</a:t>
            </a:r>
          </a:p>
        </p:txBody>
      </p:sp>
      <p:sp>
        <p:nvSpPr>
          <p:cNvPr id="1012" name="TextBox 12"/>
          <p:cNvSpPr txBox="1"/>
          <p:nvPr/>
        </p:nvSpPr>
        <p:spPr>
          <a:xfrm>
            <a:off x="457198" y="4643121"/>
            <a:ext cx="11274556" cy="544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외국인 + 기관 집중 매수 종목 카드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Warren Buffett 포트폴리오 변동 (신규편입 / 비중확대)</a:t>
            </a:r>
          </a:p>
        </p:txBody>
      </p:sp>
      <p:sp>
        <p:nvSpPr>
          <p:cNvPr id="1013" name="TextBox 13"/>
          <p:cNvSpPr txBox="1"/>
          <p:nvPr/>
        </p:nvSpPr>
        <p:spPr>
          <a:xfrm>
            <a:off x="457198" y="5201921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⑤ 히스토리·인과관계 대시보드</a:t>
            </a:r>
          </a:p>
        </p:txBody>
      </p:sp>
      <p:sp>
        <p:nvSpPr>
          <p:cNvPr id="1014" name="TextBox 14"/>
          <p:cNvSpPr txBox="1"/>
          <p:nvPr/>
        </p:nvSpPr>
        <p:spPr>
          <a:xfrm>
            <a:off x="457198" y="5508753"/>
            <a:ext cx="11274556" cy="547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NASDAQ 차트 + 이상치 마커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마커 클릭 → 원인 가설 자동 생성 (LLM)</a:t>
            </a:r>
          </a:p>
        </p:txBody>
      </p:sp>
      <p:sp>
        <p:nvSpPr>
          <p:cNvPr id="1015" name="TextBox 15"/>
          <p:cNvSpPr txBox="1"/>
          <p:nvPr/>
        </p:nvSpPr>
        <p:spPr>
          <a:xfrm>
            <a:off x="457198" y="6067553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⑥ Redis 분산 락 데모</a:t>
            </a:r>
          </a:p>
        </p:txBody>
      </p:sp>
      <p:sp>
        <p:nvSpPr>
          <p:cNvPr id="1016" name="TextBox 16"/>
          <p:cNvSpPr txBox="1"/>
          <p:nvPr/>
        </p:nvSpPr>
        <p:spPr>
          <a:xfrm>
            <a:off x="457198" y="6374385"/>
            <a:ext cx="11274556" cy="26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• 동일 종목 동시 5개 요청 → DART 1회만 호출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1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2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10. 3·4차 프로젝트 소감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7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학습한 사항 및 개인 소감</a:t>
            </a:r>
          </a:p>
        </p:txBody>
      </p:sp>
      <p:sp>
        <p:nvSpPr>
          <p:cNvPr id="1028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#38</a:t>
            </a:r>
          </a:p>
        </p:txBody>
      </p:sp>
      <p:graphicFrame>
        <p:nvGraphicFramePr>
          <p:cNvPr id="1029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70866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김영진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AI 멀티 에이전트를 직접 구현해보는 재밌고 유익한 시간이었습니다.</a:t>
                      </a:r>
                    </a:p>
                    <a:p>
                      <a:pPr algn="l">
                        <a:def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팀원 분들이 다 잘 따라주셔서 팀장으로써 뿌듯했고 다음 기회에 또 팀으로 만날 기회가 있으면 그때도 같이 팀 해요^^ 감사합니다.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김세진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문우성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김민규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ym typeface="Helvetica"/>
                        </a:rPr>
                        <a:t>데이터의 품질을 높이고 유의미하도록 만드는게 생각보다 어려웠고 처음에 생각했을 때 이상적으로 생각했던 부분이 막상 구현하고나니 이게 왜 필요할까? 라는 본질을 계속 고민하게되는 시간이었습니다.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이민영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이지은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정우진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4" name="TextBox 2"/>
          <p:cNvSpPr txBox="1"/>
          <p:nvPr/>
        </p:nvSpPr>
        <p:spPr>
          <a:xfrm>
            <a:off x="457198" y="2242819"/>
            <a:ext cx="11247123" cy="1183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7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035" name="TextBox 3"/>
          <p:cNvSpPr txBox="1"/>
          <p:nvPr/>
        </p:nvSpPr>
        <p:spPr>
          <a:xfrm>
            <a:off x="457198" y="3657600"/>
            <a:ext cx="11247123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Q &amp; A</a:t>
            </a:r>
          </a:p>
        </p:txBody>
      </p:sp>
      <p:sp>
        <p:nvSpPr>
          <p:cNvPr id="1036" name="TextBox 4"/>
          <p:cNvSpPr txBox="1"/>
          <p:nvPr/>
        </p:nvSpPr>
        <p:spPr>
          <a:xfrm>
            <a:off x="457198" y="5029200"/>
            <a:ext cx="11247123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400">
                <a:solidFill>
                  <a:srgbClr val="88AAC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GitHub: EDDI-RobotAcademy/antelligen-backend · antelligen-frontend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