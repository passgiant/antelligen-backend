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061" autoAdjust="0"/>
  </p:normalViewPr>
  <p:slideViewPr>
    <p:cSldViewPr snapToGrid="0" snapToObjects="1">
      <p:cViewPr varScale="1">
        <p:scale>
          <a:sx n="95" d="100"/>
          <a:sy n="95" d="100"/>
        </p:scale>
        <p:origin x="115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362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안녕하세요</a:t>
            </a:r>
            <a:r>
              <a:rPr dirty="0"/>
              <a:t>, </a:t>
            </a:r>
            <a:r>
              <a:rPr dirty="0" err="1"/>
              <a:t>저희</a:t>
            </a:r>
            <a:r>
              <a:rPr dirty="0"/>
              <a:t> 팀 </a:t>
            </a:r>
            <a:r>
              <a:rPr dirty="0" err="1"/>
              <a:t>Antelligen</a:t>
            </a:r>
            <a:r>
              <a:rPr dirty="0"/>
              <a:t> </a:t>
            </a:r>
            <a:r>
              <a:rPr dirty="0" err="1"/>
              <a:t>발표를</a:t>
            </a:r>
            <a:r>
              <a:rPr dirty="0"/>
              <a:t> </a:t>
            </a:r>
            <a:r>
              <a:rPr dirty="0" err="1"/>
              <a:t>시작하겠습니다</a:t>
            </a:r>
            <a:r>
              <a:rPr dirty="0"/>
              <a:t>.</a:t>
            </a:r>
          </a:p>
          <a:p>
            <a:r>
              <a:rPr dirty="0" err="1"/>
              <a:t>Antelligen은</a:t>
            </a:r>
            <a:r>
              <a:rPr dirty="0"/>
              <a:t> AI </a:t>
            </a:r>
            <a:r>
              <a:rPr dirty="0" err="1"/>
              <a:t>멀티</a:t>
            </a:r>
            <a:r>
              <a:rPr dirty="0"/>
              <a:t> </a:t>
            </a:r>
            <a:r>
              <a:rPr dirty="0" err="1"/>
              <a:t>에이전트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투자</a:t>
            </a:r>
            <a:r>
              <a:rPr dirty="0"/>
              <a:t> </a:t>
            </a:r>
            <a:r>
              <a:rPr dirty="0" err="1"/>
              <a:t>인텔리전스</a:t>
            </a:r>
            <a:r>
              <a:rPr dirty="0"/>
              <a:t> </a:t>
            </a:r>
            <a:r>
              <a:rPr dirty="0" err="1"/>
              <a:t>플랫폼입니다</a:t>
            </a:r>
            <a:r>
              <a:rPr dirty="0"/>
              <a:t>.</a:t>
            </a:r>
          </a:p>
          <a:p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메시지는</a:t>
            </a:r>
            <a:r>
              <a:rPr dirty="0"/>
              <a:t> '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대신</a:t>
            </a:r>
            <a:r>
              <a:rPr dirty="0"/>
              <a:t> </a:t>
            </a:r>
            <a:r>
              <a:rPr dirty="0" err="1"/>
              <a:t>투자하는</a:t>
            </a:r>
            <a:r>
              <a:rPr dirty="0"/>
              <a:t> </a:t>
            </a:r>
            <a:r>
              <a:rPr dirty="0" err="1"/>
              <a:t>시대가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</a:t>
            </a:r>
            <a:r>
              <a:rPr dirty="0" err="1"/>
              <a:t>AI의</a:t>
            </a:r>
            <a:r>
              <a:rPr dirty="0"/>
              <a:t> </a:t>
            </a:r>
            <a:r>
              <a:rPr dirty="0" err="1"/>
              <a:t>판단을</a:t>
            </a:r>
            <a:r>
              <a:rPr dirty="0"/>
              <a:t> </a:t>
            </a:r>
            <a:r>
              <a:rPr dirty="0" err="1"/>
              <a:t>사람이</a:t>
            </a:r>
            <a:r>
              <a:rPr dirty="0"/>
              <a:t> </a:t>
            </a:r>
            <a:r>
              <a:rPr dirty="0" err="1"/>
              <a:t>검증하고</a:t>
            </a:r>
            <a:r>
              <a:rPr dirty="0"/>
              <a:t> </a:t>
            </a:r>
            <a:r>
              <a:rPr dirty="0" err="1"/>
              <a:t>통제하는</a:t>
            </a:r>
            <a:r>
              <a:rPr dirty="0"/>
              <a:t> </a:t>
            </a:r>
            <a:r>
              <a:rPr dirty="0" err="1"/>
              <a:t>구조'입니다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단일</a:t>
            </a:r>
            <a:r>
              <a:rPr dirty="0"/>
              <a:t> LLM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서비스는</a:t>
            </a:r>
            <a:r>
              <a:rPr dirty="0"/>
              <a:t> </a:t>
            </a:r>
            <a:r>
              <a:rPr dirty="0" err="1"/>
              <a:t>복잡한</a:t>
            </a:r>
            <a:r>
              <a:rPr dirty="0"/>
              <a:t> </a:t>
            </a:r>
            <a:r>
              <a:rPr dirty="0" err="1"/>
              <a:t>문제를</a:t>
            </a:r>
            <a:r>
              <a:rPr dirty="0"/>
              <a:t> </a:t>
            </a:r>
            <a:r>
              <a:rPr dirty="0" err="1"/>
              <a:t>체계적으로</a:t>
            </a:r>
            <a:r>
              <a:rPr dirty="0"/>
              <a:t> </a:t>
            </a:r>
            <a:r>
              <a:rPr dirty="0" err="1"/>
              <a:t>분해하지</a:t>
            </a:r>
            <a:r>
              <a:rPr dirty="0"/>
              <a:t> </a:t>
            </a:r>
            <a:r>
              <a:rPr dirty="0" err="1"/>
              <a:t>못하고</a:t>
            </a:r>
            <a:r>
              <a:rPr dirty="0"/>
              <a:t> 한 </a:t>
            </a:r>
            <a:r>
              <a:rPr dirty="0" err="1"/>
              <a:t>모델에</a:t>
            </a:r>
            <a:r>
              <a:rPr dirty="0"/>
              <a:t> </a:t>
            </a:r>
            <a:r>
              <a:rPr dirty="0" err="1"/>
              <a:t>과도하게</a:t>
            </a:r>
            <a:r>
              <a:rPr dirty="0"/>
              <a:t> </a:t>
            </a:r>
            <a:r>
              <a:rPr dirty="0" err="1"/>
              <a:t>의존합니다</a:t>
            </a:r>
            <a:r>
              <a:rPr dirty="0"/>
              <a:t>.</a:t>
            </a:r>
          </a:p>
          <a:p>
            <a:r>
              <a:rPr dirty="0" err="1"/>
              <a:t>현실의</a:t>
            </a:r>
            <a:r>
              <a:rPr dirty="0"/>
              <a:t> </a:t>
            </a:r>
            <a:r>
              <a:rPr dirty="0" err="1"/>
              <a:t>의사결정은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수집·분석·판단·추천이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전문가</a:t>
            </a:r>
            <a:r>
              <a:rPr dirty="0"/>
              <a:t> </a:t>
            </a:r>
            <a:r>
              <a:rPr dirty="0" err="1"/>
              <a:t>협업으로</a:t>
            </a:r>
            <a:r>
              <a:rPr dirty="0"/>
              <a:t> </a:t>
            </a:r>
            <a:r>
              <a:rPr dirty="0" err="1"/>
              <a:t>이루어집니다</a:t>
            </a:r>
            <a:r>
              <a:rPr dirty="0"/>
              <a:t>.</a:t>
            </a:r>
          </a:p>
          <a:p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역할별로</a:t>
            </a:r>
            <a:r>
              <a:rPr dirty="0"/>
              <a:t> </a:t>
            </a:r>
            <a:r>
              <a:rPr dirty="0" err="1"/>
              <a:t>분리된</a:t>
            </a:r>
            <a:r>
              <a:rPr dirty="0"/>
              <a:t> </a:t>
            </a:r>
            <a:r>
              <a:rPr dirty="0" err="1"/>
              <a:t>에이전트가</a:t>
            </a:r>
            <a:r>
              <a:rPr dirty="0"/>
              <a:t> </a:t>
            </a:r>
            <a:r>
              <a:rPr dirty="0" err="1"/>
              <a:t>협업하는</a:t>
            </a:r>
            <a:r>
              <a:rPr dirty="0"/>
              <a:t> </a:t>
            </a:r>
            <a:r>
              <a:rPr dirty="0" err="1"/>
              <a:t>구조가</a:t>
            </a:r>
            <a:r>
              <a:rPr dirty="0"/>
              <a:t> </a:t>
            </a:r>
            <a:r>
              <a:rPr dirty="0" err="1"/>
              <a:t>필요했습니다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5가지 목표를 중심으로 설계했습니다 — 구조적 AI 시스템, 확장 가능한 아키텍처, 현실적 협업 흐름, 사용자 맞춤 분석, 자동화·효율성.</a:t>
            </a:r>
          </a:p>
          <a:p>
            <a:r>
              <a:t>결국 '여러 AI가 협업해서 문제를 해결하는 새로운 구조'를 만드는 게 우리 목표였습니다.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글로벌 AI 에이전트 시장은 2025년 76억 달러에서 2033년 1,820억 달러로 연 50% 성장 전망입니다.</a:t>
            </a:r>
          </a:p>
          <a:p>
            <a:r>
              <a:t>국내 BFSI는 AI 도입이 가장 활발한 산업이고, 우리의 SOM은 중소기업과 개인 투자자입니다.</a:t>
            </a:r>
          </a:p>
          <a:p>
            <a:r>
              <a:t>클라우드 기반 웹서비스가 핵심 수익 모델이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MAS를 도입하려는 고객은 세 가지 문제로 망설입니다 — 가시성·비용 통제·거버넌스.</a:t>
            </a:r>
          </a:p>
          <a:p>
            <a:r>
              <a:t>특히 금융에서는 '신뢰와 통제가 없는 AI는 실패한다'는 게 핵심 인사이트입니다.</a:t>
            </a:r>
          </a:p>
          <a:p>
            <a:r>
              <a:t>이 세 가지를 해결하는 게 Antelligen의 출발점이었습니다.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데이터 신뢰도와 커버리지 문제 5가지를 해결했습니다.</a:t>
            </a:r>
          </a:p>
          <a:p>
            <a:r>
              <a:t>뉴스 8종목 제한을 풀고, 미국 주식까지 확장했고, 잠정실적까지 반영했습니다.</a:t>
            </a:r>
          </a:p>
          <a:p>
            <a:r>
              <a:t>출처별 가중치와 섹터 오버라이드로 신호 품질을 메타데이터로 표현했다는 점이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운영·비용·UX 측면 6가지 문제도 정리했습니다 — quota·동시성·응답 지연·맥락 부족·부분 실패·Explainability.</a:t>
            </a:r>
          </a:p>
          <a:p>
            <a:r>
              <a:t>여기서 도출한 6대 해결 원칙이 저희 설계 철학입니다.</a:t>
            </a:r>
          </a:p>
          <a:p>
            <a:r>
              <a:t>특히 '부분 실패는 기능, 전체 실패는 버그'와 '거버넌스는 사전 설계' 두 원칙은 코드 전반에 일관되게 적용했습니다.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기술 프레임워크 경쟁자는 CrewAI·AutoGen·LangGraph·LlamaIndex가 있고, 서비스형은 Lindy·AutoGPT가 있습니다.</a:t>
            </a:r>
          </a:p>
          <a:p>
            <a:r>
              <a:t>하지만 'AI 빌더'와 '트레이딩 도구'는 많아도, 검증 가능한 의사결정 과정을 제공하는 서비스는 거의 없습니다.</a:t>
            </a:r>
          </a:p>
          <a:p>
            <a:r>
              <a:t>이 빈 자리가 우리의 기회입니다.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차별화는 신뢰성·데이터 통합·UX 세 축입니다.</a:t>
            </a:r>
          </a:p>
          <a:p>
            <a:r>
              <a:t>Tracing·Source Tier·Audit Trail로 거버넌스를 강화했고, 5개 멀티 에이전트로 한국·미국 데이터를 통합했습니다.</a:t>
            </a:r>
          </a:p>
          <a:p>
            <a:r>
              <a:t>결론은 '투자 결과가 아니라, 검증 가능한 의사결정 과정과 안전한 실행 구조를 제공하는 서비스가 시장 승자가 된다'입니다.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1차 타겟은 '왜 떨어졌지?'를 검색하는 개인 투자자, 2차는 신입 애널리스트와 콘텐츠 크리에이터입니다.</a:t>
            </a:r>
          </a:p>
          <a:p>
            <a:r>
              <a:t>블룸버그는 월 200만 원이 넘지만, 한국 공시 중심으로 합리적 가격에 제공합니다.</a:t>
            </a:r>
          </a:p>
          <a:p>
            <a:r>
              <a:t>초기엔 웹, 다음 PWA, 마지막에 모바일 앱 순으로 진입합니다.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KPI는 사용량·품질·비용 효율·사업성 네 축으로 봅니다.</a:t>
            </a:r>
          </a:p>
          <a:p>
            <a:r>
              <a:t>MAU 30~50명에서 1만 명까지, 응답 속도 8초에서 3초까지, 분석 비용 200원에서 50원까지가 목표입니다.</a:t>
            </a:r>
          </a:p>
          <a:p>
            <a:r>
              <a:t>1차 마일스톤은 유료 전환율 3%, 월 매출 100만 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서비스 확장은 다섯 방향입니다 — 시장·자산 확장, 기능 확장, 분석 모듈 확장, 수익 모델, 데이터 네트워크 효과.</a:t>
            </a:r>
          </a:p>
          <a:p>
            <a:r>
              <a:t>특히 데이터 네트워크 효과 — 사용자 행동 → 검증 사례 → 규칙 개선 → 정확도 향상 플라이휠입니다.</a:t>
            </a:r>
          </a:p>
          <a:p>
            <a:r>
              <a:t>1년만 운영하면 후발주자가 따라잡기 어려운 구조가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백엔드는 Python 3.13 + FastAPI + PostgreSQL + Redis 조합입니다.</a:t>
            </a:r>
          </a:p>
          <a:p>
            <a:r>
              <a:t>AI는 OpenAI·Anthropic을 LangChain·LangGraph·LangSmith로 묶었고, 시장 데이터는 yfinance·pykrx 등을 씁니다.</a:t>
            </a:r>
          </a:p>
          <a:p>
            <a:r>
              <a:t>프론트엔드는 Next.js 16과 React 19 기반입니다.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Clean Architecture 기반에 의존성은 항상 외부에서 내부로 향합니다.</a:t>
            </a:r>
          </a:p>
          <a:p>
            <a:r>
              <a:t>도메인 레이어는 순수 Python만 허용하고 FastAPI·SQLAlchemy·Redis 같은 외부 의존성은 일체 import 금지입니다.</a:t>
            </a:r>
          </a:p>
          <a:p>
            <a:r>
              <a:t>이 규칙을 CLAUDE.md로 강제하고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총 24개 도메인으로 구성됐습니다 — 사용자·시장·콘텐츠·통합 에이전트·커뮤니티 영역으로 나눠집니다.</a:t>
            </a:r>
          </a:p>
          <a:p>
            <a:r>
              <a:t>외부 연동은 11종 — OpenAI·DART·SEC·yfinance·FRED·SerpAPI·YouTube 등입니다.</a:t>
            </a:r>
          </a:p>
          <a:p>
            <a:r>
              <a:t>각 도메인은 독립적으로 개발·교체 가능한 구조입니다.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요청은 라우터에서 시작해서 Use Case와 Port를 거쳐 Repository나 External Client로 흘러갑니다.</a:t>
            </a:r>
          </a:p>
          <a:p>
            <a:r>
              <a:t>백그라운드 작업은 7종 — 공시 수집·뉴스 수집·KRX 순매수·NASDAQ·거시 리스크·SEC 13F·DART 등이 자동 실행됩니다.</a:t>
            </a:r>
          </a:p>
          <a:p>
            <a:r>
              <a:t>Redis 4시간 캐시로 매크로 스냅샷을 영속화해서 hot-reload 비용을 줄였습니다.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데이터 흐름은 다음과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31011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메인 에이전트는 5개 서브 에이전트를 병렬로 호출합니다 — News·Disclosure·Finance·Sentiment·Macro.</a:t>
            </a:r>
          </a:p>
          <a:p>
            <a:r>
              <a:t>asyncio.gather로 부분 실패를 허용하고, Postgres 1시간 + Redis 7일 이중 캐시를 씁니다.</a:t>
            </a:r>
          </a:p>
          <a:p>
            <a:r>
              <a:t>최종 출력은 Bullish/Neutral/Bearish + Confidence입니다.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출처 신뢰도는 4단계 — DART/SEC가 HIGH, 글로벌 IB가 MEDIUM, 국내 IB가 MEDIUM_LOW, SNS가 LOW입니다.</a:t>
            </a:r>
          </a:p>
          <a:p>
            <a:r>
              <a:t>엔터테인먼트 섹터는 SNS가 본질이라서 LOW를 MEDIUM으로 자동 승격하는 오버라이드를 넣었습니다.</a:t>
            </a:r>
          </a:p>
          <a:p>
            <a:r>
              <a:t>weighted_score = score × confidence × tier_multiplier로 계산합니다.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캐시 TTL은 도메인 진실성을 코드로 표현한 겁니다 — 매크로 4시간, 회사 1일, 사업개요 7일.</a:t>
            </a:r>
          </a:p>
          <a:p>
            <a:r>
              <a:t>동시 요청은 Redis SET NX EX로 atomic 분산 락을 걸어 처리합니다.</a:t>
            </a:r>
          </a:p>
          <a:p>
            <a:r>
              <a:t>asyncio.gather(return_exceptions=True)로 1개 죽어도 나머지로 시그널을 산출합니다.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팀은 7명입니다 — 김영진·김세진·문우성·김민규·이민영이 개발을 맡았고, 이지은·정우진은 외부 시점 피드백을 주셨습니다.</a:t>
            </a:r>
          </a:p>
          <a:p>
            <a:r>
              <a:t>각자 담당 영역과 핵심 작업, 테크 역량은 표에 정리되어 있습니다.</a:t>
            </a:r>
          </a:p>
          <a:p>
            <a:r>
              <a:t>GitHub Fork &amp; PR 워크플로우와 CLAUDE.md로 도메인 규약을 공유했습니다.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Github은</a:t>
            </a:r>
            <a:r>
              <a:rPr dirty="0"/>
              <a:t> Fork &amp; PR </a:t>
            </a:r>
            <a:r>
              <a:rPr dirty="0" err="1"/>
              <a:t>워크플로우로</a:t>
            </a:r>
            <a:r>
              <a:rPr dirty="0"/>
              <a:t>, Merge </a:t>
            </a:r>
            <a:r>
              <a:rPr dirty="0" err="1"/>
              <a:t>commit으로</a:t>
            </a:r>
            <a:r>
              <a:rPr dirty="0"/>
              <a:t> </a:t>
            </a:r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SHA를</a:t>
            </a:r>
            <a:r>
              <a:rPr dirty="0"/>
              <a:t> </a:t>
            </a:r>
            <a:r>
              <a:rPr dirty="0" err="1"/>
              <a:t>보존했습니다</a:t>
            </a:r>
            <a:r>
              <a:rPr dirty="0"/>
              <a:t>.</a:t>
            </a:r>
          </a:p>
          <a:p>
            <a:r>
              <a:rPr dirty="0" err="1"/>
              <a:t>OKR은</a:t>
            </a:r>
            <a:r>
              <a:rPr dirty="0"/>
              <a:t> 7개 </a:t>
            </a:r>
            <a:r>
              <a:rPr dirty="0" err="1"/>
              <a:t>KR을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달성했습니다</a:t>
            </a:r>
            <a:r>
              <a:rPr dirty="0"/>
              <a:t> —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분석·미국</a:t>
            </a:r>
            <a:r>
              <a:rPr dirty="0"/>
              <a:t> </a:t>
            </a:r>
            <a:r>
              <a:rPr dirty="0" err="1"/>
              <a:t>시장·Source</a:t>
            </a:r>
            <a:r>
              <a:rPr dirty="0"/>
              <a:t> </a:t>
            </a:r>
            <a:r>
              <a:rPr dirty="0" err="1"/>
              <a:t>Tier·Sentiment·거시·히스토리·Watchlist</a:t>
            </a:r>
            <a:r>
              <a:rPr dirty="0"/>
              <a:t>.</a:t>
            </a:r>
          </a:p>
          <a:p>
            <a:r>
              <a:rPr dirty="0" err="1"/>
              <a:t>Slack에서</a:t>
            </a:r>
            <a:r>
              <a:rPr dirty="0"/>
              <a:t> </a:t>
            </a:r>
            <a:r>
              <a:rPr dirty="0" err="1"/>
              <a:t>영진님</a:t>
            </a:r>
            <a:r>
              <a:rPr dirty="0"/>
              <a:t> sentiment 빈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공유</a:t>
            </a:r>
            <a:r>
              <a:rPr dirty="0"/>
              <a:t> → </a:t>
            </a:r>
            <a:r>
              <a:rPr dirty="0" err="1"/>
              <a:t>김세진</a:t>
            </a:r>
            <a:r>
              <a:rPr lang="ko-KR" altLang="en-US" dirty="0"/>
              <a:t>님</a:t>
            </a:r>
            <a:r>
              <a:rPr dirty="0"/>
              <a:t>이 </a:t>
            </a:r>
            <a:r>
              <a:rPr dirty="0" err="1"/>
              <a:t>자동</a:t>
            </a:r>
            <a:r>
              <a:rPr dirty="0"/>
              <a:t> collect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커밋으로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해결한</a:t>
            </a:r>
            <a:r>
              <a:rPr dirty="0"/>
              <a:t> </a:t>
            </a:r>
            <a:r>
              <a:rPr dirty="0" err="1"/>
              <a:t>사례가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기능 4가지를 먼저 보여드리겠습니다 — 종합 종목 분석, 히스토리·인과관계 대시보드, Smart Money 자금 흐름, 글로벌 포트폴리오.</a:t>
            </a:r>
          </a:p>
          <a:p>
            <a:r>
              <a:t>Smart Money는 외국인·기관·개인 순매수와 13F 글로벌 19명, DART 국내 10명을 모두 추적합니다.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나머지 5가지 기능 — Sentiment 감정 분석, 거시 경제 현황판, 관심 종목 개인화, 회사 프로필, 카카오 OAuth입니다.</a:t>
            </a:r>
          </a:p>
          <a:p>
            <a:r>
              <a:t>관심 종목을 등록하면 뉴스와 유튜브 페이지가 자동으로 개인화됩니다.</a:t>
            </a:r>
          </a:p>
          <a:p>
            <a:r>
              <a:t>회사 프로필은 ETF·INDEX도 동일한 카드 형식으로 제공됩니다.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이제</a:t>
            </a:r>
            <a:r>
              <a:rPr dirty="0"/>
              <a:t> </a:t>
            </a:r>
            <a:r>
              <a:rPr dirty="0" err="1"/>
              <a:t>라이브</a:t>
            </a:r>
            <a:r>
              <a:rPr dirty="0"/>
              <a:t> </a:t>
            </a:r>
            <a:r>
              <a:rPr dirty="0" err="1"/>
              <a:t>데모로</a:t>
            </a:r>
            <a:r>
              <a:rPr dirty="0"/>
              <a:t> </a:t>
            </a:r>
            <a:r>
              <a:rPr dirty="0" err="1"/>
              <a:t>넘어</a:t>
            </a:r>
            <a:r>
              <a:rPr lang="ko-KR" altLang="en-US" dirty="0"/>
              <a:t>가겠습니다</a:t>
            </a:r>
            <a:r>
              <a:rPr lang="en-US" altLang="ko-KR" dirty="0"/>
              <a:t>.</a:t>
            </a:r>
            <a:endParaRPr dirty="0"/>
          </a:p>
          <a:p>
            <a:r>
              <a:rPr lang="ko-KR" altLang="en-US" dirty="0"/>
              <a:t>내비게이션 바의 항목들을 차례대로 보여드리겠습니다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이번</a:t>
            </a:r>
            <a:r>
              <a:rPr dirty="0"/>
              <a:t> </a:t>
            </a:r>
            <a:r>
              <a:rPr dirty="0" err="1"/>
              <a:t>프로젝트에서</a:t>
            </a:r>
            <a:r>
              <a:rPr dirty="0"/>
              <a:t> </a:t>
            </a:r>
            <a:r>
              <a:rPr dirty="0" err="1"/>
              <a:t>각자</a:t>
            </a:r>
            <a:r>
              <a:rPr dirty="0"/>
              <a:t> </a:t>
            </a:r>
            <a:r>
              <a:rPr dirty="0" err="1"/>
              <a:t>학습한</a:t>
            </a:r>
            <a:r>
              <a:rPr dirty="0"/>
              <a:t> </a:t>
            </a:r>
            <a:r>
              <a:rPr dirty="0" err="1"/>
              <a:t>것과</a:t>
            </a:r>
            <a:r>
              <a:rPr dirty="0"/>
              <a:t> </a:t>
            </a:r>
            <a:r>
              <a:rPr dirty="0" err="1"/>
              <a:t>소감을</a:t>
            </a:r>
            <a:r>
              <a:rPr dirty="0"/>
              <a:t> </a:t>
            </a:r>
            <a:r>
              <a:rPr dirty="0" err="1"/>
              <a:t>공유합니다</a:t>
            </a:r>
            <a:r>
              <a:rPr dirty="0"/>
              <a:t>.</a:t>
            </a:r>
            <a:endParaRPr lang="en-US" dirty="0"/>
          </a:p>
          <a:p>
            <a:r>
              <a:rPr lang="en-US" dirty="0"/>
              <a:t>---(</a:t>
            </a:r>
            <a:r>
              <a:rPr lang="ko-KR" altLang="en-US" dirty="0"/>
              <a:t>소감 몇 개 읽기</a:t>
            </a:r>
            <a:r>
              <a:rPr lang="en-US" altLang="ko-KR" dirty="0"/>
              <a:t>?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마지막으로</a:t>
            </a:r>
            <a:r>
              <a:rPr dirty="0"/>
              <a:t> </a:t>
            </a:r>
            <a:r>
              <a:rPr dirty="0" err="1"/>
              <a:t>각자</a:t>
            </a:r>
            <a:r>
              <a:rPr lang="ko-KR" altLang="en-US" dirty="0"/>
              <a:t>의 마무리 인사는 다음과 같습니다</a:t>
            </a:r>
            <a:r>
              <a:rPr lang="en-US" altLang="ko-KR" dirty="0"/>
              <a:t>.</a:t>
            </a:r>
          </a:p>
          <a:p>
            <a:r>
              <a:rPr lang="en-US" dirty="0"/>
              <a:t>---(</a:t>
            </a:r>
            <a:r>
              <a:rPr lang="ko-KR" altLang="en-US" dirty="0"/>
              <a:t>마무리 인사 몇 개 읽기</a:t>
            </a:r>
            <a:r>
              <a:rPr lang="en-US" altLang="ko-KR" dirty="0"/>
              <a:t>?</a:t>
            </a:r>
            <a:r>
              <a:rPr lang="en-US" dirty="0"/>
              <a:t>)</a:t>
            </a:r>
            <a:endParaRPr dirty="0"/>
          </a:p>
          <a:p>
            <a:r>
              <a:rPr dirty="0"/>
              <a:t>긴 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들어주셔서</a:t>
            </a:r>
            <a:r>
              <a:rPr dirty="0"/>
              <a:t> </a:t>
            </a:r>
            <a:r>
              <a:rPr dirty="0" err="1"/>
              <a:t>감사합니다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발표는</a:t>
            </a:r>
            <a:r>
              <a:rPr dirty="0"/>
              <a:t> </a:t>
            </a:r>
            <a:r>
              <a:rPr dirty="0" err="1"/>
              <a:t>여기까지입니다</a:t>
            </a:r>
            <a:r>
              <a:rPr dirty="0"/>
              <a:t>. </a:t>
            </a:r>
            <a:r>
              <a:rPr dirty="0" err="1"/>
              <a:t>질의응답</a:t>
            </a:r>
            <a:r>
              <a:rPr dirty="0"/>
              <a:t> </a:t>
            </a:r>
            <a:r>
              <a:rPr dirty="0" err="1"/>
              <a:t>받겠습니다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Malgun Gothic"/>
              </a:rPr>
              <a:t>Antelligen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0">
                <a:solidFill>
                  <a:srgbClr val="CCDDEE"/>
                </a:solidFill>
                <a:latin typeface="Malgun Gothic"/>
              </a:rPr>
              <a:t>AI Multi-Agent 기반 투자 인텔리전스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"AI가 대신 투자하는 시대가 아니라,
AI의 판단을 사람이 검증하고 통제하는 구조"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88AACC"/>
                </a:solidFill>
                <a:latin typeface="Malgun Gothic"/>
              </a:rPr>
              <a:t>발표일: 2026-05-02   |   팀: Antelligen (7인)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1. 문제 인식 (Problem)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개발 동기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왜 우리는 멀티 에이전트인가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580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단일 LLM 서비스의 구조적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4432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단일 LLM은 복잡한 문제를 체계적으로 분해하기 어렵다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데이터 수집·분석·의사결정이 하나의 모델에 과도 의존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다양한 도메인(주식·뉴스·SNS·재무) 통합 반영 불가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확장성·유지보수에서 구조적 한계 발생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581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현실의 의사결정은 협업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54448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정보 수집 → 분석 → 판단 → 추천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여러 전문가의 협업 형태로 이루어짐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기존 AI 시스템은 이를 반영 못 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6044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→ "역할별 AI 에이전트가 협업하는 구조" 가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개발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Antelligen의 5가지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812"/>
            <a:ext cx="11274552" cy="11318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구조적 AI 시스템 구축 — 데이터 수집·분석·의사결정 에이전트 협업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확장 가능한 아키텍처 — 새 기능 추가 시 기존 시스템 영향 최소화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현실적 협업 흐름 반영 — 사람의 업무 방식 그대로 AI 협업으로 구현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사용자 맞춤형 분석 — 개인 성향·관심 종목 기반 개인화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자동화·효율성 향상 — 반복 분석 자동화, 실시간 데이터 반영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6601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한 줄 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808573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"AI 간 협업을 통해 문제를 해결하는 새로운 서비스 구조"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TAM·SAM·SOM (시장 규모)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Total Addressable Market (TAM)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0507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글로벌 AI 에이전트 시장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3846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2025년: 약 76억 달러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2033년: 약 1,820억 달러 (≈ 240조 원)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연평균 성장률: 약 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94545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글로벌 예측 분석·의사결정 시장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7885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2030년: 약 823억 5천만 달러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3780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Serviceable Addressable Market (SAM)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52467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국내 AI 시장 — 2024년 54.7억 달러 → 2032년 538.7억 달러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BFSI(은행·금융·보험) — AI 도입 비중 가장 높은 산업군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주요 활용: 알고리즘 트레이딩 / 사기 탐지 / 위험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23167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Serviceable Obtainable Market (SOM)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37834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국내 금융 AI SW 비중 48.5% / 클라우드 성장률 34.9%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타겟 — 중소기업(SME) + 개인 투자자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클라우드 기반 AI 웹서비스가 핵심 수익 모델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고객의 핵심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MAS 도입 고객의 3대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628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① 가시성 / 디버깅 (Observability)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75408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멀티 에이전트 = 블랙박스화 / 실패 원인 파악 어려움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요구: Tracing · 의사결정 시각화 · Tool 사용 로그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0649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② 비용 통제 (Cost Control)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5616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토큰 비용 급증(Runaway Cost) / 비효율 에이전트 루프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요구: 비용 추적 · 예산 관리 · 작업 최적화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6705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③ 거버넌스 / 보안 (Governance)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95825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금융 데이터 민감성 / PII 유출 / Prompt Injection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요구: 데이터 마스킹 · 정책 필터링 · 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26913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핵심 인사이트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017361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"신뢰와 통제가 없는 AI는 금융에서 실패한다"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2. 실현 가능성 (Solution)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우리는 어떻게 풀었는가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데이터 신뢰도·커버리지 해결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154428"/>
          <a:ext cx="11274552" cy="2023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문제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해결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P-1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뉴스 8종목 제한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TickerKeywordResolver Port — 전 KRX 2,500+ 종목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P-2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미국 종목 미지원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MarketRegion 추상 + SerpAPI / yfinance / SEC EDGAR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P-3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잠정실적 누락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OpenDartPreliminaryEarningsProvider — 어닝 갭 윈도우 포착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P-4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출처 무관 단순 평균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SourceTier(HIGH/MEDIUM/MEDIUM_LOW/LOW) 가중치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P-5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엔터주 SNS 시그널 묻힘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_SECTOR_OVERRIDE — 섹터별 소스 가중 보정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78248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핵심 원칙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926835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"신호의 양을 늘리되, 신호의 품질을 메타데이터로 표현한다"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우리는 어떻게 풀었는가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운영·비용·UX 해결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72141"/>
          <a:ext cx="11274552" cy="2465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문제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해결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P-6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LLM·YouTube quota 폭주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다층 캐시 (4h / 7d / 1d / 1h) + 조건부 startup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P-7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동시 요청 → DART 중복 호출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Redis 분산 락 (SET NX EX) + 멱등성 가드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P-8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응답 지연 5~10초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1h Postgres 캐시 + 3-에이전트 병렬 + 사업개요 별도 task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P-9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시그널만 있고 맥락 없음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BusinessOverview 카드 — RAG → LLM 요약, 7d 캐시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P-10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1개 죽으면 전체 실패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asyncio.gather(return_exceptions=True) 부분 실패 허용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P-11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"왜 이 결론?"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LangSmith Tracing + 출처 영속화 + Explainable 가중치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3023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6대 해결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96535"/>
            <a:ext cx="11274552" cy="134721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추상은 도메인에서, 실행은 어댑터에서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시간을 캐시로 사면 LLM 비용은 떨어진다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부분 실패는 기능, 전체 실패는 버그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신호의 품질을 메타데이터로 표현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동시성은 atomic primitive로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거버넌스는 사후가 아닌 사전 설계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경쟁사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기술 프레임워크 경쟁자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47845"/>
          <a:ext cx="11274552" cy="135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2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프레임워크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강점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한계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CrewAI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역할 기반 협업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실행 비용 증가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AutoGen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다중 대화 / Human-in-loop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설정 복잡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LangGraph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그래프 오케스트레이션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진입 장벽 높음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LlamaIndex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RAG 데이터 통합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에이전트 제어 제한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38596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서비스형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27967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Lindy — 노코드 AI 빌더 / 빠른 배포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AgentGPT / AutoGPT — 목표 기반 자동 실행 (프로토타입)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기존 금융 도구 — 알고리즘 트레이딩 중심, 보안 강화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600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한 줄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68009"/>
            <a:ext cx="11274552" cy="609600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시장에는 "AI 빌더" 와 "트레이딩 도구" 는 많지만,</a:t>
            </a:r>
          </a:p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"검증 가능한 의사결정 과정" 을 제공하는 서비스는 적다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Antelligen 차별화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차별화 3축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6905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① 신뢰성 / 거버넌스 (핵심 경쟁력)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96643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Tracing — LangSmith로 모든 LLM 입출력·latency 추적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Source Tier 가중치 — DART × 1.0 / Bloomberg × 0.7 / SNS × 0.3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Audit Trail — integrated_analysis_orm에 sub_results JSON 영속화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5374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② 고도화된 데이터 통합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3478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심층 RAG (DART 사업보고서 → 사업개요 LLM 요약)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멀티 에이전트 (News / Disclosure / Finance / Sentiment / Macro)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한국 공시 + 미국 SEC + yfinance + 잠정실적 통합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00575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③ UX 차별화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90313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사업개요 카드 — "이 회사 본질" 즉시 파악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부분 실패 표시 — "공시는 못 받았지만 뉴스+재무로 BULLISH"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한국·미국 종목 동일 UI/UX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47411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핵심 메시지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948476"/>
            <a:ext cx="11274552" cy="609600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"투자 결과가 아니라, 검증 가능한 의사결정 과정과</a:t>
            </a:r>
          </a:p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안전한 실행 구조를 제공하는 서비스가 시장 승자가 된다"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3. 성장 전략 (Scale Up)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시장 진입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🎯 목표 고객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86265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1차 — 개인 투자자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55363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"이 종목이 오늘 왜 떨어졌지?"를 검색하는 사용자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차트 + 사건 + 원인 분석을 한 화면에서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642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2차 — 데이터 기반 판단을 원하는 사용자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45526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신입 애널리스트 / 투자 콘텐츠 크리에이터 / 학생 투자 동아리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51199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가격 차별화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20297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블룸버그 월 200만 원+ → 한국 공시 중심 + 합리적 가격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2597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🌐 진입 채널 — 웹 중심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06396"/>
            <a:ext cx="11274552" cy="4419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초기: 웹사이트  →  PWA(홈 화면 추가)  →  모바일 앱 출시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8377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🚀 사용자 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64199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SEO — 종목별 "왜 떨어졌나" 페이지 자동 생성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커뮤니티 — 디스코드 / 네이버 종목 카페 / 주식 갤러리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인플루언서 — 투자 유튜버 협업 / 분석 데이터 콘텐츠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목표 성과 (KPI)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📊 사용량 (Engagement)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24000"/>
          <a:ext cx="11274552" cy="83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70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초기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확장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MAU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30~50명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10,000명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7일 재방문율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30%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40%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43027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🎯 품질 (Quality)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48432"/>
          <a:ext cx="11274552" cy="83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70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초기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확장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사용자 만족도 (5점)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4.0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4.5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"자신 있는 분석" 비율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30%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45%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85470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⚡ 비용 효율 (Efficiency)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372864"/>
          <a:ext cx="11274552" cy="83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70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초기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확장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응답 속도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8초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3초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종목당 분석 비용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200원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50원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279136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💰 사업성 (Business)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97296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유료 전환율 3%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월 매출 100만 원 (1차 마일스톤)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앱 스토어 출시 (iOS / Android)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확장 방안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🌍 방향 1 — 시장·자산 확장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시장: 일본(니케이) / 유럽 / 신흥국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자산: 암호화폐 / 원자재 / 채권 / 리츠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대안 데이터: 커뮤니티 / 위성 / 카드 소비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9819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🧩 방향 2 — 기능 확장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16352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포트폴리오 분석 / 실시간 알림 / 백테스트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일일 리포트 / 주간 인사이트 / 종목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7515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🧠 방향 3 — 분석 모듈 확장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93312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감정 분석 / 실적 발표 / 거시경제 / 내부자 거래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3672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💼 방향 4 — 수익 모델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754880"/>
          <a:ext cx="11274552" cy="160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85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가격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무료 플랜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0원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개인 프로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월 9,900원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개인 프리미엄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월 29,000원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API 서비스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호출당 과금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기업 전용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월 500만~5,000만 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확장 방안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"1년만 운영하면, 후발주자는 따라잡기 매우 어려운 구조"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99252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성장 플라이휠: 사용자 행동 → 검증 사례 → 규칙 개선 → 정확도 ↑ → 만족도 ↑ → 재방문 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4. 시스템 아키텍처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기술 스택 한눈에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38605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17597"/>
            <a:ext cx="11274552" cy="26636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Python 3.13 (uv) / FastAPI ≥ 0.115 / Uvicorn (port 33333)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57116"/>
            <a:ext cx="11274552" cy="438605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68873"/>
            <a:ext cx="11274552" cy="4786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PostgreSQL 16 (asyncpg + pgvector) / SQLAlchemy 2.0 async / Alembic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Redis 5.x (asyncio)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0685"/>
            <a:ext cx="11274552" cy="438605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AI /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32442"/>
            <a:ext cx="11274552" cy="69095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OpenAI (GPT-4o, gpt-5-mini, o1)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Anthropic (Claude)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LangChain / LangGraph / LangSmith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96547"/>
            <a:ext cx="11274552" cy="438605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Market &amp; NLP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08304"/>
            <a:ext cx="11274552" cy="69095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yfinance · pykrx · holidays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kiwipiepy (한국어 형태소)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youtube-transcript-api · BeautifulSoup4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72409"/>
            <a:ext cx="11274552" cy="438605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84166"/>
            <a:ext cx="11274552" cy="69095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APScheduler 3.10 (7종 정기 작업)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python-jose + cryptography (JWT)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Docker Compose (app + postgres + redis)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기술 스택 한눈에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0352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Next.js 16 (App Router,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Turbopack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) / React 19 / TS 5.9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Jotai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2 / Tailwind CSS v4 / lightweight-charts · recharts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Hexagonal + DDD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Clean Architecture 의존성 규칙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68796"/>
            <a:ext cx="11274552" cy="24536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┌──────────────────────────────────────────────┐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Frameworks &amp; Drivers (FastAPI · DB · Redis)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┌────────────────────────────────────────┐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Interface Adapters (Router · Repo) 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┌──────────────────────────────────┐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│  Use Cases (Application)         │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│  ┌────────────────────────────┐  │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│  │  Entities (Domain)         │  │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│  └────────────────────────────┘  │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└──────────────────────────────────┘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└────────────────────────────────────────┘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└──────────────────────────────────────────────┘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의존성 방향: 바깥 → 안쪽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0385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레이어별 MUST 규칙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5003342"/>
          <a:ext cx="11274552" cy="160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85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레이어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허용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금지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Domain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순수 Python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FastAPI · SQLAlchemy · Redis · Pydantic · ORM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Application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UseCase / Port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FastAPI · ORM 직접 / Redis 직접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Adapter (Inbound)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Router · DTO 변환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비즈니스 로직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Adapter (Outbound)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Repo · External Client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도메인 규칙 침범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Infrastructure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DB · ORM · Redis · env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도메인 맵 (24개)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사용자·인증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156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account / auth / kakao_auth /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85965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시장 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81692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stock / stock_theme / dashboard / smart_money / company_profile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66091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콘텐츠·분석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181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news / disclosure / market_video / market_analysis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46217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macro / history_agent / causality_agent / 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3061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study / investment / sentiment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15015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통합 에이전트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10742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agent (메인 오케스트레이터) / api_schema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95141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커뮤니티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9086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board / post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도메인 맵 (24개)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11318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OpenAI · Anthropic (LLM)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DART · SEC EDGAR · Finnhub (공시)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yfinance · pykrx · FRED (시세·거시)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SerpAPI · Naver · YouTube Data API (콘텐츠)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LangSmith (관측)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데이터 흐름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요청 처리 시퀀스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04388"/>
            <a:ext cx="11274552" cy="3291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HTTP Request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FastAPI Router (Inbound Adapter)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Request DTO 파싱 (Pydantic)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UseCase 실행 (Application)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Port 호출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├─▶ Repository (Outbound) ─▶ SQLAlchemy ─▶ PostgreSQL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├─▶ External Client       ─▶ OpenAI / DART / yfinance / SEC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└─▶ Cache Adapter         ─▶ Redis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Domain Entity 조작 (순수 Python)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Response DTO 변환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HTTP Response (BaseResponse 표준)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데이터 흐름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45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Job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주기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공시 수집·처리·회사목록 갱신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분 단위 + bootstrap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뉴스 수집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매일 06:00 KST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투자자 순매수 (KRX)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매 영업일 16:30 KST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NASDAQ 지수 / 종목 일봉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 1회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거시 리스크 스냅샷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4h Redis TTL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SEC 13F 글로벌 포트폴리오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분기 (2·5·8·11월 15일)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국내 포트폴리오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매월 1일 03:00 KST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5. AI Multi-Agent 구성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멀티 에이전트 오케스트레이션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메인 → 서브 에이전트 협업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24000"/>
            <a:ext cx="11274552" cy="3627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┌──────────────────────┐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User Query ─▶│   agent (오케스트레이터)│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└──────────┬───────────┘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┌───────────────────────┼───────────────────────┐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            ▼          ▼          ▼         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┌──────┐   ┌────────┐  ┌──────┐  ┌─────────┐  ┌────────┐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News │   │Disclosure│ │Finance│ │Sentiment│  │ Macro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Agent│   │  Agent  │  │ Agent│  │  Agent  │  │ Agent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SERP │   │  DART   │  │yfinance│ │SNS+GPT │  │YouTube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│+LLM  │   │+RAG+LLM │  │+pykrx │  │+Reddit │  │+LLM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└──┬───┘   └───┬────┘  └──┬───┘  └────┬────┘  └────┬───┘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         │          │           │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└───────────┴────┬─────┴───────────┴────────────┘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LangGraph 노드 → 통합 시그널 합성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LangSmith Tracing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Bullish / Neutral / Bearish + Confidence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2427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핵심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42432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병렬 실행: asyncio.gather(return_exceptions=True) — 부분 실패 허용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이중 캐시: Postgres 1h (시그널) + Redis 7d (사업개요)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분산 락: Redis SET NX EX — 동시 요청 멱등성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Source Tier 가중: 출처 신뢰도가 confidence에 직접 반영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Source Tier 가중치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4단계 출처 신뢰도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24000"/>
          <a:ext cx="11274552" cy="1564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61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등급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가중치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포함 도메인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1.0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· SEC · 1군 IB 공식 리포트(미국) · IR 자료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22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MEDIUM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0.7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Bloomberg · Reuters · WSJ · FT · 한경 · 매경 · 월가 애널리스트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MEDIUM_LOW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0.5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국내 IB 공식 리포트 (buy-bias 보정)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LOW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0.3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SNS · 일반 뉴스 · 커뮤니티 (Naver · Reddit · DC)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10083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섹터 오버라이드 — 도메인 특수성 반영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18992"/>
            <a:ext cx="11274552" cy="777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_SECTOR_OVERRIDE: dict[Sector, tuple[set[str], SourceTier]] = {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Sector.ENTERTAINMENT: (_SOCIAL_DOMAINS, SourceTier.MEDIUM),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69384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→ HYBE / SM / JYP / YG 의 YouTube · X · Instagram 글: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7621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LOW(0.3) → MEDIUM(0.7) 으로 자동 승격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83048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종합 시그널 산출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601208"/>
            <a:ext cx="11274552" cy="94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weighted_score += score * confidence * tier_multiplier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final_signal = "bullish"  if weighted_score &gt; 0.2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     "bearish"  if weighted_score &lt; -0.2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     "neutral"  otherwise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캐시·동시성·복원력 (운영 안정성)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339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다층 캐시 — TTL은 도메인 진실성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22386"/>
          <a:ext cx="11274552" cy="1601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88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캐시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TTL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근거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88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매크로 스냅샷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4시간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거시 위험은 분 단위로 안 변함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88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회사 프로필 (DART)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1일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기업개황 거의 안 변함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88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사업 개요 (LLM)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7일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비즈니스 모델은 분기에도 안 변함 + LLM 비용 ↑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88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통합 분석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1시간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시그널은 뉴스 흐름에 따라 갱신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88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refresh_company_list 쿨다운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24시간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회사 마스터 갱신 주기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184873"/>
            <a:ext cx="11274552" cy="44339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Redis 분산 락 — SET NX EX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01419"/>
            <a:ext cx="11274552" cy="110848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 dirty="0" err="1">
                <a:solidFill>
                  <a:srgbClr val="E0E0E0"/>
                </a:solidFill>
                <a:latin typeface="Consolas"/>
              </a:rPr>
              <a:t>lock_key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 =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f"lock:disclosure:on_demand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:{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corp_code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}"</a:t>
            </a:r>
          </a:p>
          <a:p>
            <a:pPr algn="l"/>
            <a:r>
              <a:rPr sz="1000" dirty="0">
                <a:solidFill>
                  <a:srgbClr val="E0E0E0"/>
                </a:solidFill>
                <a:latin typeface="Consolas"/>
              </a:rPr>
              <a:t>acquired = await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redis.set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lock_key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, "1",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nx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=True, ex=60)</a:t>
            </a:r>
          </a:p>
          <a:p>
            <a:pPr algn="l"/>
            <a:r>
              <a:rPr sz="1000" dirty="0">
                <a:solidFill>
                  <a:srgbClr val="E0E0E0"/>
                </a:solidFill>
                <a:latin typeface="Consolas"/>
              </a:rPr>
              <a:t># atomic single-shot — race condition 0</a:t>
            </a:r>
          </a:p>
          <a:p>
            <a:pPr algn="l"/>
            <a:r>
              <a:rPr sz="1000" dirty="0">
                <a:solidFill>
                  <a:srgbClr val="E0E0E0"/>
                </a:solidFill>
                <a:latin typeface="Consolas"/>
              </a:rPr>
              <a:t># TTL 60초 —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프로세스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죽어도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자동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해제</a:t>
            </a:r>
            <a:endParaRPr sz="1000" dirty="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 dirty="0">
                <a:solidFill>
                  <a:srgbClr val="E0E0E0"/>
                </a:solidFill>
                <a:latin typeface="Consolas"/>
              </a:rPr>
              <a:t># Redis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다운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 시 True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반환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 (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가용성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우선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83056"/>
            <a:ext cx="11274552" cy="44339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부분 실패 허용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99602"/>
            <a:ext cx="11274552" cy="1275517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results = await asyncio.gather(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news.analyze(...), disclosure.analyze(...), finance.analyze(...),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return_exceptions=True,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1개 죽어도 나머지로 시그널 산출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result_status: SUCCESS / PARTIAL_SUCCESS / FAILURE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6. 팀 구성 및 작업 분배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팀원 구성 및 작업 분배 (7인)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06232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Antelligen 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85224"/>
          <a:ext cx="11274552" cy="4275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17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이름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담당 영역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핵심 작업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테크 역량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🧠 김영진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통합 에이전트 / 데이터 신뢰도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뉴스 8종목 제한 해제, US 확대(SerpAPI·yfinance·SEC), Source Tier 가중치, 조건부 startup, Redis 분산 락, 회사 프로필·사업개요 카드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Python · DDD · Hexagonal · LangChain · Redis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📊 김세진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Sentiment / 미국 주식 보강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sentiment 도메인 신설(DDD), Reddit·네이버·토스 수집기, GPT-5-mini 감정분석, 자동 collect + Redis 캐시, FE features/sentiment/ 4계층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Python · DDD · BS4 · OpenAI · Next.js · Jotai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1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🌍 문우성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거시 경제 / 아키텍처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데일리 거시 경제 현황판, 금리·유가·환율·경제일정 자동 수집, Risk-ON/OFF 판단(LLM), 시스템 아키텍처 정립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시스템 설계 · Hexagonal · LLM · YouTube API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6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🕰 김민규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History / Causality / 성장 전략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History Agent + Causality Agent(양방향 인과), 이상치 봉 자동 탐지 + LLM 원인 추론, /dashboard 2열 4:1, KPI/시장 진입 설계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Python · LangGraph · Next.js · lightweight-charts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6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👤 이민영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개인화 / Smart Money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관심종목(뉴스·유튜브 개인화), 외국인/기관/개인 순매수 랭킹, 13F 글로벌 포트폴리오 19명, DART 국내 10명, Playwright + KRX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Next.js · React · Playwright · Jotai · DDD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17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🤝 이지은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팀 의견 수렴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외부 시점 피드백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17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🤝 정우진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팀 의견 수렴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외부 시점 피드백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76358"/>
            <a:ext cx="11274552" cy="406232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 dirty="0" err="1">
                <a:solidFill>
                  <a:srgbClr val="2980B9"/>
                </a:solidFill>
                <a:latin typeface="Malgun Gothic"/>
              </a:rPr>
              <a:t>협업</a:t>
            </a:r>
            <a:r>
              <a:rPr sz="1500" b="1" dirty="0">
                <a:solidFill>
                  <a:srgbClr val="2980B9"/>
                </a:solidFill>
                <a:latin typeface="Malgun Gothic"/>
              </a:rPr>
              <a:t> </a:t>
            </a:r>
            <a:r>
              <a:rPr sz="1500" b="1" dirty="0" err="1">
                <a:solidFill>
                  <a:srgbClr val="2980B9"/>
                </a:solidFill>
                <a:latin typeface="Malgun Gothic"/>
              </a:rPr>
              <a:t>방식</a:t>
            </a:r>
            <a:endParaRPr sz="1500" b="1" dirty="0">
              <a:solidFill>
                <a:srgbClr val="2980B9"/>
              </a:solidFill>
              <a:latin typeface="Malgun Gothi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035164"/>
            <a:ext cx="11274552" cy="63995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GitHub Fork &amp; PR 워크플로우 — main 직접 푸시 금지, Merge commit 보존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레이어 규칙 강제 — CLAUDE.md 로 도메인 규약 공유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Slack 일일 진척 공유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7. 실제 업무 진행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Github · OKR · Slack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08815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Github 커밋 컨벤션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87807"/>
            <a:ext cx="11274552" cy="40601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upstream (EDDI-RobotAcademy)  →  origin (개인 fork)  →  PR  →  Merge commit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6975"/>
            <a:ext cx="11274552" cy="6440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main 직접 푸시 금지 — 항상 PR / Merge commit (squash 금지 — 원본 SHA 보존)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Conventional Commits: feat / fix / refactor / docs / chore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실제 PR — #93 sentiment 도메인 신설(+1,727/-14, 44 files), #106/#107 자동 collect + Redis 캐시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4152"/>
            <a:ext cx="11274552" cy="408815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OKR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66120"/>
            <a:ext cx="11274552" cy="21467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Objective: AI 멀티 에이전트 투자 인텔리전스 MVP 완성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453947"/>
          <a:ext cx="11274552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50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KR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50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메인 에이전트 통합 분석 (News · Disclosure · Finance)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50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한국 + 미국 시장 동일 UI/UX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50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Source Tier 4단계 + 섹터 오버라이드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50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Sentiment 에이전트 신설 + 메인 통합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50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거시 경제 현황판 + 시장 위험도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50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히스토리·인과관계 대시보드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50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Watchlist + Smart Money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459174"/>
            <a:ext cx="11274552" cy="21467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문서화: CLAUDE.md · WOOSUNG_system-architecture.md · 팀원별 작업 보고서 7종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47001"/>
            <a:ext cx="11274552" cy="408815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Slack 협업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28969"/>
            <a:ext cx="11274552" cy="44615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채널: #general #dev-backend #dev-frontend #design-architecture #bugs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실제 사례 — "영진 sentiment 빈 결과 공유 → 김세진 자동 collect + 캐시 추가 커밋으로 즉시 해결"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8. 서비스 기능 소개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주요 기능 한눈에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1️⃣ 종합 종목 분석 (/agent/query)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한 번의 요청 → 5개 에이전트 병렬 분석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결과: Bullish / Neutral / Bearish + Confidence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사업 개요 카드 + 출처 신뢰도 분포 시각화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한국·미국 동일 UI/UX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358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2️⃣ 히스토리·인과관계 대시보드 (/dashboard)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31744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종목 일봉 + 이상치 봉(anomaly) 자동 탐지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LLM 원인 추론 ("왜 이 날 떨어졌는가")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거시 이벤트 매칭 + 마커 6종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05936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3️⃣ Smart Money — 자금 흐름 (/smart-money)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24096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외국인 / 기관 / 개인 순매수 랭킹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집중 매수 종목 (3일 / 5일 / 10일)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해외(미국) — SEC 13F 기반 19명 글로벌 투자자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국내 — DART 대량보유 10명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1368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4️⃣ 글로벌 포트폴리오 (/smart-money/global-portfolio)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31840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Warren Buffett · Michael Burry · Cathie Wood …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신규편입 / 비중확대 / 비중축소 / 청산 배지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국내 — 국민연금 · 미래에셋 · 박현주 등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주요 기능 한눈에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0434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5️⃣ Sentiment 분석 — SNS 감정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3336"/>
            <a:ext cx="11274552" cy="8326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Reddit + 네이버 종목토론 + 토스 (stub)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GPT-5-mini 감정 점수화 (positive / negative / neutral)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밈 티커 부스트 (TSLA · GME · NVDA × 1.35)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부정 비율 vs VIX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89178"/>
            <a:ext cx="11274552" cy="40434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6️⃣ 거시 경제 현황판 (/macro)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66674"/>
            <a:ext cx="11274552" cy="6369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금리 / 유가 / 환율 / 경제 일정 자동 수집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Risk-ON / Risk-OFF 자동 판단 + LLM 근거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4h Redis 캐시로 실시간성 + 비용 균형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76806"/>
            <a:ext cx="11274552" cy="40434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7️⃣ 관심 종목 + 개인화 (/settings/watchlist)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54302"/>
            <a:ext cx="11274552" cy="6369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테마별 종목 토글 등록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뉴스 페이지 — 등록 종목명으로 자동 필터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유튜브 페이지 — 종목명으로 YouTube 병렬 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64435"/>
            <a:ext cx="11274552" cy="40434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8️⃣ 회사 프로필 (/company-profile/{ticker})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41931"/>
            <a:ext cx="11274552" cy="6369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DART 회사 마스터 + SEC EDGAR (US)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DART 사업보고서 RAG → LLM 사업 개요 (7일 캐시)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ETF / INDEX 종목도 동일 카드 형식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52063"/>
            <a:ext cx="11274552" cy="40434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9️⃣ 카카오 OAuth — temp_token / user_token 분리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29559"/>
            <a:ext cx="11274552" cy="245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가입 전 사용자도 핵심 기능 시연 가능 → 전환율 ↑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9. 라이브 시연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시연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① 종목 분석 — 한국 종목 (삼성전자 005930)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30832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5개 에이전트 병렬 분석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통합 시그널 + 사업개요 카드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Source Tier 분포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5024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② 종목 분석 — 미국 종목 (AAPL)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11856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영어 뉴스 + yfinance 분기 EPS + SEC 8-K filing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동일 UI/UX 로 동일하게 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065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③ 엔터 섹터 — HYBE (352820)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77488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YouTube · X · Instagram 출처가 MEDIUM 으로 승격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섹터 오버라이드가 시그널에 반영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3628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④ Smart Money 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43120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외국인 + 기관 집중 매수 종목 카드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Warren Buffett 포트폴리오 변동 (신규편입 / 비중확대)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0192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⑤ 히스토리·인과관계 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08752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NASDAQ 차트 + 이상치 마커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원인 가설 자동 생성 (LLM)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67552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⑥ 동시 요청 데모 — Redis 분산 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74384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동일 종목 동시 5개 요청 → DART 1회만 호출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10. 프로젝트 소감 &amp; 마무리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학습한 사항 및 개인 소감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793706"/>
              </p:ext>
            </p:extLst>
          </p:nvPr>
        </p:nvGraphicFramePr>
        <p:xfrm>
          <a:off x="457200" y="1005840"/>
          <a:ext cx="112745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팀원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소감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🧠 김영진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AI 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멀티 에이전트를 직접 구현해보는 재밌고 유익한 시간이었습니다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.</a:t>
                      </a:r>
                      <a:endParaRPr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📊 김세진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[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직접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작성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🌍 문우성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🕰 김민규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👤 이민영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🤝 이지은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🤝 정우진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[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직접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작성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최종 마무리하며 하고 싶은 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794093"/>
              </p:ext>
            </p:extLst>
          </p:nvPr>
        </p:nvGraphicFramePr>
        <p:xfrm>
          <a:off x="457200" y="1005840"/>
          <a:ext cx="112745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팀원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마무리 한마디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🧠 김영진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팀원 분들이 다 잘 </a:t>
                      </a:r>
                      <a:r>
                        <a:rPr lang="ko-KR" altLang="en-US"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따라주셔서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팀장으로써 뿌듯했고 다음 기회에 또 팀으로 만날 기회가 있으면 그때도 같이 팀 해요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^^ 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감사합니다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.</a:t>
                      </a:r>
                      <a:endParaRPr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📊 김세진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🌍 문우성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🕰 김민규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👤 이민영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🤝 이지은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🤝 정우진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[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직접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작성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Malgun Gothic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0">
                <a:solidFill>
                  <a:srgbClr val="CCDDEE"/>
                </a:solidFill>
                <a:latin typeface="Malgun Gothic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88AACC"/>
                </a:solidFill>
                <a:latin typeface="Malgun Gothic"/>
              </a:rPr>
              <a:t>GitHub: EDDI-RobotAcademy/antelligen-backend · antelligen-frontend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4925</Words>
  <Application>Microsoft Office PowerPoint</Application>
  <PresentationFormat>와이드스크린</PresentationFormat>
  <Paragraphs>700</Paragraphs>
  <Slides>41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7" baseType="lpstr">
      <vt:lpstr>Malgun Gothic</vt:lpstr>
      <vt:lpstr>Arial</vt:lpstr>
      <vt:lpstr>Calibri</vt:lpstr>
      <vt:lpstr>Consolas</vt:lpstr>
      <vt:lpstr>Lucida Console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영진 김</cp:lastModifiedBy>
  <cp:revision>21</cp:revision>
  <dcterms:created xsi:type="dcterms:W3CDTF">2013-01-27T09:14:16Z</dcterms:created>
  <dcterms:modified xsi:type="dcterms:W3CDTF">2026-04-30T13:52:56Z</dcterms:modified>
  <cp:category/>
</cp:coreProperties>
</file>