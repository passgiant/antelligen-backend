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309" r:id="rId25"/>
    <p:sldId id="310" r:id="rId26"/>
    <p:sldId id="311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12" r:id="rId58"/>
    <p:sldId id="313" r:id="rId59"/>
    <p:sldId id="314" r:id="rId60"/>
    <p:sldId id="315" r:id="rId61"/>
    <p:sldId id="316" r:id="rId62"/>
    <p:sldId id="317" r:id="rId63"/>
    <p:sldId id="318" r:id="rId6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4606" autoAdjust="0"/>
  </p:normalViewPr>
  <p:slideViewPr>
    <p:cSldViewPr snapToGrid="0" snapToObjects="1">
      <p:cViewPr varScale="1">
        <p:scale>
          <a:sx n="93" d="100"/>
          <a:sy n="93" d="100"/>
        </p:scale>
        <p:origin x="12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6683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안녕하세요, Antelligen 팀 발표를 시작하겠습니다.</a:t>
            </a:r>
          </a:p>
          <a:p>
            <a:r>
              <a:t>'AI가 대신 투자하는 시대가 아니라, AI의 판단을 사람이 검증하고 통제하는 구조'가 핵심 메시지입니다.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잠시 다음 파트로 넘어가겠습니다.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단일 LLM은 복잡한 투자 문제를 체계적으로 분해하지 못합니다.</a:t>
            </a:r>
          </a:p>
          <a:p>
            <a:r>
              <a:t>현실의 의사결정은 수집·분석·판단·추천이 협업으로 이루어지는 구조입니다.</a:t>
            </a:r>
          </a:p>
          <a:p>
            <a:r>
              <a:t>그래서 역할별 에이전트가 협업하는 멀티 에이전트 구조가 필요했습니다.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글로벌 AI 에이전트 시장은 연 50% 성장, 2033년 240조 원 규모입니다.</a:t>
            </a:r>
          </a:p>
          <a:p>
            <a:r>
              <a:t>타겟은 중소기업과 개인 투자자이며, 클라우드 기반 AI 웹서비스가 수익 모델입니다.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고객의 3대 문제 — 가시성·비용 통제·거버넌스.</a:t>
            </a:r>
          </a:p>
          <a:p>
            <a:r>
              <a:t>'신뢰와 통제가 없는 AI는 금융에서 실패한다'는 게 핵심 인사이트입니다.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잠시 다음 파트로 넘어가겠습니다.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데이터 신뢰도와 커버리지 문제 5가지를 해결했습니다.</a:t>
            </a:r>
          </a:p>
          <a:p>
            <a:r>
              <a:t>뉴스 8종목 제한 해제, 미국 주식 확장, 잠정실적, Source Tier, 엔터 SNS 보정이 핵심입니다.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운영·비용·UX 측면 6가지 문제를 해결했습니다.</a:t>
            </a:r>
          </a:p>
          <a:p>
            <a:r>
              <a:t>6대 해결 원칙 — 특히 '부분 실패는 기능'과 '거버넌스는 사전 설계'가 설계 철학입니다.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기술 프레임워크와 서비스형 경쟁자를 분석했습니다.</a:t>
            </a:r>
          </a:p>
          <a:p>
            <a:r>
              <a:t>'검증 가능한 의사결정 과정'을 제공하는 서비스가 없다는 빈 자리가 우리의 기회입니다.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차별화 3축 — 신뢰성·데이터 통합·UX입니다.</a:t>
            </a:r>
          </a:p>
          <a:p>
            <a:r>
              <a:t>Tracing·Source Tier·Audit Trail로 거버넌스, 멀티 에이전트로 한국·미국 통합입니다.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잠시 다음 파트로 넘어가겠습니다.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1차 타겟은 '왜 떨어졌지?'를 검색하는 개인 투자자입니다.</a:t>
            </a:r>
          </a:p>
          <a:p>
            <a:r>
              <a:t>SEO·커뮤니티·인플루언서 세 경로로 사용자를 확보합니다.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KPI는 사용량·품질·비용 효율·사업성 4축입니다.</a:t>
            </a:r>
          </a:p>
          <a:p>
            <a:r>
              <a:t>응답 속도 8초→3초, 분석 비용 200원→50원, 유료 전환율 3%가 목표입니다.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확장은 시장·기능·수익 모델·데이터 네트워크 효과 4방향입니다.</a:t>
            </a:r>
          </a:p>
          <a:p>
            <a:r>
              <a:t>1년 운영 후에는 후발주자가 따라잡기 어려운 데이터 플라이휠이 형성됩니다.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잠시 다음 파트로 넘어가겠습니다.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Python 3.13 + FastAPI + PostgreSQL + Redis 백엔드,</a:t>
            </a:r>
          </a:p>
          <a:p>
            <a:r>
              <a:t>OpenAI + LangChain/LangGraph/LangSmith AI 레이어,</a:t>
            </a:r>
          </a:p>
          <a:p>
            <a:r>
              <a:t>Next.js 16 + Jotai + Tailwind CSS 프론트엔드 조합입니다.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Clean Architecture — 의존성은 항상 외부에서 내부로.</a:t>
            </a:r>
          </a:p>
          <a:p>
            <a:r>
              <a:t>도메인 레이어는 순수 Python만 허용, FastAPI·SQLAlchemy·Redis import 금지입니다.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24개 도메인, 11종 외부 연동으로 구성됩니다.</a:t>
            </a:r>
          </a:p>
          <a:p>
            <a:r>
              <a:t>요청은 Router → UseCase → Port → Repository/External Client 흐름으로 처리됩니다.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잠시 다음 파트로 넘어가겠습니다.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메인 에이전트가 5개 서브 에이전트를 asyncio.gather로 병렬 호출합니다.</a:t>
            </a:r>
          </a:p>
          <a:p>
            <a:r>
              <a:t>부분 실패 허용, Postgres 1h + Redis 7d 이중 캐시, LangSmith Tracing으로 투명성 확보합니다.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출처 신뢰도 4단계 — DART/SEC HIGH(×1.0), 글로벌 IB MEDIUM(×0.7), 국내 IB MEDIUM_LOW(×0.5), SNS LOW(×0.3).</a:t>
            </a:r>
          </a:p>
          <a:p>
            <a:r>
              <a:t>엔터테인먼트 섹터는 SNS가 핵심 신호라서 LOW를 MEDIUM으로 자동 승격합니다.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캐시 TTL은 도메인 진실성의 코드 표현 — 매크로 4h, 회사 1d, 사업개요 7d, 시그널 1h.</a:t>
            </a:r>
          </a:p>
          <a:p>
            <a:r>
              <a:t>Redis SET NX EX atomic 분산 락으로 동시 요청 멱등성 보장, asyncio.gather로 부분 실패 허용합니다.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잠시 다음 파트로 넘어가겠습니다.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종합 분석·히스토리·Sentiment·거시경제 4가지 핵심 기능입니다.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Smart Money·글로벌 포트폴리오·관심종목 개인화·회사 프로필·카카오 OAuth 5가지입니다.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잠시 다음 파트로 넘어가겠습니다.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5인 개발팀 — 김영진·김세진·문우성·김민규·이민영이 각 영역을 전담했습니다.</a:t>
            </a:r>
          </a:p>
          <a:p>
            <a:r>
              <a:t>이지은·정우진은 외부 피드백으로 팀을 지원했습니다.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김영진 첫 번째 슬라이드 — 뉴스 8종목 제한 해제와 미국 주식 확대입니다.</a:t>
            </a:r>
          </a:p>
          <a:p>
            <a:r>
              <a:t>TickerKeywordResolverPort로 전 KRX 2,500+ 종목 지원, MarketRegion으로 KR/US 분기 처리합니다.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김영진 두 번째 슬라이드 — Source Tier 4단계 가중치 시스템입니다.</a:t>
            </a:r>
          </a:p>
          <a:p>
            <a:r>
              <a:t>엔터주 SNS 보정, 종합 시그널 가중 평균 산출 로직을 설명합니다.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김영진 세 번째 슬라이드 — On-demand 분산 락, 조건부 Startup, 사업개요 카드입니다.</a:t>
            </a:r>
          </a:p>
          <a:p>
            <a:r>
              <a:t>Redis SET NX EX로 동시 5개 요청도 DART 1회 호출 보장, LLM 비용 절약이 핵심입니다.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김세진 첫 번째 슬라이드 — Sentiment 도메인 신설입니다.</a:t>
            </a:r>
          </a:p>
          <a:p>
            <a:r>
              <a:t>백엔드 21개 파일, +1,727줄. Reddit·네이버 종목토론 수집기와 DDD 헥사고날 구조입니다.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김세진 두 번째 슬라이드 — GPT 감정분석과 밈/섹터 가중치입니다.</a:t>
            </a:r>
          </a:p>
          <a:p>
            <a:r>
              <a:t>밈 티커 ×1.35, 엔터 ×1.3, Alembic 마이그레이션 직접 작성입니다.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김세진 세 번째 슬라이드 — 운영 이슈 자체 발견·수정입니다.</a:t>
            </a:r>
          </a:p>
          <a:p>
            <a:r>
              <a:t>EUC-KR 디코딩 버그, DI 버그 수정, Redis 캐시 + 자동 collect 트리거 추가입니다.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문우성 첫 번째 슬라이드 — 거시경제 현황판 데이터 수집 파이프라인입니다.</a:t>
            </a:r>
          </a:p>
          <a:p>
            <a:r>
              <a:t>금리·유가·환율·경제일정 매일 자동 수집, Redis 4h 스냅샷 관리입니다.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문우성 두 번째 슬라이드 — Risk-ON/OFF 자동 판단입니다.</a:t>
            </a:r>
          </a:p>
          <a:p>
            <a:r>
              <a:t>핵심 변수 조합 → LLM 판단 → 근거 텍스트 자동 생성 흐름입니다.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문우성 세 번째 슬라이드 — 메인 에이전트 연결과 아키텍처 기여입니다.</a:t>
            </a:r>
          </a:p>
          <a:p>
            <a:r>
              <a:t>거시 스냅샷이 종합 시그널 산출 컨텍스트로 활용됩니다.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김민규 첫 번째 슬라이드 — History Agent 8단계 타임라인 파이프라인입니다.</a:t>
            </a:r>
          </a:p>
          <a:p>
            <a:r>
              <a:t>Redis 캐시 히트 시 50ms, 미스 시 4개 소스 병렬 수집 → enrichment → DB 저장 흐름입니다.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김민규 두 번째 슬라이드 — 5중 이상치 탐지기와 이벤트 분류 체계입니다.</a:t>
            </a:r>
          </a:p>
          <a:p>
            <a:r>
              <a:t>z-score·cumulative·drawdown·volatility cluster 5개 탐지기와 MACRO TYPE_A/B 구분입니다.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김민규 세 번째 슬라이드 — Causality Agent와 Dashboard UI입니다.</a:t>
            </a:r>
          </a:p>
          <a:p>
            <a:r>
              <a:t>LangGraph 4노드, lazy 호출 + DB 영구 캐시, SSE 스트리밍으로 실시간 진행 표시입니다.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이민영 첫 번째 슬라이드 — 관심종목 기반 개인화입니다.</a:t>
            </a:r>
          </a:p>
          <a:p>
            <a:r>
              <a:t>watchlist 등록 → 뉴스/유튜브 페이지 자동 개인화, Redis 세션 인증입니다.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이민영 두 번째 슬라이드 — 국내 스마트머니입니다.</a:t>
            </a:r>
          </a:p>
          <a:p>
            <a:r>
              <a:t>매 영업일 16:30 KRX 자동 수집, 외국인·기관 동시 매수 집중도 점수 계산입니다.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이민영 세 번째 슬라이드 — 글로벌·국내 저명 투자자 포트폴리오입니다.</a:t>
            </a:r>
          </a:p>
          <a:p>
            <a:r>
              <a:t>SEC 13F 19명, DART 대량보유 10명 분기·월별 자동 수집, 신규편입/비중확대 배지입니다.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잠시 다음 파트로 넘어가겠습니다.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GitHub Fork &amp; PR, OKR 7개 KR 모두 달성, Slack 협업 사례입니다.</a:t>
            </a:r>
          </a:p>
          <a:p>
            <a:r>
              <a:t>Slack에서 빈 결과 공유 → 즉시 커밋으로 해결한 사례가 좋은 협업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잠시 다음 파트로 넘어가겠습니다.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삼성전자·AAPL·HYBE 순으로 종목 분석을 시연하고, Smart Money와 대시보드, 분산 락까지 보여드립니다.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잠시 다음 파트로 넘어가겠습니다.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이번 프로젝트에서 각자 학습한 것과 소감을 공유합니다.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잠시 다음 파트로 넘어가겠습니다.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마지막으로 각자 마무리 인사를 드립니다.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발표는 여기까지입니다. 질의응답 받겠습니다.</a:t>
            </a:r>
          </a:p>
          <a:p>
            <a:r>
              <a:t>GitHub 리포는 EDDI-RobotAcademy 조직에 공개되어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Malgun Gothic"/>
              </a:rPr>
              <a:t>Antelligen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3327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0">
                <a:solidFill>
                  <a:srgbClr val="CCDDEE"/>
                </a:solidFill>
                <a:latin typeface="Malgun Gothic"/>
              </a:rPr>
              <a:t>AI Multi-Agent 기반 투자 인텔리전스 플랫폼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algun Gothic"/>
              </a:rPr>
              <a:t>"AI가 대신 투자하는 시대가 아니라,
AI의 판단을 사람이 검증하고 통제하는 구조"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88AACC"/>
                </a:solidFill>
                <a:latin typeface="Malgun Gothic"/>
              </a:rPr>
              <a:t>발표일: 2026-05-02   |   팀: Antelligen (7인)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108960"/>
            <a:ext cx="1371600" cy="914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algun Gothic"/>
              </a:rPr>
              <a:t>Part 1. 문제 인식 (Problem)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서비스 개발 동기 및 목적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왜 우리는 멀티 에이전트인가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24000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단일 LLM 서비스의 구조적 한계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30832"/>
            <a:ext cx="11274552" cy="9164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단일 LLM은 복잡한 문제를 체계적으로 분해하기 어렵다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데이터 수집·분석·의사결정이 하나의 모델에 과도 의존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다양한 도메인(주식·뉴스·SNS·재무) 통합 반영 불가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확장성·유지보수에서 구조적 한계 발생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20416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현실의 의사결정은 협업 구조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27248"/>
            <a:ext cx="11274552" cy="70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정보 수집 → 분석 → 판단 → 추천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여러 전문가의 협업 형태로 이루어짐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기존 AI 시스템은 이를 반영 못 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01440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→ "역할별 AI 에이전트가 협업하는 구조" 가 필요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08272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Antelligen의 5가지 목표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726432"/>
            <a:ext cx="11274552" cy="113182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구조적 AI 시스템 구축 — 데이터 수집·분석·의사결정 에이전트 협업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확장 가능한 아키텍처 — 새 기능 추가 시 기존 시스템 영향 최소화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현실적 협업 흐름 반영 — 사람의 업무 방식 그대로 AI 협업으로 구현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사용자 맞춤형 분석 — 개인 성향·관심 종목 기반 개인화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자동화·효율성 향상 — 반복 분석 자동화, 실시간 데이터 반영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245443"/>
            <a:ext cx="11274552" cy="414528"/>
          </a:xfrm>
          <a:prstGeom prst="rect">
            <a:avLst/>
          </a:prstGeom>
          <a:solidFill>
            <a:srgbClr val="ECF3FA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ctr"/>
            <a:r>
              <a:rPr sz="1200" i="1">
                <a:solidFill>
                  <a:srgbClr val="1F3A5F"/>
                </a:solidFill>
                <a:latin typeface="Malgun Gothic"/>
              </a:rPr>
              <a:t>"AI 간 협업을 통해 문제를 해결하는 새로운 서비스 구조"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TAM · SAM · SOM (목표 시장 및 고객 요구 사항)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Total Addressable Market (TAM)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3392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글로벌 AI 에이전트 시장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69617"/>
            <a:ext cx="11274552" cy="4856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2025년: 약 76억 달러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2033년: 약 1,820억 달러 (≈ 240조 원) — 연평균 성장률 약 50%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7810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글로벌 예측 분석·의사결정 시장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74034"/>
            <a:ext cx="11274552" cy="2702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2030년: 약 823억 5천만 달러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36835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Serviceable Addressable Market (SAM)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74388"/>
            <a:ext cx="11274552" cy="70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국내 AI 시장 — 2024년 54.7억 달러 → 2032년 538.7억 달러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BFSI(은행·금융·보험) — AI 도입 비중 가장 높은 산업군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주요 활용: 알고리즘 트레이딩 / 사기 탐지 / 위험 관리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167972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Serviceable Obtainable Market (SOM)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805525"/>
            <a:ext cx="11274552" cy="70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국내 금융 AI SW 비중 48.5% / 클라우드 성장률 34.9%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타겟 — 중소기업(SME) + 개인 투자자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클라우드 기반 AI 웹서비스가 핵심 수익 모델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고객의 핵심 Pain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MAS 도입 고객의 3대 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6288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① 가시성 / 디버깅 (Observability)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75408"/>
            <a:ext cx="11274552" cy="4856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멀티 에이전트 = 블랙박스화 / 실패 원인 파악 어려움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요구: Tracing · 의사결정 시각화 · Tool 사용 로그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06496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② 비용 통제 (Cost Control)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85616"/>
            <a:ext cx="11274552" cy="4856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토큰 비용 급증(Runaway Cost) / 비효율 에이전트 루프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요구: 비용 추적 · 예산 관리 · 작업 최적화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16705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③ 거버넌스 / 보안 (Governance)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595825"/>
            <a:ext cx="11274552" cy="4856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금융 데이터 민감성 / PII 유출 / Prompt Injection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요구: 데이터 마스킹 · 정책 필터링 · Audit Trail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326913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핵심 인사이트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017361"/>
            <a:ext cx="11274552" cy="414528"/>
          </a:xfrm>
          <a:prstGeom prst="rect">
            <a:avLst/>
          </a:prstGeom>
          <a:solidFill>
            <a:srgbClr val="ECF3FA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ctr"/>
            <a:r>
              <a:rPr sz="1200" i="1">
                <a:solidFill>
                  <a:srgbClr val="1F3A5F"/>
                </a:solidFill>
                <a:latin typeface="Malgun Gothic"/>
              </a:rPr>
              <a:t>"신뢰와 통제가 없는 AI는 금융에서 실패한다"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108960"/>
            <a:ext cx="1371600" cy="914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algun Gothic"/>
              </a:rPr>
              <a:t>Part 2. 실현 가능성 (Solution)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서비스 개발 및 문제점 해결 방안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데이터 신뢰도·커버리지 해결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689860"/>
          <a:ext cx="11274552" cy="2023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003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#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문제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해결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P-1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뉴스 8종목 제한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TickerKeywordResolver Port — 전 KRX 2,500+ 종목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P-2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미국 종목 미지원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MarketRegion 추상 + SerpAPI / yfinance / SEC EDGAR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P-3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잠정실적 누락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OpenDartPreliminaryEarningsProvider — 어닝 갭 윈도우 포착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P-4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출처 무관 단순 평균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SourceTier (HIGH/MEDIUM/MEDIUM_LOW/LOW) 가중치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P-5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엔터주 SNS 시그널 묻힘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_SECTOR_OVERRIDE — 섹터별 소스 가중 보정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849112"/>
            <a:ext cx="11274552" cy="414528"/>
          </a:xfrm>
          <a:prstGeom prst="rect">
            <a:avLst/>
          </a:prstGeom>
          <a:solidFill>
            <a:srgbClr val="ECF3FA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ctr"/>
            <a:r>
              <a:rPr sz="1200" i="1">
                <a:solidFill>
                  <a:srgbClr val="1F3A5F"/>
                </a:solidFill>
                <a:latin typeface="Malgun Gothic"/>
              </a:rPr>
              <a:t>"신호의 양을 늘리되, 신호의 품질을 메타데이터로 표현한다"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서비스 개발 및 문제점 해결 방안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운영·비용·UX 해결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772141"/>
          <a:ext cx="11274552" cy="2465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36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#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문제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해결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P-6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LLM·YouTube quota 폭주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다층 캐시 (4h / 7d / 1d / 1h) + 조건부 startup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P-7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동시 요청 → DART 중복 호출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Redis 분산 락 (SET NX EX) + 멱등성 가드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P-8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응답 지연 5~10초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1h Postgres 캐시 + 3-에이전트 병렬 + 사업개요 별도 task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P-9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시그널만 있고 맥락 없음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BusinessOverview 카드 — RAG → LLM 요약, 7d 캐시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P-10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1개 죽으면 전체 실패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asyncio.gather(return_exceptions=True) 부분 실패 허용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P-11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"왜 이 결론?"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LangSmith Tracing + 출처 영속화 + Explainable 가중치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430234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6대 해결 원칙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02572"/>
            <a:ext cx="11274552" cy="134721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 dirty="0">
                <a:solidFill>
                  <a:srgbClr val="222222"/>
                </a:solidFill>
                <a:latin typeface="Malgun Gothic"/>
              </a:rPr>
              <a:t>•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추상은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도메인에서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,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실행은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어댑터에서</a:t>
            </a:r>
            <a:endParaRPr sz="1100" dirty="0">
              <a:solidFill>
                <a:srgbClr val="222222"/>
              </a:solidFill>
              <a:latin typeface="Malgun Gothic"/>
            </a:endParaRP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 dirty="0">
                <a:solidFill>
                  <a:srgbClr val="222222"/>
                </a:solidFill>
                <a:latin typeface="Malgun Gothic"/>
              </a:rPr>
              <a:t>•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시간을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캐시로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사면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LLM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비용은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떨어진다</a:t>
            </a:r>
            <a:endParaRPr sz="1100" dirty="0">
              <a:solidFill>
                <a:srgbClr val="222222"/>
              </a:solidFill>
              <a:latin typeface="Malgun Gothic"/>
            </a:endParaRP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 dirty="0">
                <a:solidFill>
                  <a:srgbClr val="222222"/>
                </a:solidFill>
                <a:latin typeface="Malgun Gothic"/>
              </a:rPr>
              <a:t>•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부분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실패는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기능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,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전체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실패는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버그</a:t>
            </a:r>
            <a:endParaRPr sz="1100" dirty="0">
              <a:solidFill>
                <a:srgbClr val="222222"/>
              </a:solidFill>
              <a:latin typeface="Malgun Gothic"/>
            </a:endParaRP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 dirty="0">
                <a:solidFill>
                  <a:srgbClr val="222222"/>
                </a:solidFill>
                <a:latin typeface="Malgun Gothic"/>
              </a:rPr>
              <a:t>•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신호의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품질을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메타데이터로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표현</a:t>
            </a:r>
            <a:endParaRPr sz="1100" dirty="0">
              <a:solidFill>
                <a:srgbClr val="222222"/>
              </a:solidFill>
              <a:latin typeface="Malgun Gothic"/>
            </a:endParaRP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 dirty="0">
                <a:solidFill>
                  <a:srgbClr val="222222"/>
                </a:solidFill>
                <a:latin typeface="Malgun Gothic"/>
              </a:rPr>
              <a:t>•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동시성은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atomic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primitive로</a:t>
            </a:r>
            <a:endParaRPr sz="1100" dirty="0">
              <a:solidFill>
                <a:srgbClr val="222222"/>
              </a:solidFill>
              <a:latin typeface="Malgun Gothic"/>
            </a:endParaRP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 dirty="0">
                <a:solidFill>
                  <a:srgbClr val="222222"/>
                </a:solidFill>
                <a:latin typeface="Malgun Gothic"/>
              </a:rPr>
              <a:t>•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거버넌스는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사후가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아닌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사전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설계</a:t>
            </a:r>
            <a:endParaRPr sz="1100" dirty="0">
              <a:solidFill>
                <a:srgbClr val="222222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경쟁사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기술 프레임워크 경쟁자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13915"/>
          <a:ext cx="11274552" cy="1350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82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프레임워크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강점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한계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CrewAI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역할 기반 협업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실행 비용 증가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AutoGen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다중 대화 / Human-in-loop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설정 복잡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LangGraph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그래프 오케스트레이션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진입 장벽 높음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LlamaIndex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RAG 데이터 통합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에이전트 제어 제한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718102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서비스형 플랫폼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626178"/>
            <a:ext cx="11274552" cy="70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Lindy — 노코드 AI 빌더 / 빠른 배포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AgentGPT / AutoGPT — 목표 기반 자동 실행 (프로토타입)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기존 금융 도구 — 알고리즘 트레이딩 중심, 보안 강화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790285"/>
            <a:ext cx="11274552" cy="609600"/>
          </a:xfrm>
          <a:prstGeom prst="rect">
            <a:avLst/>
          </a:prstGeom>
          <a:solidFill>
            <a:srgbClr val="ECF3FA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ctr"/>
            <a:r>
              <a:rPr sz="1200" i="1">
                <a:solidFill>
                  <a:srgbClr val="1F3A5F"/>
                </a:solidFill>
                <a:latin typeface="Malgun Gothic"/>
              </a:rPr>
              <a:t>시장에는 "AI 빌더"와 "트레이딩 도구"는 많지만,</a:t>
            </a:r>
          </a:p>
          <a:p>
            <a:pPr algn="ctr"/>
            <a:r>
              <a:rPr sz="1200" i="1">
                <a:solidFill>
                  <a:srgbClr val="1F3A5F"/>
                </a:solidFill>
                <a:latin typeface="Malgun Gothic"/>
              </a:rPr>
              <a:t>"검증 가능한 의사결정 과정" 을 제공하는 서비스는 적다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서비스 차별화 방안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차별화 3축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81668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① 신뢰성 / 거버넌스 (핵심 경쟁력)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46169"/>
            <a:ext cx="11274552" cy="70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Tracing — LangSmith로 모든 LLM 입출력·latency 추적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Source Tier 가중치 — DART × 1.0 / Bloomberg × 0.7 / SNS × 0.3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Audit Trail — integrated_analysis_orm에 sub_results JSON 영속화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78030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② 고도화된 데이터 통합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42530"/>
            <a:ext cx="11274552" cy="70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심층 RAG (DART 사업보고서 → 사업개요 LLM 요약)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멀티 에이전트 (News / Disclosure / Finance / Sentiment / Macro)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한국 공시 + 미국 SEC + yfinance + 잠정실적 통합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74391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③ UX 차별화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938892"/>
            <a:ext cx="11274552" cy="70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사업개요 카드 — "이 회사 본질" 즉시 파악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부분 실패 표시 — "공시는 못 받았지만 뉴스+재무로 BULLISH"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한국·미국 종목 동일 UI/UX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870752"/>
            <a:ext cx="11274552" cy="609600"/>
          </a:xfrm>
          <a:prstGeom prst="rect">
            <a:avLst/>
          </a:prstGeom>
          <a:solidFill>
            <a:srgbClr val="ECF3FA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ctr"/>
            <a:r>
              <a:rPr sz="1200" i="1">
                <a:solidFill>
                  <a:srgbClr val="1F3A5F"/>
                </a:solidFill>
                <a:latin typeface="Malgun Gothic"/>
              </a:rPr>
              <a:t>"투자 결과가 아니라, 검증 가능한 의사결정 과정과</a:t>
            </a:r>
          </a:p>
          <a:p>
            <a:pPr algn="ctr"/>
            <a:r>
              <a:rPr sz="1200" i="1">
                <a:solidFill>
                  <a:srgbClr val="1F3A5F"/>
                </a:solidFill>
                <a:latin typeface="Malgun Gothic"/>
              </a:rPr>
              <a:t>안전한 실행 구조를 제공하는 서비스가 시장 승자가 된다"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108960"/>
            <a:ext cx="1371600" cy="914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algun Gothic"/>
              </a:rPr>
              <a:t>Part 3. 성장 전략 (Scale Up)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시장 진입 전략 및 사용자 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목표 고객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2121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1차 — 개인 투자자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67074"/>
            <a:ext cx="11274552" cy="4856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"이 종목이 오늘 왜 떨어졌지?"를 검색하는 사용자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차트 + 사건 + 원인 분석을 한 화면에서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995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2차 — 데이터 기반 판단을 원하는 사용자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68949"/>
            <a:ext cx="11274552" cy="2702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신입 애널리스트 / 투자 콘텐츠 크리에이터 / 학생 투자 동아리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30478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가격 차별화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55431"/>
            <a:ext cx="11274552" cy="2702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블룸버그 월 200만 원+ → 한국 공시 중심 + 합리적 가격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16961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진입 채널 및 사용자 확보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153242"/>
            <a:ext cx="11274552" cy="44196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초기: 웹사이트  →  PWA(홈 화면 추가)  →  모바일 앱 출시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786475"/>
            <a:ext cx="11274552" cy="70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SEO — 종목별 "왜 떨어졌나" 페이지 자동 생성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커뮤니티 — 디스코드 / 네이버 종목 카페 / 주식 갤러리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인플루언서 — 투자 유튜버 협업 / 분석 데이터 콘텐츠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목표 성과 (KPI)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사용량 (Engagement)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24000"/>
          <a:ext cx="11274552" cy="8331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770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지표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초기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확장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70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MAU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30~50명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10,000명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70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7일 재방문율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30%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40%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2430272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품질 (Quality)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948432"/>
          <a:ext cx="11274552" cy="8331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770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지표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초기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확장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70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사용자 만족도 (5점)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4.0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4.5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70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"자신 있는 분석" 비율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30%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45%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3854704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비용 효율 (Efficiency)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4372864"/>
          <a:ext cx="11274552" cy="8331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770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지표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초기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확장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70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응답 속도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8초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3초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70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종목당 분석 비용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200원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50원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5279136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사업성 (Business)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97296"/>
            <a:ext cx="11274552" cy="70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유료 전환율 3%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월 매출 100만 원 (1차 마일스톤)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앱 스토어 출시 (iOS / Android)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서비스 확장 방안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34247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방향 1 — 시장·자산 확장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13239"/>
            <a:ext cx="11274552" cy="6840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시장: 일본(니케이) / 유럽 / 신흥국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자산: 암호화폐 / 원자재 / 채권 / 리츠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대안 데이터: 커뮤니티 / 위성 / 카드 소비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70479"/>
            <a:ext cx="11274552" cy="434247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방향 2 — 기능 확장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77878"/>
            <a:ext cx="11274552" cy="47390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포트폴리오 분석 / 실시간 알림 / 백테스트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일일 리포트 / 주간 인사이트 / 종목 비교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24935"/>
            <a:ext cx="11274552" cy="434247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방향 3 — 수익 모델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3832334"/>
          <a:ext cx="11274552" cy="1588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72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7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94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모델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가격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4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무료 플랜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0원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4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개인 프로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월 9,900원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4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개인 프리미엄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월 29,000원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4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API 서비스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호출당 과금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4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기업 전용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월 500만~5,000만 원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5462035"/>
            <a:ext cx="11274552" cy="434247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방향 4 — 데이터 네트워크 효과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969434"/>
            <a:ext cx="11274552" cy="404504"/>
          </a:xfrm>
          <a:prstGeom prst="rect">
            <a:avLst/>
          </a:prstGeom>
          <a:solidFill>
            <a:srgbClr val="ECF3FA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ctr"/>
            <a:r>
              <a:rPr sz="1200" i="1">
                <a:solidFill>
                  <a:srgbClr val="1F3A5F"/>
                </a:solidFill>
                <a:latin typeface="Malgun Gothic"/>
              </a:rPr>
              <a:t>"1년만 운영하면, 후발주자는 따라잡기 매우 어려운 구조"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7090"/>
            <a:ext cx="11274552" cy="22802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성장 플라이휠: 사용자 행동 → 검증 사례 → 규칙 개선 → 정확도 ↑ → 만족도 ↑ → 재방문 ↑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108960"/>
            <a:ext cx="1371600" cy="914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algun Gothic"/>
              </a:rPr>
              <a:t>Part 4. 시스템 아키텍처 소개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기술 스택 한눈에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19736"/>
            <a:ext cx="11274552" cy="9164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Python 3.13 / FastAPI ≥ 0.115 / Uvicorn (port 33333)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PostgreSQL 16 (asyncpg + pgvector) / SQLAlchemy 2.0 async / Alembic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Redis 5.x (asyncio) / APScheduler 3.10 (20+ 정기 작업)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Docker Compose (app + postgres + redis)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05056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AI / LLM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18952"/>
            <a:ext cx="11274552" cy="4856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OpenAI (GPT-4o, gpt-5-mini, o1)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LangChain / LangGraph / LangSmith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73488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Market &amp;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87385"/>
            <a:ext cx="11274552" cy="70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yfinance · pykrx · FRED · Finnhub · GDELT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DART · SEC EDGAR · SerpAPI · YouTube Data API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kiwipiepy (한국어 형태소) / BeautifulSoup4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457313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71209"/>
            <a:ext cx="11274552" cy="4856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Next.js 16 (App Router, Turbopack) / React 19 / TypeScript 5.9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Jotai 2 / Tailwind CSS v4 / lightweight-charts · recharts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Hexagonal + DDD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Clean Architecture 의존성 규칙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68796"/>
            <a:ext cx="11274552" cy="24536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┌──────────────────────────────────────────────┐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│  Frameworks &amp; Drivers (FastAPI · DB · Redis)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│  ┌────────────────────────────────────────┐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│  │  Interface Adapters (Router · Repo)    │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│  │  ┌──────────────────────────────────┐  │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│  │  │  Use Cases (Application)         │  │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│  │  │  ┌────────────────────────────┐  │  │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│  │  │  │  Entities (Domain)         │  │  │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│  │  │  └────────────────────────────┘  │  │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│  │  └──────────────────────────────────┘  │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│  └────────────────────────────────────────┘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└──────────────────────────────────────────────┘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      의존성 방향: 바깥 → 안쪽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40385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레이어별 MUST 규칙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5003342"/>
          <a:ext cx="11274552" cy="16066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5853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레이어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허용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금지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85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Domain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순수 Python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FastAPI · SQLAlchemy · Redis · Pydantic · ORM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85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Application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UseCase / Port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FastAPI · ORM 직접 / Redis 직접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85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Adapter (Inbound)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Router · DTO 변환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비즈니스 로직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85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Adapter (Outbound)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Repo · External Client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도메인 규칙 침범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85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Infrastructure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DB · ORM · Redis · env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도메인 맵 &amp; 데이터 흐름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도메인 맵 (24개)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35116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사용자·인증: account / auth / kakao_auth / authentication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3065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시장 데이터: stock / stock_theme / dashboard / smart_money / company_profile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71013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콘텐츠·분석: news / disclosure / market_video / macro / history_agent / causality_agent / sentiment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88962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통합 에이전트: agent (메인 오케스트레이터)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0691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요청 처리 흐름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936187"/>
            <a:ext cx="11274552" cy="2621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HTTP Request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▼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FastAPI Router (Inbound Adapter)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▼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UseCase 실행 (Application)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▼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Port 호출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├─▶ Repository → SQLAlchemy → PostgreSQL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├─▶ External Client → OpenAI / DART / yfinance / SEC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└─▶ Cache Adapter → Redis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▼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Domain Entity 조작 (순수 Python)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▼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Response DTO 변환 → HTTP Response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도메인 맵 &amp; 데이터 흐름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05840"/>
          <a:ext cx="11274552" cy="566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72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7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3385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Job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주기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385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뉴스 수집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매일 06:00 KST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385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투자자 순매수 (KRX)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매 영업일 16:30 KST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385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SEC 13F 글로벌 포트폴리오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분기 (2·5·8·11월 15일)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385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DART 국내 포트폴리오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매월 1일 03:00 KST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108960"/>
            <a:ext cx="1371600" cy="914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algun Gothic"/>
              </a:rPr>
              <a:t>Part 5. AI Multi-Agent 구성 소개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멀티 에이전트 오케스트레이션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메인 → 서브 에이전트 협업 구조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819400"/>
            <a:ext cx="11274552" cy="36271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      ┌─────────────────────────┐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User Query ─▶│   agent (오케스트레이터)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      └────────────┬────────────┘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                   │ asyncio.gather (병렬)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┌──────────┬──────────────┼──────────────┬──────────┐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▼          ▼              ▼              ▼          ▼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┌──────┐ ┌─────────┐  ┌──────────┐  ┌──────────┐ ┌────────┐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News │ │Disclosure│  │ Finance  │  │Sentiment │ │ Macro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│Agent │ │  Agent  │  │  Agent   │  │  Agent   │ │ Agent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│SERP  │ │DART+RAG │  │yfinance  │  │SNS+GPT   │ │YouTube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│+LLM  │ │+LLM     │  │+DART     │  │+Reddit   │ │+LLM 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└──────┘ └─────────┘  └──────────┘  └──────────┘ └────────┘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                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         SourceTier 가중치 적용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                   ▼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       LangGraph → 통합 시그널 합성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                   ▼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           LangSmith Tracing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                   ▼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   Bullish / Neutral / Bearish + Confidence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Source Tier 가중치 시스템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4단계 출처 신뢰도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24000"/>
          <a:ext cx="11274552" cy="15649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0613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등급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가중치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포함 도메인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61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HIGH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× 1.0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DART · SEC · 1군 IB 공식 리포트(미국) · 기업 IR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122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MEDIUM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× 0.7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Bloomberg · Reuters · WSJ · FT · 한경 · 매경 · 월가 애널리스트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61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MEDIUM_LOW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× 0.5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국내 IB 공식 리포트 (buy-bias 보정)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61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LOW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× 0.3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SNS · 일반 뉴스 · 커뮤니티 (Naver · Reddit)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100832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섹터 오버라이드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618992"/>
            <a:ext cx="11274552" cy="9448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_SECTOR_OVERRIDE = {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Sector.ENTERTAINMENT: ({"youtube.com", "x.com", "instagram.com"}, SourceTier.MEDIUM)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}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# HYBE / SM / JYP / YG 분석 시 YouTube·X → LOW(0.3) → MEDIUM(0.7) 자동 승격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37024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종합 시그널 산출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155184"/>
            <a:ext cx="11274552" cy="14478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news      → confidence × 0.7 (MEDIUM)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disclosure → confidence × 1.0 (HIGH)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finance   → confidence × 1.0 (HIGH)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sentiment → confidence × 0.3 (LOW)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            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     weighted_score 합산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&gt; 0.2 → bullish / &lt; -0.2 → bearish / else → neutral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캐시·동시성·복원력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다층 캐시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24000"/>
          <a:ext cx="11274552" cy="16066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5853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캐시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TTL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근거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85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매크로 스냅샷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4시간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거시 위험은 분 단위로 안 변함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85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회사 프로필 (DART)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1일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기업개황 거의 안 변함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85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사업 개요 (LLM)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7일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비즈니스 모델 + LLM 비용 절약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85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통합 분석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1시간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시그널은 뉴스 흐름에 따라 갱신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85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refresh_company_list 쿨다운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24시간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DART 회사 마스터 갱신 주기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192272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Redis 분산 락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10432"/>
            <a:ext cx="11274552" cy="9448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acquired = await redis.set(lock_key, "1", nx=True, ex=60)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# atomic single-shot — race condition 0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# TTL 60초 — 프로세스 죽어도 자동 해제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# Redis 다운 시 True 반환 (가용성 우선)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28464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부분 실패 허용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246624"/>
            <a:ext cx="11274552" cy="11125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results = await asyncio.gather(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news.analyze(...), disclosure.analyze(...), finance.analyze(...),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return_exceptions=True,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# 1개 죽어도 나머지로 시그널 산출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108960"/>
            <a:ext cx="1371600" cy="914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76944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 dirty="0">
                <a:solidFill>
                  <a:srgbClr val="FFFFFF"/>
                </a:solidFill>
                <a:latin typeface="Malgun Gothic"/>
              </a:rPr>
              <a:t>Part </a:t>
            </a:r>
            <a:r>
              <a:rPr lang="en-US" sz="4400" b="1" dirty="0">
                <a:solidFill>
                  <a:srgbClr val="FFFFFF"/>
                </a:solidFill>
                <a:latin typeface="Malgun Gothic"/>
              </a:rPr>
              <a:t>6</a:t>
            </a:r>
            <a:r>
              <a:rPr sz="4400" b="1" dirty="0">
                <a:solidFill>
                  <a:srgbClr val="FFFFFF"/>
                </a:solidFill>
                <a:latin typeface="Malgun Gothic"/>
              </a:rPr>
              <a:t>. </a:t>
            </a:r>
            <a:r>
              <a:rPr sz="4400" b="1" dirty="0" err="1">
                <a:solidFill>
                  <a:srgbClr val="FFFFFF"/>
                </a:solidFill>
                <a:latin typeface="Malgun Gothic"/>
              </a:rPr>
              <a:t>서비스</a:t>
            </a:r>
            <a:r>
              <a:rPr sz="440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4400" b="1" dirty="0" err="1">
                <a:solidFill>
                  <a:srgbClr val="FFFFFF"/>
                </a:solidFill>
                <a:latin typeface="Malgun Gothic"/>
              </a:rPr>
              <a:t>전반적인</a:t>
            </a:r>
            <a:r>
              <a:rPr sz="440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4400" b="1" dirty="0" err="1">
                <a:solidFill>
                  <a:srgbClr val="FFFFFF"/>
                </a:solidFill>
                <a:latin typeface="Malgun Gothic"/>
              </a:rPr>
              <a:t>소개</a:t>
            </a:r>
            <a:r>
              <a:rPr sz="4400" b="1" dirty="0">
                <a:solidFill>
                  <a:srgbClr val="FFFFFF"/>
                </a:solidFill>
                <a:latin typeface="Malgun Gothic"/>
              </a:rPr>
              <a:t> (</a:t>
            </a:r>
            <a:r>
              <a:rPr sz="4400" b="1" dirty="0" err="1">
                <a:solidFill>
                  <a:srgbClr val="FFFFFF"/>
                </a:solidFill>
                <a:latin typeface="Malgun Gothic"/>
              </a:rPr>
              <a:t>기능</a:t>
            </a:r>
            <a:r>
              <a:rPr sz="4400" b="1" dirty="0">
                <a:solidFill>
                  <a:srgbClr val="FFFFFF"/>
                </a:solidFill>
                <a:latin typeface="Malgun Gothic"/>
              </a:rPr>
              <a:t>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주요 기능 한눈에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1. 종합 종목 분석 (/agent/query)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24000"/>
            <a:ext cx="11274552" cy="9164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한 번의 요청 → 5개 에이전트 병렬 분석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결과: Bullish / Neutral / Bearish + Confidence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사업 개요 카드 + 출처 신뢰도 분포 시각화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한국·미국 동일 UI/UX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3584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2. 히스토리·인과관계 대시보드 (/dashboard)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31744"/>
            <a:ext cx="11274552" cy="70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종목 일봉 + 이상치 봉(anomaly) 자동 탐지 (5중 탐지기)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LLM 원인 추론 ("왜 이 날 떨어졌는가") + 가설 신뢰도 (HIGH/MEDIUM/LOW)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거시 이벤트 매칭 + 마커 6종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05936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3. Sentiment 분석 (/sentiment)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324096"/>
            <a:ext cx="11274552" cy="9164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Reddit + 네이버 종목토론 SNS 감정 점수화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GPT-5-mini 감정 분류 (positive / negative / neutral)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밈 티커 부스트 (TSLA · GME · NVDA × 1.35)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부정 비율 vs VIX 비교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31368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4. 거시 경제 현황판 (/macro)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831840"/>
            <a:ext cx="11274552" cy="70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금리 / 유가 / 환율 / 경제 일정 자동 수집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Risk-ON / Risk-OFF 자동 판단 + LLM 근거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4h Redis 캐시로 실시간성 + 비용 균형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주요 기능 한눈에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2077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5. Smart Money — 국내 자금 흐름 (/smart-money)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99770"/>
            <a:ext cx="11274552" cy="66286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외국인 / 기관 / 개인 순매수 랭킹 (당일)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집중 매수 종목 (3일 / 5일 / 10일 기간 선택)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종목 클릭 → 최근 30일 투자자별 추이 차트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35792"/>
            <a:ext cx="11274552" cy="42077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6. 글로벌 포트폴리오 (/smart-money/global-portfolio)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29722"/>
            <a:ext cx="11274552" cy="66286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Warren Buffett · Michael Burry · Cathie Wood 등 19명 (SEC 13F)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신규편입 / 비중확대 / 비중축소 / 청산 배지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국내 — 국민연금 · 미래에셋 · 박현주 등 10명 (DART)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65744"/>
            <a:ext cx="11274552" cy="42077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7. 관심 종목 + 개인화 (/settings/watchlist)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59674"/>
            <a:ext cx="11274552" cy="66286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테마별 종목 토글 등록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뉴스 페이지 — 등록 종목명으로 자동 필터링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유튜브 페이지 — 종목명으로 YouTube 병렬 검색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695696"/>
            <a:ext cx="11274552" cy="42077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8. 회사 프로필 (/company-profile/{ticker})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189626"/>
            <a:ext cx="11274552" cy="66286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DART 회사 마스터 + SEC EDGAR (US)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DART 사업보고서 RAG → LLM 사업 개요 (7일 캐시)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ETF / INDEX 종목도 동일 카드 형식 제공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25648"/>
            <a:ext cx="11274552" cy="42077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9. 카카오 OAuth 인증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19578"/>
            <a:ext cx="11274552" cy="25554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temp_token / user_token 분리 → 가입 전 사용자도 핵심 기능 시연 가능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108960"/>
            <a:ext cx="1371600" cy="914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76944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 dirty="0">
                <a:solidFill>
                  <a:srgbClr val="FFFFFF"/>
                </a:solidFill>
                <a:latin typeface="Malgun Gothic"/>
              </a:rPr>
              <a:t>Part </a:t>
            </a:r>
            <a:r>
              <a:rPr lang="en-US" sz="4400" b="1" dirty="0">
                <a:solidFill>
                  <a:srgbClr val="FFFFFF"/>
                </a:solidFill>
                <a:latin typeface="Malgun Gothic"/>
              </a:rPr>
              <a:t>7</a:t>
            </a:r>
            <a:r>
              <a:rPr sz="4400" b="1" dirty="0">
                <a:solidFill>
                  <a:srgbClr val="FFFFFF"/>
                </a:solidFill>
                <a:latin typeface="Malgun Gothic"/>
              </a:rPr>
              <a:t>. 팀 </a:t>
            </a:r>
            <a:r>
              <a:rPr sz="4400" b="1" dirty="0" err="1">
                <a:solidFill>
                  <a:srgbClr val="FFFFFF"/>
                </a:solidFill>
                <a:latin typeface="Malgun Gothic"/>
              </a:rPr>
              <a:t>구성</a:t>
            </a:r>
            <a:endParaRPr sz="4400" b="1" dirty="0">
              <a:solidFill>
                <a:srgbClr val="FFFFFF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팀원 구성 및 테크 역량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Antelligen 팀 (5인)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2211160"/>
              </p:ext>
            </p:extLst>
          </p:nvPr>
        </p:nvGraphicFramePr>
        <p:xfrm>
          <a:off x="457200" y="1450848"/>
          <a:ext cx="11274552" cy="47023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11816"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FFFFFF"/>
                          </a:solidFill>
                          <a:latin typeface="Malgun Gothic"/>
                        </a:rPr>
                        <a:t>이름</a:t>
                      </a:r>
                      <a:endParaRPr sz="1100" b="1" dirty="0">
                        <a:solidFill>
                          <a:srgbClr val="FFFFFF"/>
                        </a:solidFill>
                        <a:latin typeface="Malgun Gothic"/>
                      </a:endParaRP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담당 영역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테크 역량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811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김영진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통합 에이전트 / 데이터 인프라 / 신뢰도 시스템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Python · DDD · Hexagonal · LangChain · Redis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811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김세진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Sentiment 에이전트 전체 / 미국 주식 뉴스 보강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Python · DDD · BS4 · OpenAI · Next.js · Jotai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811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문우성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거시 경제 현황판 / 시스템 아키텍처 정립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시스템 설계 · Hexagonal · LLM · YouTube API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811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김민규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History Agent / Causality Agent / Dashboard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Python · LangGraph · Next.js · lightweight-charts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811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이민영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개인화 시스템 / Smart Money 대시보드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Next.js · React · Playwright ·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Malgun Gothic"/>
                        </a:rPr>
                        <a:t>Jotai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 · DDD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팀원 구성 및 테크 역량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#18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42976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┌─────────────────────────────────────────────────────────┐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                Antelligen 플랫폼                    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                                                    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┌──────────────────────────────────────────────────┐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│  김영진 — 메인 에이전트 + 데이터 인프라            │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│  (뉴스·공시·재무 서브에이전트 통합 / US 확대 /     │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│   SourceTier 가중치 / 분산 락 / 사업개요 카드)     │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└──────────────────────────────────────────────────┘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                                                    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┌──────────────┐  ┌──────────────┐  ┌──────────────┐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│   김세진     │  │   문우성     │  │   김민규     │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│  감정분석    │  │  거시경제    │  │  히스토리·   │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│  에이전트    │  │  현황판      │  │  인과관계    │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│  (SNS·Reddit │  │  (금리·유가· │  │  에이전트 +  │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│   GPT 분석)  │  │   환율·      │  │  Dashboard   │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│              │  │   Risk판단)  │  │  UI          │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└──────────────┘  └──────────────┘  └──────────────┘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                                                    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┌──────────────────────────────────────────────────┐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│  이민영 — 개인화 시스템 + Smart Money 대시보드     │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│  (관심종목 watchlist → 뉴스·유튜브 개인화 /        │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│   KRX 순매수 수집 / SEC 13F 19명 / DART 10명)     │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└──────────────────────────────────────────────────┘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└─────────────────────────────────────────────────────────┘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김영진 (1/3): 전 KRX 종목 지원 + 미국 주식 확대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23585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Before vs After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02577"/>
          <a:ext cx="11274552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531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Before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After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31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뉴스 분석 가능 종목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하드코딩 8개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전 KRX 2,500+ 종목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531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미국 종목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미지원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전 미국 상장주 (AAPL, TSLA 등)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531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재무 데이터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DART 정기공시만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DART + yfinance(US) + 잠정실적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531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공시 데이터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DART만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DART + SEC EDGAR (8-K/10-K/10-Q)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2852287"/>
            <a:ext cx="11274552" cy="423585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TickerKeywordResolverPort — 종목 제한 해제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349025"/>
            <a:ext cx="11274552" cy="1537672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기존 문제: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TICKER_TO_KEYWORDS = {"005930": ["삼성전자"], ...}  ← 8개 외 키워드 없음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→ 시그널 산출 불가, 레이어 위반(use case 내부 상수 직접 import)</a:t>
            </a:r>
          </a:p>
          <a:p>
            <a:pPr algn="l"/>
            <a:endParaRPr sz="1000">
              <a:solidFill>
                <a:srgbClr val="E0E0E0"/>
              </a:solidFill>
              <a:latin typeface="Consolas"/>
            </a:endParaRP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해결: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Port.resolve(ticker) → DB에서 stock_name 동적 조회 + alias 결합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→ "000270" (기아) → ["기아", "기아차", "KIA"] 자동 생성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→ 전 KRX 2,500+ 종목 정상 동작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59849"/>
            <a:ext cx="11274552" cy="423585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MarketRegion — KR/US 분기 기반 인프라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456586"/>
            <a:ext cx="11274552" cy="1218533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class MarketRegion(Enum):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KR_KOSPI / KR_KOSDAQ / KR_KONEX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US_NYSE / US_NASDAQ / UNKNOWN</a:t>
            </a:r>
          </a:p>
          <a:p>
            <a:pPr algn="l"/>
            <a:endParaRPr sz="1000">
              <a:solidFill>
                <a:srgbClr val="E0E0E0"/>
              </a:solidFill>
              <a:latin typeface="Consolas"/>
            </a:endParaRP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# ticker 형식으로 자동 추론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# 6자리 숫자 → KR / 1~5 알파벳 → US_NASDAQ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김영진 (1/3): 전 KRX 종목 지원 + 미국 주식 확대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#19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05840"/>
          <a:ext cx="11274552" cy="566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173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영역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KR 경로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US 경로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73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뉴스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네이버 뉴스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SerpAPI (gl=us, hl=en)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73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재무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DART 분기보고서 + 잠정실적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yfinance 분기 EPS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173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공시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DART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SEC EDGAR (8-K/10-K/10-Q)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김영진 (2/3): Source Tier 가중치 + 종합 시그널 반영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03709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4단계 SourceTier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82701"/>
            <a:ext cx="11274552" cy="1313436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class SourceTier(str, Enum):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HIGH       = "HIGH"        # DART, SEC, 미국 IB 공식 리포트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MEDIUM     = "MEDIUM"      # Bloomberg, Reuters, WSJ, 한경, 매경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MEDIUM_LOW = "MEDIUM_LOW"  # 국내 IB 공식 리포트 (buy-bias 보정)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LOW        = "LOW"         # SNS, 일반 뉴스, 커뮤니티</a:t>
            </a:r>
          </a:p>
          <a:p>
            <a:pPr algn="l"/>
            <a:endParaRPr sz="1000">
              <a:solidFill>
                <a:srgbClr val="E0E0E0"/>
              </a:solidFill>
              <a:latin typeface="Consolas"/>
            </a:endParaRP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_DEFAULT_WEIGHTS = { HIGH: 1.0, MEDIUM: 0.7, MEDIUM_LOW: 0.5, LOW: 0.3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69289"/>
            <a:ext cx="11274552" cy="403709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엔터테인먼트 섹터 — SNS 가중치 보정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346150"/>
            <a:ext cx="11274552" cy="116135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_SECTOR_OVERRIDE = {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Sector.ENTERTAINMENT: ({"youtube.com", "x.com", "instagram.com"}, SourceTier.MEDIUM)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}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# HYBE(352820) / SM(041510) / JYP(035900) / YG(122870)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# YouTube·X·Instagram → LOW(0.3) → MEDIUM(0.7) 자동 승격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# → 엔터주 분석 시 팬덤 SNS 반응이 시그널에 제대로 반영됨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80657"/>
            <a:ext cx="11274552" cy="403709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메인 에이전트 종합 시그널 산출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057518"/>
            <a:ext cx="11274552" cy="1617601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for r in results: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tier = r.source_tier or _AGENT_DEFAULT_TIER.get(r.agent_name)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multiplier = default_multiplier(tier)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confidence = r.confidence * multiplier      # 티어 보정 적용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weighted_score += signal_score * confidence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confidence_total += confidence</a:t>
            </a:r>
          </a:p>
          <a:p>
            <a:pPr algn="l"/>
            <a:endParaRPr sz="1000">
              <a:solidFill>
                <a:srgbClr val="E0E0E0"/>
              </a:solidFill>
              <a:latin typeface="Consolas"/>
            </a:endParaRP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avg_score = weighted_score / confidence_total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# &gt; 0.2 → bullish / &lt; -0.2 → bearish / else → neutral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김영진 (2/3): Source Tier 가중치 + 종합 시그널 반영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#20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414528"/>
          </a:xfrm>
          <a:prstGeom prst="rect">
            <a:avLst/>
          </a:prstGeom>
          <a:solidFill>
            <a:srgbClr val="ECF3FA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ctr"/>
            <a:r>
              <a:rPr sz="1200" i="1">
                <a:solidFill>
                  <a:srgbClr val="1F3A5F"/>
                </a:solidFill>
                <a:latin typeface="Malgun Gothic"/>
              </a:rPr>
              <a:t>가중치 수치(HIGH/MEDIUM/MEDIUM_LOW/LOW)는 env로 노출 → 운영 중 튜닝 가능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김영진 (3/3): On-demand 분산 락 + 조건부 Startup + 사업개요 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30254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On-demand 공시 수집 + Redis 분산 락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9246"/>
            <a:ext cx="11274552" cy="1886045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문제: 동일 종목 동시 5개 요청 → DART API 5중 호출 → quota 낭비</a:t>
            </a:r>
          </a:p>
          <a:p>
            <a:pPr algn="l"/>
            <a:endParaRPr sz="1000">
              <a:solidFill>
                <a:srgbClr val="E0E0E0"/>
              </a:solidFill>
              <a:latin typeface="Lucida Console"/>
            </a:endParaRP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해결: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요청 A → Redis SET NX EX 락 획득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  → DART 5개 유형 병렬 fetch (A/B/C/D/E)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  → DB upsert → 락 해제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요청 B → 락 대기 (최대 30초) → DB에 결과 보이면 즉시 공유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요청 C ┘</a:t>
            </a:r>
          </a:p>
          <a:p>
            <a:pPr algn="l"/>
            <a:endParaRPr sz="1000">
              <a:solidFill>
                <a:srgbClr val="E0E0E0"/>
              </a:solidFill>
              <a:latin typeface="Lucida Console"/>
            </a:endParaRP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보장: TTL 60초 deadlock 방지 / Redis 장애 시 graceful degrade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68443"/>
            <a:ext cx="11274552" cy="430254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조건부 Startup 잡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971849"/>
          <a:ext cx="11274552" cy="1065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2769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잡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조건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절약 효과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769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refresh_company_list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24h 이내 성공 이력 있으면 스킵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KRX 전종목 재호출 방지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769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process_documents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미처리 공시 1건이라도 있을 때만 실행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불필요한 LLM 처리 방지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769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refresh_market_risk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Redis 4h 이내 스냅샷 있으면 복원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YouTube quota + LLM 비용 최대 절약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096078"/>
            <a:ext cx="11274552" cy="430254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사업개요 카드 — 메인 에이전트 답변 강화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599484"/>
            <a:ext cx="11274552" cy="1075635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asyncio.create_task → 병렬 fetch (latency 거의 0)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DART 사업보고서 RAG (최대 5청크 / 3,000자)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→ LLM 사업개요 요약 → Redis 7일 캐시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→ (1) LLM 합성 컨텍스트로 주입 → 답변 품질 향상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→ (2) 응답 페이로드에 카드 DTO로 부착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김세진 (1/3): Sentiment 도메인 신설 (DDD 헥사고날)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담당 범위: 백엔드 21개 파일 신규 (+1,727줄) / 프론트엔드 5개 파일 신규 (+592줄)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51482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신설 도메인 구조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897124"/>
            <a:ext cx="11274552" cy="36271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app/domains/sentiment/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├── adapter/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 ├── inbound/api/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 │   └── sentiment_router.py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 └── outbound/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     ├── external/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     │   ├── reddit_client.py          ← Reddit 무인증 수집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     │   ├── naver_finance_discussion_client.py  ← HTML 스크래핑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     │   ├── toss_community_client.py  ← stub (차기 이터레이션)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     │   └── openai_sns_signal_adapter.py  ← GPT 감정분석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     ├── persistence/sns_post_repository_impl.py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     └── cache/sns_signal_cache.py    ← Redis TTL 10분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├── application/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 ├── port/ (수집·분석·저장 Port 4개)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 └── usecase/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     ├── collect_sns_posts_usecase.py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     └── analyze_sns_signal_usecase.py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└── domain/model/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├── sns_post.py        ← 도메인 엔티티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└── sns_signal_result.py  ← 표준 응답 DTO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김세진 (1/3): Sentiment 도메인 신설 (DDD 헥사고날)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#22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05840"/>
          <a:ext cx="11274552" cy="566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173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수집기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방식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특이사항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73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Reddit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.json 무인증 엔드포인트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신규 계정 OAuth 락 우회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73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네이버 종목토론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BeautifulSoup4 HTML 스크래핑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EUC-KR 디코딩 버그 직접 발견·수정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173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토스 커뮤니티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stub (인터페이스만 보존)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SPA 봇 탐지 → Playwright 차기 이터레이션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김세진 (2/3): GPT 감정분석 + 밈/섹터 가중치 + DB 설계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GPT 감정분석 어댑터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30755"/>
            <a:ext cx="11274552" cy="17830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입력: 게시물 제목/본문 리스트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GPT-5-mini (팀 표준 모델)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게시물별 감정 분류 (positive / negative / neutral)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종합 시그널: bullish / bearish / neutral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+ confidence (0~1)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+ overall_negative_ratio (VIX 비교용)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93743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밈 티커 · 섹터별 가중치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5118658"/>
          <a:ext cx="11274552" cy="1350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82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종목 유형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가중치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이유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TSLA, GME, AMC, NVDA 등 밈 티커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confidence × 1.35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SNS 반응이 실제 가격에 직접 영향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엔터(JYP/SM/HYBE/YG)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× 1.3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아티스트 SNS가 핵심 알파 소스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게임주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× 1.2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커뮤니티 여론과 출시 성과 연동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일반 종목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× 1.0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기본값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김세진 (2/3): GPT 감정분석 + 밈/섹터 가중치 + DB 설계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#23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19507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CREATE TABLE sns_posts (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id SERIAL PRIMARY KEY,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external_id VARCHAR UNIQUE,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platform VARCHAR NOT NULL,    -- reddit / naver_finance / toss_community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ticker VARCHAR NOT NULL,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title TEXT, body TEXT, author VARCHAR, url VARCHAR,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posted_at TIMESTAMP, collected_at TIMESTAMP DEFAULT NOW()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);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CREATE INDEX idx_sns_posts_ticker_platform ON sns_posts(ticker, platform);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CREATE INDEX idx_sns_posts_posted_at ON sns_posts(posted_at);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7223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표준 응답 DTO — 메인 에이전트 자연 통합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832908"/>
            <a:ext cx="11274552" cy="16154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SnsSignalResult {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ticker, signal, confidence, source_tier,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overall_negative_ratio,   # VIX 비교용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per_platform,             # 플랫폼별 결과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evidence,                 # 근거 게시물 top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reasoning, analyzed_at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}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# → 메인 에이전트가 confidence × source_tier_weight 로 자연스럽게 합산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김세진 (3/3): 운영 이슈 직접 수정 + Redis 캐시 + 프론트엔드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자체 발견·수정한 버그 및 운영 이슈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77289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① 네이버 한글 깨짐 (EUC-KR 디코딩 버그)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37410"/>
            <a:ext cx="11274552" cy="11125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# Before — DB에 한글이 깨져 저장됨 ("@@@ ��ш꼍遺�")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content = resp.content.decode("euc-kr", errors="replace")</a:t>
            </a:r>
          </a:p>
          <a:p>
            <a:pPr algn="l"/>
            <a:endParaRPr sz="1000">
              <a:solidFill>
                <a:srgbClr val="E0E0E0"/>
              </a:solidFill>
              <a:latin typeface="Consolas"/>
            </a:endParaRP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# After — 정상 한글 저장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soup = BeautifulSoup(resp.content, "html.parser", from_encoding="euc-kr")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6371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② 뉴스 라우터 DI 버그 수정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936492"/>
            <a:ext cx="11274552" cy="777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# Before: AnalyzeNewsSignalUseCase(repository=repo)  ← keyword_resolver 누락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# After:  AnalyzeNewsSignalUseCase(repository=repo,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#             keyword_resolver=TickerKeywordResolver(...))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940173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③ Redis 캐시 + 자동 collect 트리거 (PR 머지 후 운영 이슈 즉시 해결)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400294"/>
            <a:ext cx="11274552" cy="11125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analyze 엔드포인트 흐름: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1. Redis cache.get(ticker) → HIT이면 즉시 반환 (GPT 호출 X)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2. DB에 게시물 5건 미만 → CollectSnsPostsUseCase 자동 호출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3. GPT 분석 → 결과를 Redis TTL 600초 캐시에 저장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※ 캐시를 라우터 레벨에 배치 → UseCase 순수성 (DDD 원칙) 유지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김세진 (3/3): 운영 이슈 직접 수정 + Redis 캐시 + 프론트엔드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17830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4가지 상태: IDLE → LOADING → SUCCESS / ERROR</a:t>
            </a:r>
          </a:p>
          <a:p>
            <a:pPr algn="l"/>
            <a:endParaRPr sz="1000">
              <a:solidFill>
                <a:srgbClr val="E0E0E0"/>
              </a:solidFill>
              <a:latin typeface="Consolas"/>
            </a:endParaRP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SUCCESS 시 시각화: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▸ 시그널 배지 (상승↑ / 하락↓ / 중립) + 색상 차별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▸ 신뢰도 게이지 바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▸ 긍정/중립/부정 누적 비율 바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▸ 플랫폼별 결과 (Reddit / 네이버 종목토론 한국어 라벨)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▸ 근거 게시물 top 3 (감정 색상 마킹)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▸ AI 한국어 요약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750814"/>
            <a:ext cx="11274552" cy="414528"/>
          </a:xfrm>
          <a:prstGeom prst="rect">
            <a:avLst/>
          </a:prstGeom>
          <a:solidFill>
            <a:srgbClr val="ECF3FA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ctr"/>
            <a:r>
              <a:rPr sz="1200" i="1">
                <a:solidFill>
                  <a:srgbClr val="1F3A5F"/>
                </a:solidFill>
                <a:latin typeface="Malgun Gothic"/>
              </a:rPr>
              <a:t>김영진의 StockAnalysisView 페이지에 자연스럽게 통합 — 다른 sub_agent 카드들과 동일 패널에 표시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문우성 (1/3): 거시경제 현황판 데이터 수집 파이프라인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11212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데이터 수집 구조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90204"/>
            <a:ext cx="11274552" cy="1028032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매일 자동 수집 → 저장 → 전일 대비 등락 계산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├── 금리 (기준금리, 국채 10년물)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├── 유가 (WTI, 브렌트)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├── 환율 (USD/KRW, DXY)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└── 주요 경제 일정 (FOMC, CPI, 실업률 발표 등)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91389"/>
            <a:ext cx="11274552" cy="411212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수집 소스 &amp; 스케줄러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075754"/>
          <a:ext cx="11274552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785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데이터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소스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주기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85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금리·거시지표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FRED (12개 시리즈)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일 1회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85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유가 · 환율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연관자산 파이프라인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일 1회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85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VIX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CBOE / yfinance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일 1회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85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경제 일정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크롤링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주 1회 갱신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388177"/>
            <a:ext cx="11274552" cy="411212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Redis 스냅샷 관리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872542"/>
            <a:ext cx="11274552" cy="1802577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# 4시간 이내 스냅샷이 Redis에 있으면 메모리 store로 복원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async def _try_restore_macro_snapshot(max_age_hours: int = 4) -&gt; bool: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raw = await redis_client.get(MACRO_SNAPSHOT_REDIS_KEY)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if not raw: return False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payload = json.loads(raw)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if datetime.now() - updated_at &gt; timedelta(hours=max_age_hours):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    return False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get_market_risk_snapshot_store().set(response, updated_at=updated_at)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return True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# → 서버 재시작·hot-reload 시 LLM 호출 0회 (YouTube quota 보호)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문우성 (2/3): Risk-ON / Risk-OFF 자동 판단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시장 상태 판단 로직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24000"/>
            <a:ext cx="11274552" cy="17830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핵심 변수 조합 분석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├── 금리 방향 (상승 vs 하락)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├── 달러 강도 (DXY 방향)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├── VIX 수준 (공포 지수)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└── 유가 방향 (에너지 비용)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LLM 기반 종합 판단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Risk-ON / Risk-OFF 결정 + 근거 자동 생성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0232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Risk-ON / Risk-OFF 출력 예시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898392"/>
          <a:ext cx="11274552" cy="1203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16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판단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의미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근거 예시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Risk-ON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위험자산 선호 심리 강화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"금리 하락 + 달러 약세 → 성장주·신흥국 매수 환경 조성"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Risk-OFF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위험자산 회피 심리 강화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"VIX 25 돌파 + 달러 강세 → 미 국채·금 선호, 위험자산 매도 압력"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129784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사용자 화면 구성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647944"/>
            <a:ext cx="11274552" cy="9448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/macro 페이지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├── 금리 · 유가 · 환율 카드 (전일 대비 등락 색상)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├── 주요 경제 일정 캘린더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└── Risk-ON / Risk-OFF 배지 + LLM 근거 텍스트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문우성 (3/3): 메인 에이전트 연결 + 아키텍처 기여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거시경제 에이전트 → 메인 에이전트 통합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24000"/>
            <a:ext cx="11274552" cy="17830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거시경제 에이전트 (문우성)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└── MarketRiskJudgementResponse 생성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Redis 4h 캐시 저장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메인 에이전트 (김영진 통합) 호출 시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└── 거시 스냅샷 로드 → 종합 시그널 산출 컨텍스트로 활용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거시 환경 불안정 → 전체 confidence 하향 반영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0232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시스템 아키텍처 정립 기여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98392"/>
            <a:ext cx="11274552" cy="9164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전체 DDD · 헥사고날 아키텍처 설계 참여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레이어별 의존성 규칙 문서화 (WOOSUNG_system-architecture.md)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도메인 간 인터페이스 표준화 방향 제시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외부 API 공통 Client 패턴 정립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87976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기술 스택 (담당 영역)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06136"/>
            <a:ext cx="11274552" cy="113182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YouTube Data API (거시 뉴스·영상 수집)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FRED API (금리·CPI·실업률 시리즈)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OpenAI GPT (Risk 판단 LLM)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APScheduler (거시 데이터 정기 수집 잡)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Redis (스냅샷 4h 캐시 + 분산 락)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김민규 (1/3): History Agent — 8단계 타임라인 파이프라인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20324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한 줄 요약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99316"/>
            <a:ext cx="11274552" cy="391535"/>
          </a:xfrm>
          <a:prstGeom prst="rect">
            <a:avLst/>
          </a:prstGeom>
          <a:solidFill>
            <a:srgbClr val="ECF3FA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ctr"/>
            <a:r>
              <a:rPr sz="1200" i="1">
                <a:solidFill>
                  <a:srgbClr val="1F3A5F"/>
                </a:solidFill>
                <a:latin typeface="Malgun Gothic"/>
              </a:rPr>
              <a:t>종목 코드 하나 → 8개 외부 소스에서 데이터 수집 → "시점이 명확한 사건"만 골라 타임라인 자동 생성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4003"/>
            <a:ext cx="11274552" cy="420324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8단계 파이프라인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457480"/>
            <a:ext cx="11274552" cy="4217639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Step 0  ticker 정규화 + 자산 유형 자동 판별 (EQUITY / INDEX / ETF)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Step 1  Redis 캐시 HIT → 즉시 반환 (~50ms)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↓ MISS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Step 2  4개 소스 비동기 병렬 수집 (asyncio.gather)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├── yfinance  OHLCV + 기업이벤트 (배당·분할)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├── DART + yfinance  실적·임원변동·자사주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├── SEC EDGAR + DART  공시 (8-K/DART 주요사항)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└── Finnhub → GDELT → Naver  뉴스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Step 3  Jaccard ≥ 0.8 공시 중복 제거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(같은 사건이 DART + SEC + Yahoo 에서 동시 입수될 때)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Step 4  DB에서 기존 enrichment 로드 → title/causality 즉시 주입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Step 5  신규 이벤트 병렬 enrichment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├── SURGE/PLUNGE 상위 3건 → Causality Agent 호출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├── 가격 이벤트 제목 생성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     └── 공시 한글 요약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Step 6  EventClassifier v2 + importance_score 산정 (0~1)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Step 7  DB upsert (event_enrichments, detail_hash PK)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 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Step 8  Redis setex 3600s TTL → 응답 반환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김민규 (1/3): History Agent — 8단계 타임라인 파이프라인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자산 유형별 파이프라인 분기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7529470"/>
              </p:ext>
            </p:extLst>
          </p:nvPr>
        </p:nvGraphicFramePr>
        <p:xfrm>
          <a:off x="457200" y="1588008"/>
          <a:ext cx="11274552" cy="4501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2547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자산 유형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FFFFFF"/>
                          </a:solidFill>
                          <a:latin typeface="Malgun Gothic"/>
                        </a:rPr>
                        <a:t>예시</a:t>
                      </a:r>
                      <a:endParaRPr sz="1100" b="1" dirty="0">
                        <a:solidFill>
                          <a:srgbClr val="FFFFFF"/>
                        </a:solidFill>
                        <a:latin typeface="Malgun Gothic"/>
                      </a:endParaRP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파이프라인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547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EQUITY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AAPL, 005930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기업 이벤트 + 공시 + 뉴스 + 거시 컨텍스트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547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INDEX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^GSPC, ^KS11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지수별 맞춤 매크로 이벤트 + 인과 규칙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547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ETF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SPY, QQQ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 err="1">
                          <a:solidFill>
                            <a:srgbClr val="222222"/>
                          </a:solidFill>
                          <a:latin typeface="Malgun Gothic"/>
                        </a:rPr>
                        <a:t>자산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Malgun Gothic"/>
                        </a:rPr>
                        <a:t>클래스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Malgun Gothic"/>
                        </a:rPr>
                        <a:t>매크로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 +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Malgun Gothic"/>
                        </a:rPr>
                        <a:t>상위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 5개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Malgun Gothic"/>
                        </a:rPr>
                        <a:t>보유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Malgun Gothic"/>
                        </a:rPr>
                        <a:t>종목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Malgun Gothic"/>
                        </a:rPr>
                        <a:t>이벤트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Malgun Gothic"/>
                        </a:rPr>
                        <a:t>분해</a:t>
                      </a:r>
                      <a:endParaRPr sz="1000" dirty="0">
                        <a:solidFill>
                          <a:srgbClr val="222222"/>
                        </a:solidFill>
                        <a:latin typeface="Malgun Gothic"/>
                      </a:endParaRP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김민규 (2/3): 이상치 탐지 + 이벤트 분류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21741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5중 이상치 탐지기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00733"/>
          <a:ext cx="11274552" cy="1588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953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탐지기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트리거 조건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마커 색상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95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z-score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`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수익률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95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cumulative 5d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5일 누적 수익률 `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±10%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95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cumulative 20d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20일 누적 수익률 `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±15%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95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drawdown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60봉 고점 대비 -10% 도달 → -3% 회복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보라 🔽 / 에메랄드 🔼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95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volatility cluster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5거래일 내 `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r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3085608"/>
            <a:ext cx="11274552" cy="392855"/>
          </a:xfrm>
          <a:prstGeom prst="rect">
            <a:avLst/>
          </a:prstGeom>
          <a:solidFill>
            <a:srgbClr val="ECF3FA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ctr"/>
            <a:r>
              <a:rPr sz="1200" i="1">
                <a:solidFill>
                  <a:srgbClr val="1F3A5F"/>
                </a:solidFill>
                <a:latin typeface="Malgun Gothic"/>
              </a:rPr>
              <a:t>settings.anomaly_robust_sigma_method: "stdev" / "stable" / "mad" 선택 가능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51615"/>
            <a:ext cx="11274552" cy="421741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이벤트 분류 체계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4046509"/>
          <a:ext cx="11274552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4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Category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대표 Types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탐지 방법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CORPORATE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EARNINGS, DIVIDEND, STOCK_SPLIT, BUYBACK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yfinance 코드 매칭 (규칙)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ANNOUNCEMENT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MERGER_ACQUISITION, CONTRACT, MAJOR_EVENT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SEC Item 코드 + 본문 LLM 재분류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MACRO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INTEREST_RATE, CPI, VIX_SPIKE, OIL_SPIKE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FRED 시리즈 + 연관자산 threshold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NEWS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(단일 유형)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source 필드로 provider 구분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5390664"/>
            <a:ext cx="11274552" cy="421741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MACRO TYPE_A vs TYPE_B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5885557"/>
          <a:ext cx="11274552" cy="8037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3187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분류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정의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reason 필드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18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TYPE_A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원인 / 발표 자체 (FOMC, CPI 발표)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없음 (사실 자체가 사유)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18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TYPE_B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결과 / 시장 반응 (VIX 급등, 환율 변동)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추정 사유 + 신뢰도 (HIGH/MEDIUM/LOW)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김민규 (3/3): Causality Agent + Dashboard UI + SSE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Causality Agent — "왜 이 날 급등/급락했는가"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24000"/>
            <a:ext cx="11274552" cy="22860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이상치 봉(Anomaly Bar) 탐지 → 차트에 마커 자동 표시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   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사용자 마커 클릭 (lazy 호출 — LLM 비용 절약)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   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LangGraph StateGraph 4노드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Node 1: 날짜 주변 뉴스·공시·거시지표 병렬 수집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Node 2: LLM Tool Use (8개 도구 자율 선택·호출)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Node 3: 가설 3~6개 생성 + 신뢰도 평가 (HIGH/MEDIUM/LOW)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Node 4: 환각 방지 후처리 + 출처 검증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   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event_enrichments DB 영구 저장 (detail_hash PK)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→ 동일 봉 두 번째 요청부터 ~50ms 응답 (캐시 write-through)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83152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Dashboard UI — /dashboard 2열 4:1 그리드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401312"/>
            <a:ext cx="11274552" cy="211836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┌──────────────────────────────┬──────────────────┐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NasdaqChart                 │  StockSearch  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+ 이상치 봉 마커 6종         │               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  (SURGE/PLUNGE/VIX_SPIKE)  ├──────────────────┤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마커 클릭 → Causality 팝업  │  AssetProfile 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├──────────────────────────────│  Panel        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HistoryPanel                │               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(타임라인 카드 목록)         │               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│  카드 클릭 → 차트 봉 하이라이 │                  │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└──────────────────────────────┴──────────────────┘</a:t>
            </a:r>
          </a:p>
          <a:p>
            <a:pPr algn="l"/>
            <a:r>
              <a:rPr sz="1000">
                <a:solidFill>
                  <a:srgbClr val="E0E0E0"/>
                </a:solidFill>
                <a:latin typeface="Lucida Console"/>
              </a:rPr>
              <a:t>상태: Jotai 2.19 (atomWithStorage — localStorage 영속)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김민규 (3/3): Causality Agent + Dashboard UI + SSE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#30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16154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GET /api/v1/history-agent/timeline/stream</a:t>
            </a:r>
          </a:p>
          <a:p>
            <a:pPr algn="l"/>
            <a:endParaRPr sz="1000">
              <a:solidFill>
                <a:srgbClr val="E0E0E0"/>
              </a:solidFill>
              <a:latin typeface="Consolas"/>
            </a:endParaRP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이벤트 타입: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progress → 처리 중인 단계 실시간 표시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done     → 완성된 타임라인 데이터 전송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error    → 에러 메시지</a:t>
            </a:r>
          </a:p>
          <a:p>
            <a:pPr algn="l"/>
            <a:endParaRPr sz="1000">
              <a:solidFill>
                <a:srgbClr val="E0E0E0"/>
              </a:solidFill>
              <a:latin typeface="Consolas"/>
            </a:endParaRP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효과: 4~8초 로딩 대신 진행 상황을 사용자가 실시간 확인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이민영 (1/3): 관심종목 기반 개인화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37136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watchlist 관리 (/settings/watchlist)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16128"/>
            <a:ext cx="11274552" cy="1751538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UI: 테마 그룹별 종목 버튼 (반도체 / 자동차 / 바이오 / 엔터 / ...)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버튼 클릭 → 토글 등록/해제 / 현재 선택 개수 실시간 표시</a:t>
            </a:r>
          </a:p>
          <a:p>
            <a:pPr algn="l"/>
            <a:endParaRPr sz="1000">
              <a:solidFill>
                <a:srgbClr val="E0E0E0"/>
              </a:solidFill>
              <a:latin typeface="Consolas"/>
            </a:endParaRP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API: GET /me/watchlist  → 관심종목 전체 조회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 POST /me/watchlist → 종목 추가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 PUT /me/watchlist/{stock_code} → 종목 교체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  DELETE /me/watchlist/{stock_code} → 종목 삭제 (204)</a:t>
            </a:r>
          </a:p>
          <a:p>
            <a:pPr algn="l"/>
            <a:endParaRPr sz="1000">
              <a:solidFill>
                <a:srgbClr val="E0E0E0"/>
              </a:solidFill>
              <a:latin typeface="Consolas"/>
            </a:endParaRP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인증: Redis 세션 기반 (쿠키 user_token 또는 Authorization: Bearer 모두 지원)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40819"/>
            <a:ext cx="11274552" cy="437136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뉴스 · 유튜브 개인화 연동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851107"/>
          <a:ext cx="11274552" cy="8229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279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페이지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관심종목 없을 때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관심종목 있을 때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79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/news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전체 최신 뉴스 100건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등록 종목명으로 DB 뉴스 필터링 (종목당 최대 10건)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79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/youtube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일반 주식 키워드 5개로 검색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종목명 최대 5개를 YouTube 병렬 검색 키워드로 사용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742642"/>
            <a:ext cx="11274552" cy="437136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뉴스 개인화 상세 흐름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252930"/>
            <a:ext cx="11274552" cy="1422189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사용자 세션 → 관심종목 목록 조회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종목별 stock_name으로 뉴스 DB 제목 검색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URL 기준 중복 제거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최신순 정렬 후 반환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이민영 (2/3): 국내 Smart Money (KRX 자동 수집)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스마트머니란?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59757"/>
            <a:ext cx="11274552" cy="609600"/>
          </a:xfrm>
          <a:prstGeom prst="rect">
            <a:avLst/>
          </a:prstGeom>
          <a:solidFill>
            <a:srgbClr val="ECF3FA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ctr"/>
          <a:lstStyle/>
          <a:p>
            <a:pPr algn="ctr"/>
            <a:r>
              <a:rPr sz="1200" i="1">
                <a:solidFill>
                  <a:srgbClr val="1F3A5F"/>
                </a:solidFill>
                <a:latin typeface="Malgun Gothic"/>
              </a:rPr>
              <a:t>개인보다 정보력·자본력이 높은 외국인·기관·저명 투자자의 거래 흐름을 추적해</a:t>
            </a:r>
          </a:p>
          <a:p>
            <a:pPr algn="ctr"/>
            <a:r>
              <a:rPr sz="1200" i="1">
                <a:solidFill>
                  <a:srgbClr val="1F3A5F"/>
                </a:solidFill>
                <a:latin typeface="Malgun Gothic"/>
              </a:rPr>
              <a:t>어디에 "큰 돈"이 들어오고 있는지 파악하는 투자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78267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KRX 자동 수집 스케줄러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132185"/>
            <a:ext cx="11274552" cy="14478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매 영업일 16:30 KST (장 마감 30분 후)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KRX → KOSPI + KOSDAQ 전 종목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외국인 / 기관합계 / 개인 → 종목별 순매수거래량 + 순매수거래대금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DB 저장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88895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집중 매수 종목 — 집중도 점수 계산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442813"/>
            <a:ext cx="11274552" cy="11125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외국인 점수 = 내 순매수 ÷ 전체 최대값 (0~1 정규화)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기관 점수   = 내 순매수 ÷ 전체 최대값 (0~1 정규화)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집중도 점수 = (외국인 점수 + 기관 점수) ÷ 2 × 100</a:t>
            </a:r>
          </a:p>
          <a:p>
            <a:pPr algn="l"/>
            <a:endParaRPr sz="1000">
              <a:solidFill>
                <a:srgbClr val="E0E0E0"/>
              </a:solidFill>
              <a:latin typeface="Consolas"/>
            </a:endParaRP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→ 외국인·기관이 "동시에" 매수한 종목만 교집합 추출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이민영 (2/3): 국내 Smart Money (KRX 자동 수집)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#32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14478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① 스마트머니 집중 매수 종목 카드 (기간: 3일 / 5일 / 10일 선택)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- 종목명 + 외국인 순매수 금액 + 기관 순매수 금액 + 집중도 게이지 바</a:t>
            </a:r>
          </a:p>
          <a:p>
            <a:pPr algn="l"/>
            <a:endParaRPr sz="1000">
              <a:solidFill>
                <a:srgbClr val="E0E0E0"/>
              </a:solidFill>
              <a:latin typeface="Consolas"/>
            </a:endParaRP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② 투자자별 순매수 랭킹 탭 (외국인 / 기관 / 개인)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- 행 클릭 → 최근 30일 투자자별 추이 차트 펼침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- 외국인(파랑) / 기관(초록) / 개인(노랑) 3개 라인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 - Redis TTL 10분 캐싱 적용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이민영 (3/3): 글로벌·국내 저명 투자자 포트폴리오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글로벌 포트폴리오 — SEC 13F (19명)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24000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수집 대상 투자자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830832"/>
          <a:ext cx="11274552" cy="15649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72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7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0613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분류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투자자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61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전설적 투자자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Warren Buffett, Michael Burry, George Soros, Carl Icahn, Seth Klarman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122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헤지펀드 매니저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Bill Ackman, David Tepper, Ray Dalio, Stan Druckenmiller, Dan Loeb, Steve Cohen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61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퀀트·대형 운용사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Ken Griffin, Renaissance Technologies, Two Sigma, D.E. Shaw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61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성장주 중심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Cathie Wood, Tiger Global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407664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수집 파이프라인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714496"/>
            <a:ext cx="11274552" cy="17830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분기별 (2·5·8·11월 15일 09:00 KST)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SEC EDGAR 최신 13F-HR 공시 → XML 파싱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OpenFIGI API로 CUSIP → 티커 변환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직전 분기와 비교 → 신규편입/비중확대/비중축소/청산 배지 자동 생성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포트폴리오 비중(%) 계산 → DB 저장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570728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국내 포트폴리오 — DART 대량보유보고 (10명)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8888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수집 대상: 국민연금, 미래에셋, 삼성, KB, 신한, NH-아문디, 박현주, 강방천, 이채원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이민영 (3/3): 글로벌·국내 저명 투자자 포트폴리오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#33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17830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매월 1일 03:00 KST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DART corp_code XML → 상장주 상위 800종목 추출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동시 10개 병렬 API 요청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5% 이상 대량보유 종목 중 수집 대상 투자자 매칭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  ↓</a:t>
            </a:r>
          </a:p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기존 보유와 비교 → 변동 유형 계산 → DB upsert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3488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UI — 변동 배지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7635074"/>
              </p:ext>
            </p:extLst>
          </p:nvPr>
        </p:nvGraphicFramePr>
        <p:xfrm>
          <a:off x="457200" y="3479888"/>
          <a:ext cx="11274552" cy="2911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72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7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803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배지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FFFFFF"/>
                          </a:solidFill>
                          <a:latin typeface="Malgun Gothic"/>
                        </a:rPr>
                        <a:t>의미</a:t>
                      </a:r>
                      <a:endParaRPr sz="1100" b="1" dirty="0">
                        <a:solidFill>
                          <a:srgbClr val="FFFFFF"/>
                        </a:solidFill>
                        <a:latin typeface="Malgun Gothic"/>
                      </a:endParaRP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8319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신규편입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이번 분기 처음 매수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8319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비중확대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전 분기 대비 주식 수 증가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8319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비중축소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전 분기 대비 주식 수 감소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8319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청산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 err="1">
                          <a:solidFill>
                            <a:srgbClr val="222222"/>
                          </a:solidFill>
                          <a:latin typeface="Malgun Gothic"/>
                        </a:rPr>
                        <a:t>이번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Malgun Gothic"/>
                        </a:rPr>
                        <a:t>분기에서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Malgun Gothic"/>
                        </a:rPr>
                        <a:t>제거된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Malgun Gothic"/>
                        </a:rPr>
                        <a:t>종목</a:t>
                      </a:r>
                      <a:endParaRPr sz="1000" dirty="0">
                        <a:solidFill>
                          <a:srgbClr val="222222"/>
                        </a:solidFill>
                        <a:latin typeface="Malgun Gothic"/>
                      </a:endParaRP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108960"/>
            <a:ext cx="1371600" cy="914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76944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 dirty="0">
                <a:solidFill>
                  <a:srgbClr val="FFFFFF"/>
                </a:solidFill>
                <a:latin typeface="Malgun Gothic"/>
              </a:rPr>
              <a:t>Part </a:t>
            </a:r>
            <a:r>
              <a:rPr lang="en-US" sz="4400" b="1" dirty="0">
                <a:solidFill>
                  <a:srgbClr val="FFFFFF"/>
                </a:solidFill>
                <a:latin typeface="Malgun Gothic"/>
              </a:rPr>
              <a:t>8</a:t>
            </a:r>
            <a:r>
              <a:rPr sz="4400" b="1" dirty="0">
                <a:solidFill>
                  <a:srgbClr val="FFFFFF"/>
                </a:solidFill>
                <a:latin typeface="Malgun Gothic"/>
              </a:rPr>
              <a:t>. </a:t>
            </a:r>
            <a:r>
              <a:rPr sz="4400" b="1" dirty="0" err="1">
                <a:solidFill>
                  <a:srgbClr val="FFFFFF"/>
                </a:solidFill>
                <a:latin typeface="Malgun Gothic"/>
              </a:rPr>
              <a:t>실제</a:t>
            </a:r>
            <a:r>
              <a:rPr sz="440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4400" b="1" dirty="0" err="1">
                <a:solidFill>
                  <a:srgbClr val="FFFFFF"/>
                </a:solidFill>
                <a:latin typeface="Malgun Gothic"/>
              </a:rPr>
              <a:t>업무를</a:t>
            </a:r>
            <a:r>
              <a:rPr sz="440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4400" b="1" dirty="0" err="1">
                <a:solidFill>
                  <a:srgbClr val="FFFFFF"/>
                </a:solidFill>
                <a:latin typeface="Malgun Gothic"/>
              </a:rPr>
              <a:t>어떻게</a:t>
            </a:r>
            <a:r>
              <a:rPr sz="440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4400" b="1" dirty="0" err="1">
                <a:solidFill>
                  <a:srgbClr val="FFFFFF"/>
                </a:solidFill>
                <a:latin typeface="Malgun Gothic"/>
              </a:rPr>
              <a:t>했는가</a:t>
            </a:r>
            <a:endParaRPr sz="4400" b="1" dirty="0">
              <a:solidFill>
                <a:srgbClr val="FFFFFF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GitHub · OKR · Slack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GitHub 커밋 컨벤션 &amp; PR 워크플로우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94700"/>
            <a:ext cx="11274552" cy="44196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Ins="137160" bIns="91440" rtlCol="0" anchor="ctr">
            <a:noAutofit/>
          </a:bodyPr>
          <a:lstStyle/>
          <a:p>
            <a:pPr algn="l"/>
            <a:r>
              <a:rPr sz="1000">
                <a:solidFill>
                  <a:srgbClr val="E0E0E0"/>
                </a:solidFill>
                <a:latin typeface="Consolas"/>
              </a:rPr>
              <a:t>upstream (EDDI-RobotAcademy)  →  origin (개인 fork)  →  PR  →  Merge commit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80512"/>
            <a:ext cx="11274552" cy="9164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main 직접 푸시 금지 — 항상 PR 워크플로우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Merge commit (squash 금지 — 원본 커밋 SHA 보존)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Conventional Commits: feat / fix / refactor / docs / chore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머지 후 fork sync: git fetch upstream &amp;&amp; git merge --ff-only upstream/main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40796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실제 PR 사례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53411"/>
              </p:ext>
            </p:extLst>
          </p:nvPr>
        </p:nvGraphicFramePr>
        <p:xfrm>
          <a:off x="457200" y="4479533"/>
          <a:ext cx="11274552" cy="1945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85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PR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내용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규모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91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#93 (김세진)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sentiment 도메인 신설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+1,727/-14, 44 files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91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#106 (김세진)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자동 collect + Redis 캐시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+592 lines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91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(김영진)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US 확대 + Source Tier + On-demand 락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40+ files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91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(김민규)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History + Causality Agent + Dashboard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대규모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191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(이민영)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watchlist + KRX + 글로벌 포트폴리오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 err="1">
                          <a:solidFill>
                            <a:srgbClr val="222222"/>
                          </a:solidFill>
                          <a:latin typeface="Malgun Gothic"/>
                        </a:rPr>
                        <a:t>대규모</a:t>
                      </a:r>
                      <a:endParaRPr sz="1000" dirty="0">
                        <a:solidFill>
                          <a:srgbClr val="222222"/>
                        </a:solidFill>
                        <a:latin typeface="Malgun Gothic"/>
                      </a:endParaRP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GitHub · OKR · Slack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#34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060833"/>
              </p:ext>
            </p:extLst>
          </p:nvPr>
        </p:nvGraphicFramePr>
        <p:xfrm>
          <a:off x="457200" y="1005839"/>
          <a:ext cx="11274552" cy="4281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72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7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0767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Key Result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결과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149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메인 에이전트 통합 분석 (News · Disclosure · Finance)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✅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149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한국 + 미국 시장 동일 UI/UX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✅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149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Source Tier 4단계 + 섹터 오버라이드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✅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149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Sentiment 에이전트 신설 + 메인 통합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✅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149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거시 경제 현황판 + 시장 위험도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✅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149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히스토리·인과관계 대시보드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✅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1496">
                <a:tc>
                  <a:txBody>
                    <a:bodyPr/>
                    <a:lstStyle/>
                    <a:p>
                      <a:r>
                        <a:rPr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Watchlist + Smart Money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solidFill>
                            <a:srgbClr val="222222"/>
                          </a:solidFill>
                          <a:latin typeface="Malgun Gothic"/>
                        </a:rPr>
                        <a:t>✅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32908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 dirty="0">
                <a:solidFill>
                  <a:srgbClr val="2980B9"/>
                </a:solidFill>
                <a:latin typeface="Malgun Gothic"/>
              </a:rPr>
              <a:t>Slack </a:t>
            </a:r>
            <a:r>
              <a:rPr sz="1500" b="1" dirty="0" err="1">
                <a:solidFill>
                  <a:srgbClr val="2980B9"/>
                </a:solidFill>
                <a:latin typeface="Malgun Gothic"/>
              </a:rPr>
              <a:t>협업</a:t>
            </a:r>
            <a:endParaRPr sz="1500" b="1" dirty="0">
              <a:solidFill>
                <a:srgbClr val="2980B9"/>
              </a:solidFill>
              <a:latin typeface="Malgun Gothi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5816092"/>
            <a:ext cx="11274552" cy="4856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 dirty="0">
                <a:solidFill>
                  <a:srgbClr val="222222"/>
                </a:solidFill>
                <a:latin typeface="Malgun Gothic"/>
              </a:rPr>
              <a:t>•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채널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: #general #dev-backend #dev-frontend #design-architecture #bugs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 dirty="0">
                <a:solidFill>
                  <a:srgbClr val="222222"/>
                </a:solidFill>
                <a:latin typeface="Malgun Gothic"/>
              </a:rPr>
              <a:t>•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실제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사례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— "영진 sentiment 빈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결과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공유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→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김세진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자동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collect +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캐시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추가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커밋으로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즉시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Malgun Gothic"/>
              </a:rPr>
              <a:t>해결</a:t>
            </a:r>
            <a:r>
              <a:rPr sz="1100" dirty="0">
                <a:solidFill>
                  <a:srgbClr val="222222"/>
                </a:solidFill>
                <a:latin typeface="Malgun Gothic"/>
              </a:rPr>
              <a:t>"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108960"/>
            <a:ext cx="1371600" cy="914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algun Gothic"/>
              </a:rPr>
              <a:t>Part 9. 라이브 시연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45008"/>
          </a:xfrm>
          <a:prstGeom prst="rect">
            <a:avLst/>
          </a:prstGeom>
          <a:noFill/>
        </p:spPr>
        <p:txBody>
          <a:bodyPr wrap="square" lIns="45720" tIns="91440" rIns="45720" bIns="36576">
            <a:spAutoFit/>
          </a:bodyPr>
          <a:lstStyle/>
          <a:p>
            <a:r>
              <a:rPr sz="1500" b="1">
                <a:solidFill>
                  <a:srgbClr val="2980B9"/>
                </a:solidFill>
                <a:latin typeface="Malgun Gothic"/>
              </a:rPr>
              <a:t>시연 시나리오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24000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① 종목 분석 — 한국 종목 (삼성전자 005930)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30832"/>
            <a:ext cx="11274552" cy="70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5개 에이전트 병렬 분석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통합 시그널 + 사업개요 카드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Source Tier 분포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5024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② 종목 분석 — 미국 종목 (AAPL)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11856"/>
            <a:ext cx="11274552" cy="4856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영어 뉴스 + yfinance 분기 EPS + SEC 8-K filing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동일 UI/UX로 동일하게 표시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70656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③ 엔터 섹터 — HYBE (352820)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77488"/>
            <a:ext cx="11274552" cy="4856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YouTube · X · Instagram 출처가 MEDIUM으로 승격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섹터 오버라이드가 시그널에 반영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36288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④ Smart Money 대시보드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643120"/>
            <a:ext cx="11274552" cy="4856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외국인 + 기관 집중 매수 종목 카드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Warren Buffett 포트폴리오 변동 (신규편입 / 비중확대)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201920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⑤ 히스토리·인과관계 대시보드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508752"/>
            <a:ext cx="11274552" cy="4856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NASDAQ 차트 + 이상치 마커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마커 클릭 → 원인 가설 자동 생성 (LLM)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067552"/>
            <a:ext cx="11274552" cy="23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>
                <a:solidFill>
                  <a:srgbClr val="222222"/>
                </a:solidFill>
                <a:latin typeface="Malgun Gothic"/>
              </a:rPr>
              <a:t>⑥ Redis 분산 락 데모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374384"/>
            <a:ext cx="11274552" cy="2702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222222"/>
                </a:solidFill>
                <a:latin typeface="Malgun Gothic"/>
              </a:rPr>
              <a:t>• 동일 종목 동시 5개 요청 → DART 1회만 호출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108960"/>
            <a:ext cx="1371600" cy="914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algun Gothic"/>
              </a:rPr>
              <a:t>Part 10. 3·4차 프로젝트 소감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학습한 사항 및 개인 소감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#38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05840"/>
          <a:ext cx="11274552" cy="566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72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7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86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팀원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소감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김영진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[ 직접 작성 ]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김세진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[ 직접 작성 ]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문우성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[ 직접 작성 ]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김민규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[ 직접 작성 ]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이민영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[ 직접 작성 ]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이지은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[ 직접 작성 ]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정우진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[ 직접 작성 ]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108960"/>
            <a:ext cx="1371600" cy="914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algun Gothic"/>
              </a:rPr>
              <a:t>Part 11. 최종 마무리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마무리하며 하고 싶은 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28600"/>
            <a:ext cx="12801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300" b="0">
                <a:solidFill>
                  <a:srgbClr val="CCDDEE"/>
                </a:solidFill>
                <a:latin typeface="Malgun Gothic"/>
              </a:rPr>
              <a:t>#39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05840"/>
          <a:ext cx="11274552" cy="566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72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7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86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팀원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마무리 한마디</a:t>
                      </a:r>
                    </a:p>
                  </a:txBody>
                  <a:tcPr marL="73152" marR="73152" marT="54864" marB="54864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김영진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[ 직접 작성 ]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김세진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[ 직접 작성 ]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문우성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[ 직접 작성 ]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김민규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[ 직접 작성 ]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이민영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[ 직접 작성 ]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이지은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[ 직접 작성 ]</a:t>
                      </a:r>
                    </a:p>
                  </a:txBody>
                  <a:tcPr marL="73152" marR="73152" marT="54864" marB="54864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정우진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</a:rPr>
                        <a:t>[ 직접 작성 ]</a:t>
                      </a:r>
                    </a:p>
                  </a:txBody>
                  <a:tcPr marL="73152" marR="73152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4712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Malgun Gothic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800" b="0">
                <a:solidFill>
                  <a:srgbClr val="CCDDEE"/>
                </a:solidFill>
                <a:latin typeface="Malgun Gothic"/>
              </a:rPr>
              <a:t>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0">
                <a:solidFill>
                  <a:srgbClr val="88AACC"/>
                </a:solidFill>
                <a:latin typeface="Malgun Gothic"/>
              </a:rPr>
              <a:t>GitHub: EDDI-RobotAcademy/antelligen-backend · antelligen-frontend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8538</Words>
  <Application>Microsoft Office PowerPoint</Application>
  <PresentationFormat>와이드스크린</PresentationFormat>
  <Paragraphs>1239</Paragraphs>
  <Slides>63</Slides>
  <Notes>51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63</vt:i4>
      </vt:variant>
    </vt:vector>
  </HeadingPairs>
  <TitlesOfParts>
    <vt:vector size="69" baseType="lpstr">
      <vt:lpstr>Malgun Gothic</vt:lpstr>
      <vt:lpstr>Arial</vt:lpstr>
      <vt:lpstr>Calibri</vt:lpstr>
      <vt:lpstr>Consolas</vt:lpstr>
      <vt:lpstr>Lucida Console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영진 김</cp:lastModifiedBy>
  <cp:revision>9</cp:revision>
  <dcterms:created xsi:type="dcterms:W3CDTF">2013-01-27T09:14:16Z</dcterms:created>
  <dcterms:modified xsi:type="dcterms:W3CDTF">2026-05-01T02:40:05Z</dcterms:modified>
  <cp:category/>
</cp:coreProperties>
</file>