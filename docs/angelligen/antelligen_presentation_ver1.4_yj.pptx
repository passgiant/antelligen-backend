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9" r:id="rId25"/>
    <p:sldId id="310" r:id="rId26"/>
    <p:sldId id="311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12" r:id="rId58"/>
    <p:sldId id="313" r:id="rId59"/>
    <p:sldId id="314" r:id="rId60"/>
    <p:sldId id="315" r:id="rId61"/>
    <p:sldId id="318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06" autoAdjust="0"/>
  </p:normalViewPr>
  <p:slideViewPr>
    <p:cSldViewPr snapToGrid="0" snapToObjects="1">
      <p:cViewPr varScale="1">
        <p:scale>
          <a:sx n="93" d="100"/>
          <a:sy n="93" d="100"/>
        </p:scale>
        <p:origin x="12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6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안녕하세요, Antelligen 팀입니다. 7인 팀으로 AI 멀티 에이전트 기반 투자 인텔리전스 플랫폼을 개발했습니다.</a:t>
            </a:r>
          </a:p>
          <a:p>
            <a:r>
              <a:t>핵심 메시지는 AI가 대신 투자하는 시대가 아니라, AI의 판단을 사람이 검증하고 통제하는 구조입니다.</a:t>
            </a:r>
          </a:p>
          <a:p>
            <a:r>
              <a:t>발표 순서는 문제 인식 → 해결 방안 → 성장 전략 → 아키텍처 → 기능 소개 → 팀원별 개발 내용 → 시연 순으로 진행하겠습니다.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왜 멀티 에이전트인가, 가장 근본적인 질문입니다.</a:t>
            </a:r>
          </a:p>
          <a:p>
            <a:r>
              <a:t>단일 LLM은 데이터 수집·분석·의사결정을 하나의 모델에 몰아넣어야 하는 구조적 한계가 있습니다.</a:t>
            </a:r>
          </a:p>
          <a:p>
            <a:r>
              <a:t>현실의 투자 판단은 여러 전문가의 협업으로 이루어지는데, 기존 AI 시스템은 이를 반영하지 못했습니다.</a:t>
            </a:r>
          </a:p>
          <a:p>
            <a:r>
              <a:t>Antelligen 5가지 목표: 구조적 AI 시스템 구축 / 확장 가능한 아키텍처 / 현실적 협업 흐름 반영 / 사용자 맞춤 분석 / 자동화·효율성 향상.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TAM은 글로벌 AI 에이전트 시장 — 2025년 76억 달러에서 2033년 1,820억 달러로 연평균 50% 성장이 예상됩니다.</a:t>
            </a:r>
          </a:p>
          <a:p>
            <a:r>
              <a:t>SAM은 국내 AI 시장 54.7억 달러(2024) → 538.7억 달러(2032), 그중 BFSI(금융·보험)의 AI 도입 비중이 가장 높습니다.</a:t>
            </a:r>
          </a:p>
          <a:p>
            <a:r>
              <a:t>SOM은 중소기업과 개인 투자자를 대상으로, 클라우드 기반 AI 웹서비스 형태로 공략합니다.</a:t>
            </a:r>
          </a:p>
          <a:p>
            <a:r>
              <a:t>블룸버그 월 200만 원+에 비해 합리적 가격으로 한국 공시 중심 서비스를 제공하는 것이 저희 포지셔닝입니다.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멀티 에이전트 시스템 도입 시 고객이 겪는 3대 문제입니다.</a:t>
            </a:r>
          </a:p>
          <a:p>
            <a:r>
              <a:t>첫째, 가시성 문제 — 에이전트가 많아질수록 어느 단계에서 실패했는지 추적이 어렵습니다. LangSmith Tracing으로 해결했습니다.</a:t>
            </a:r>
          </a:p>
          <a:p>
            <a:r>
              <a:t>둘째, 비용 통제 — 토큰 비용이 통제 없이 급증하는 Runaway Cost 문제. 다층 캐시와 조건부 Startup으로 대응합니다.</a:t>
            </a:r>
          </a:p>
          <a:p>
            <a:r>
              <a:t>셋째, 거버넌스 — 금융 데이터의 민감성, Prompt Injection, Audit Trail 요구. 설계 단계부터 내재화했습니다.</a:t>
            </a:r>
          </a:p>
          <a:p>
            <a:r>
              <a:t>핵심 인사이트: 신뢰와 통제가 없는 AI는 금융에서 실패한다.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데이터 신뢰도·커버리지 문제 5가지를 해결했습니다.</a:t>
            </a:r>
          </a:p>
          <a:p>
            <a:r>
              <a:t>P-1: 뉴스 분석이 하드코딩 8종목 한정 → TickerKeywordResolverPort로 전 KRX 2,500+ 종목 지원.</a:t>
            </a:r>
          </a:p>
          <a:p>
            <a:r>
              <a:t>P-2: 미국 주식 미지원 → MarketRegion 추상화로 SerpAPI(뉴스)·yfinance(재무)·SEC EDGAR(공시) 경로 분기.</a:t>
            </a:r>
          </a:p>
          <a:p>
            <a:r>
              <a:t>P-3: 잠정실적 누락 → OpenDartPreliminaryEarningsProvider로 어닝 갭 윈도우 포착.</a:t>
            </a:r>
          </a:p>
          <a:p>
            <a:r>
              <a:t>P-4: 출처 무관 단순 평균 → SourceTier 4단계(HIGH/MEDIUM/MEDIUM_LOW/LOW) 가중 평균 적용.</a:t>
            </a:r>
          </a:p>
          <a:p>
            <a:r>
              <a:t>P-5: 엔터주 SNS 시그널 묻힘 → 섹터별 소스 가중치 오버라이드로 팬덤 반응을 시그널에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운영·비용·UX 문제 6가지 해결입니다.</a:t>
            </a:r>
          </a:p>
          <a:p>
            <a:r>
              <a:t>P-6: LLM·YouTube quota 폭주 → 4h/7d/1d/1h 다층 캐시 + 조건부 Startup 잡으로 불필요한 호출 차단.</a:t>
            </a:r>
          </a:p>
          <a:p>
            <a:r>
              <a:t>P-7: 동시 요청 → DART 중복 호출 → Redis 분산 락(SET NX EX)으로 atomic 단일 호출 보장.</a:t>
            </a:r>
          </a:p>
          <a:p>
            <a:r>
              <a:t>P-8: 응답 지연 5~10초 → 1h Postgres 캐시 + 3-에이전트 병렬 + 사업개요 별도 async task.</a:t>
            </a:r>
          </a:p>
          <a:p>
            <a:r>
              <a:t>P-9: 시그널만 있고 맥락 없음 → BusinessOverview 카드로 RAG 기반 LLM 사업 요약 제공.</a:t>
            </a:r>
          </a:p>
          <a:p>
            <a:r>
              <a:t>P-10: 1개 에이전트 실패 → 전체 실패 → asyncio.gather(return_exceptions=True)로 부분 실패 허용.</a:t>
            </a:r>
          </a:p>
          <a:p>
            <a:r>
              <a:t>P-11: 왜 이 결론? → LangSmith Tracing + 출처 영속화 + Explainable 가중치로 투명성 확보.</a:t>
            </a:r>
          </a:p>
          <a:p>
            <a:r>
              <a:t>6대 해결 원칙 중 부분 실패는 기능과 거버넌스는 사전 설계가 설계 철학을 잘 요약합니다.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프레임워크 경쟁자로는 CrewAI, AutoGen, LangGraph, LlamaIndex가 있습니다.</a:t>
            </a:r>
          </a:p>
          <a:p>
            <a:r>
              <a:t>서비스형 플랫폼으로는 Lindy, AgentGPT, 기존 금융 알고리즘 도구들이 있습니다.</a:t>
            </a:r>
          </a:p>
          <a:p>
            <a:r>
              <a:t>시장에 AI 빌더와 트레이딩 도구는 많지만, 검증 가능한 의사결정 과정을 제공하는 서비스는 아직 드뭅니다.</a:t>
            </a:r>
          </a:p>
          <a:p>
            <a:r>
              <a:t>저희가 채우려는 빈자리가 바로 거기입니다.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차별화 3축입니다.</a:t>
            </a:r>
          </a:p>
          <a:p>
            <a:r>
              <a:t>첫째, 신뢰성·거버넌스 — LangSmith Tracing으로 모든 LLM 입출력과 latency 추적, Source Tier로 출처 품질 수치화, Audit Trail로 분석 결과를 DB에 영속화.</a:t>
            </a:r>
          </a:p>
          <a:p>
            <a:r>
              <a:t>둘째, 고도화된 데이터 통합 — DART 사업보고서 RAG, 멀티 에이전트 5종, 한국 공시+미국 SEC+yfinance+잠정실적 통합.</a:t>
            </a:r>
          </a:p>
          <a:p>
            <a:r>
              <a:t>셋째, UX 차별화 — 사업개요 카드로 이 회사의 본질을 즉시 파악, 부분 실패도 UI에 표시해 신뢰성 유지.</a:t>
            </a:r>
          </a:p>
          <a:p>
            <a:r>
              <a:t>한마디로: 투자 결과가 아니라, 검증 가능한 의사결정 과정을 제공하는 서비스입니다.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1차 타겟은 이 종목이 오늘 왜 떨어졌지?를 검색하는 개인 투자자입니다. 차트+사건+원인을 한 화면에서 보여줍니다.</a:t>
            </a:r>
          </a:p>
          <a:p>
            <a:r>
              <a:t>2차 타겟은 신입 애널리스트, 투자 콘텐츠 크리에이터, 학생 투자 동아리입니다.</a:t>
            </a:r>
          </a:p>
          <a:p>
            <a:r>
              <a:t>진입 채널 3가지: SEO(종목별 왜 떨어졌나 자동 페이지), 커뮤니티(디스코드·네이버 종목 카페), 인플루언서(투자 유튜버 협업).</a:t>
            </a:r>
          </a:p>
          <a:p>
            <a:r>
              <a:t>서비스 확장 경로는 웹사이트 → PWA → 모바일 앱 순서로 계획하고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KPI를 4축으로 관리합니다.</a:t>
            </a:r>
          </a:p>
          <a:p>
            <a:r>
              <a:t>사용량: 초기 MAU 30~50명 → 확장 10,000명 / 7일 재방문율 30% → 40%.</a:t>
            </a:r>
          </a:p>
          <a:p>
            <a:r>
              <a:t>품질: 사용자 만족도 4.0 → 4.5 / 자신 있는 분석 비율 30% → 45%.</a:t>
            </a:r>
          </a:p>
          <a:p>
            <a:r>
              <a:t>비용 효율: 응답 속도 8초 → 3초 / 종목당 분석 비용 200원 → 50원. 현재 캐시와 분산 락으로 이 방향으로 나아가고 있습니다.</a:t>
            </a:r>
          </a:p>
          <a:p>
            <a:r>
              <a:t>사업성: 유료 전환율 3%, 월 매출 100만 원이 1차 마일스톤입니다.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확장은 4방향입니다.</a:t>
            </a:r>
          </a:p>
          <a:p>
            <a:r>
              <a:t>시장·자산 확장: 일본·유럽·신흥국 / 암호화폐·원자재·채권·리츠 / 대안 데이터(위성·카드 소비).</a:t>
            </a:r>
          </a:p>
          <a:p>
            <a:r>
              <a:t>기능 확장: 포트폴리오 분석 / 실시간 알림 / 백테스트 / 일일·주간 리포트.</a:t>
            </a:r>
          </a:p>
          <a:p>
            <a:r>
              <a:t>수익 모델: 무료 → 개인 Pro 9,900원 → 프리미엄 29,000원 → API 과금 → 기업 전용 최대 5,000만 원.</a:t>
            </a:r>
          </a:p>
          <a:p>
            <a:r>
              <a:t>사용자 행동 → 검증 사례 → 규칙 개선 → 정확도 상승 → 재방문 플라이휠이 형성되면 1년 후 후발주자가 따라잡기 어려운 구조가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스택 한눈에 보겠습니다.</a:t>
            </a:r>
          </a:p>
          <a:p>
            <a:r>
              <a:t>백엔드: Python 3.13 / FastAPI / PostgreSQL 16(asyncpg+pgvector) / SQLAlchemy 2.0 async / Redis / APScheduler(20+ 정기 작업) / Docker Compose.</a:t>
            </a:r>
          </a:p>
          <a:p>
            <a:r>
              <a:t>AI/LLM: OpenAI(GPT-4o, gpt-5-mini, o1) / LangChain·LangGraph·LangSmith.</a:t>
            </a:r>
          </a:p>
          <a:p>
            <a:r>
              <a:t>데이터: yfinance·pykrx·FRED·Finnhub·GDELT / DART·SEC EDGAR·SerpAPI·YouTube Data API / kiwipiepy·BeautifulSoup4.</a:t>
            </a:r>
          </a:p>
          <a:p>
            <a:r>
              <a:t>프론트엔드: Next.js 16(App Router, Turbopack) / React 19 / TypeScript 5.9 / Jotai 2 / Tailwind CSS v4 / lightweight-charts·recharts.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헥사고날 + DDD 아키텍처입니다.</a:t>
            </a:r>
          </a:p>
          <a:p>
            <a:r>
              <a:t>Clean Architecture 핵심 원칙 — 의존성은 항상 바깥에서 안쪽(도메인)으로만 흐릅니다.</a:t>
            </a:r>
          </a:p>
          <a:p>
            <a:r>
              <a:t>Domain 레이어는 순수 Python만 허용합니다. FastAPI·SQLAlchemy·Redis·Pydantic import 절대 금지.</a:t>
            </a:r>
          </a:p>
          <a:p>
            <a:r>
              <a:t>Application(UseCase) 레이어는 Port 인터페이스를 통해서만 외부 시스템에 접근합니다.</a:t>
            </a:r>
          </a:p>
          <a:p>
            <a:r>
              <a:t>Inbound Adapter(Router)는 비즈니스 로직 없이 Request → UseCase → Response 흐름만 담당합니다.</a:t>
            </a:r>
          </a:p>
          <a:p>
            <a:r>
              <a:t>DB나 외부 API가 바뀌어도 도메인 로직은 전혀 수정할 필요가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24개 도메인으로 구성됩니다.</a:t>
            </a:r>
          </a:p>
          <a:p>
            <a:r>
              <a:t>사용자·인증 4개 / 시장 데이터 5개 / 콘텐츠·분석 7개 / 통합 에이전트(메인 오케스트레이터) 1개.</a:t>
            </a:r>
          </a:p>
          <a:p>
            <a:r>
              <a:t>요청 처리 흐름: HTTP → FastAPI Router → UseCase → Port → Repository(PostgreSQL)/External Client/Cache(Redis) → Domain Entity → Response DTO → HTTP Response.</a:t>
            </a:r>
          </a:p>
          <a:p>
            <a:r>
              <a:t>백그라운드 스케줄러 주요 4가지: 뉴스 수집(매일 06:00) / KRX 순매수(매 영업일 16:30) / SEC 13F(분기) / DART 포트폴리오(매월 1일).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멀티 에이전트 오케스트레이션 구조입니다.</a:t>
            </a:r>
          </a:p>
          <a:p>
            <a:r>
              <a:t>메인 에이전트(오케스트레이터)가 asyncio.gather로 5개 서브 에이전트를 동시에 병렬 호출합니다.</a:t>
            </a:r>
          </a:p>
          <a:p>
            <a:r>
              <a:t>News Agent(SerpAPI+LLM) / Disclosure Agent(DART+RAG+LLM) / Finance Agent(yfinance+DART) / Sentiment Agent(SNS+GPT) / Macro Agent(YouTube+LLM).</a:t>
            </a:r>
          </a:p>
          <a:p>
            <a:r>
              <a:t>SourceTier 가중치 적용 → LangGraph로 통합 시그널 합성 → LangSmith Tracing → Bullish/Neutral/Bearish + Confidence 반환.</a:t>
            </a:r>
          </a:p>
          <a:p>
            <a:r>
              <a:t>부분 실패 허용(return_exceptions=True), Postgres 1h + Redis 7d 이중 캐시로 성능과 비용을 균형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 Tier 가중치 시스템입니다.</a:t>
            </a:r>
          </a:p>
          <a:p>
            <a:r>
              <a:t>HIGH(×1.0): DART·SEC·1군 IB 공식 리포트·기업 IR — 가장 신뢰도 높은 공식 출처.</a:t>
            </a:r>
          </a:p>
          <a:p>
            <a:r>
              <a:t>MEDIUM(×0.7): Bloomberg·Reuters·WSJ·FT·한경·매경·월가 애널리스트.</a:t>
            </a:r>
          </a:p>
          <a:p>
            <a:r>
              <a:t>MEDIUM_LOW(×0.5): 국내 IB 공식 리포트 — buy-bias 보정 적용.</a:t>
            </a:r>
          </a:p>
          <a:p>
            <a:r>
              <a:t>LOW(×0.3): SNS·일반 뉴스·커뮤니티.</a:t>
            </a:r>
          </a:p>
          <a:p>
            <a:r>
              <a:t>섹터 오버라이드 — HYBE·SM·JYP·YG 같은 엔터주 분석 시 YouTube·X·Instagram이 LOW에서 MEDIUM으로 자동 승격됩니다. 팬덤 반응이 실제 주가에 직접 영향을 미치는 특성을 반영한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캐시·동시성·복원력 세 가지입니다.</a:t>
            </a:r>
          </a:p>
          <a:p>
            <a:r>
              <a:t>다층 캐시 — TTL은 도메인 진실성의 코드 표현입니다. 거시 스냅샷 4h / 회사 프로필 1d / 사업 개요(LLM) 7d / 통합 분석 1h / 회사 마스터 쿨다운 24h.</a:t>
            </a:r>
          </a:p>
          <a:p>
            <a:r>
              <a:t>Redis 분산 락 — SET key 1 NX EX 60으로 atomic single-shot. race condition 제로, TTL 60초로 데드락 자동 방지, Redis 장애 시에도 graceful degrade.</a:t>
            </a:r>
          </a:p>
          <a:p>
            <a:r>
              <a:t>부분 실패 허용 — asyncio.gather(return_exceptions=True)로 1개 에이전트가 죽어도 나머지로 시그널을 산출합니다. 부분 실패는 기능이라는 원칙의 코드 구현입니다.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주요 기능 첫 번째 파트입니다.</a:t>
            </a:r>
          </a:p>
          <a:p>
            <a:r>
              <a:t>종합 종목 분석(/agent/query): 한 번의 요청으로 5개 에이전트 병렬 분석 → Bullish/Neutral/Bearish+Confidence, 사업개요 카드, Source Tier 분포 시각화. 한국·미국 동일 UI/UX.</a:t>
            </a:r>
          </a:p>
          <a:p>
            <a:r>
              <a:t>히스토리·인과관계 대시보드(/dashboard): 일봉 차트 + 5중 이상치 탐지 + LLM 원인 추론(왜 이 날 떨어졌는가) + 가설 신뢰도 + 거시 이벤트 매칭 + 마커 6종.</a:t>
            </a:r>
          </a:p>
          <a:p>
            <a:r>
              <a:t>Sentiment 분석(/sentiment): Reddit+네이버 종목토론 SNS 감정 점수화, GPT-5-mini 감정 분류, 밈 티커 부스트(×1.35), 부정 비율 vs VIX 비교.</a:t>
            </a:r>
          </a:p>
          <a:p>
            <a:r>
              <a:t>거시경제 현황판(/macro): 금리/유가/환율/경제 일정 자동 수집, Risk-ON/OFF 자동 판단+LLM 근거, 4h Redis 캐시로 실시간성과 비용 균형.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주요 기능 두 번째 파트입니다.</a:t>
            </a:r>
          </a:p>
          <a:p>
            <a:r>
              <a:t>Smart Money(/smart-money): 외국인/기관/개인 순매수 랭킹, 집중 매수 종목 카드(3/5/10일 기간 선택), 종목 클릭 시 최근 30일 투자자별 추이 차트.</a:t>
            </a:r>
          </a:p>
          <a:p>
            <a:r>
              <a:t>글로벌 포트폴리오(/smart-money/global-portfolio): Buffett·Burry·Cathie Wood 등 19명 SEC 13F + 국민연금·미래에셋·박현주 등 10명 DART, 신규편입/비중확대/비중축소/청산 배지.</a:t>
            </a:r>
          </a:p>
          <a:p>
            <a:r>
              <a:t>관심종목+개인화(/settings/watchlist): 테마별 토글 등록 → 뉴스 자동 필터링 → 유튜브 병렬 검색 자동화.</a:t>
            </a:r>
          </a:p>
          <a:p>
            <a:r>
              <a:t>회사 프로필(/company-profile/{ticker}): DART+SEC 회사 마스터, 사업보고서 RAG→LLM 요약(7일 캐시), ETF/INDEX도 동일 카드 형식.</a:t>
            </a:r>
          </a:p>
          <a:p>
            <a:r>
              <a:t>카카오 OAuth: temp_token/user_token 분리로 가입 전 사용자도 핵심 기능 시연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Antelligen 5인 개발팀입니다.</a:t>
            </a:r>
          </a:p>
          <a:p>
            <a:r>
              <a:t>김영진: 통합 에이전트·데이터 인프라·신뢰도 시스템 (Python·DDD·Hexagonal·LangChain·Redis).</a:t>
            </a:r>
          </a:p>
          <a:p>
            <a:r>
              <a:t>김세진: Sentiment 에이전트 전체·미국 주식 뉴스 보강 (DDD·BeautifulSoup4·OpenAI·Next.js·Jotai).</a:t>
            </a:r>
          </a:p>
          <a:p>
            <a:r>
              <a:t>문우성: 거시경제 현황판·시스템 아키텍처 정립 (Hexagonal·LLM·YouTube API).</a:t>
            </a:r>
          </a:p>
          <a:p>
            <a:r>
              <a:t>김민규: History Agent·Causality Agent·Dashboard (LangGraph·Next.js·lightweight-charts).</a:t>
            </a:r>
          </a:p>
          <a:p>
            <a:r>
              <a:t>이민영: 개인화 시스템·Smart Money 대시보드 (Next.js·React·Playwright·Jotai·DDD).</a:t>
            </a:r>
          </a:p>
          <a:p>
            <a:r>
              <a:t>이지은·정우진은 외부 피드백으로 팀을 지원해주셨습니다.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첫 번째 슬라이드 — 전 KRX 종목 지원과 미국 주식 확대입니다.</a:t>
            </a:r>
          </a:p>
          <a:p>
            <a:r>
              <a:t>Before: 뉴스 분석 가능 종목 하드코딩 8개, 미국 종목 미지원, 재무는 DART 정기공시만.</a:t>
            </a:r>
          </a:p>
          <a:p>
            <a:r>
              <a:t>After: TickerKeywordResolverPort로 DB에서 stock_name + alias 동적 조회. 000270(기아) → [기아, 기아차, KIA] 자동 생성. 전 KRX 2,500+ 종목 정상 동작.</a:t>
            </a:r>
          </a:p>
          <a:p>
            <a:r>
              <a:t>MarketRegion Enum으로 ticker 형식만 보고 KR/US 자동 추론합니다. 6자리 숫자 → KR, 1~5 알파벳 → US_NASDAQ.</a:t>
            </a:r>
          </a:p>
          <a:p>
            <a:r>
              <a:t>미국 경로: 뉴스는 SerpAPI(gl=us, hl=en), 재무는 yfinance 분기 EPS, 공시는 SEC EDGAR 8-K/10-K/10-Q.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두 번째 슬라이드 — Source Tier 4단계 가중치 시스템입니다.</a:t>
            </a:r>
          </a:p>
          <a:p>
            <a:r>
              <a:t>SourceTier를 Enum으로 정의하고 _DEFAULT_WEIGHTS로 HIGH:1.0 / MEDIUM:0.7 / MEDIUM_LOW:0.5 / LOW:0.3 매핑.</a:t>
            </a:r>
          </a:p>
          <a:p>
            <a:r>
              <a:t>엔터테인먼트 섹터 오버라이드: HYBE·SM·JYP·YG 분석 시 YouTube·X·Instagram → LOW → MEDIUM 자동 승격.</a:t>
            </a:r>
          </a:p>
          <a:p>
            <a:r>
              <a:t>종합 시그널 산출: 에이전트별 confidence × tier_weight 곱한 값을 합산, confidence_total로 나눈 avg_score가 0.2 초과면 bullish, -0.2 미만이면 bearish.</a:t>
            </a:r>
          </a:p>
          <a:p>
            <a:r>
              <a:t>가중치 수치는 환경 변수로 노출되어 있어 운영 중에도 실험적 튜닝이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세 번째 슬라이드 — On-demand 분산 락, 조건부 Startup 잡, 사업개요 카드입니다.</a:t>
            </a:r>
          </a:p>
          <a:p>
            <a:r>
              <a:t>On-demand 분산 락: 동일 종목 동시 5개 요청이 들어와도 DART API는 1회만 호출. 첫 번째 요청이 Redis SET NX EX로 락 획득 → DART fetch → DB upsert → 락 해제. 나머지 요청은 락 대기 후 DB 결과 공유.</a:t>
            </a:r>
          </a:p>
          <a:p>
            <a:r>
              <a:t>조건부 Startup 잡: refresh_company_list는 24h 이내 성공 이력 있으면 스킵, refresh_market_risk는 Redis 4h 스냅샷 복원 → YouTube quota + LLM 비용 최대 절약.</a:t>
            </a:r>
          </a:p>
          <a:p>
            <a:r>
              <a:t>사업개요 카드: asyncio.create_task로 병렬 fetch(latency 거의 0), DART 사업보고서 RAG(최대 5청크·3,000자) → LLM 요약 → Redis 7일 캐시. LLM 컨텍스트 주입과 UI 카드 DTO 두 가지로 활용합니다.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첫 번째 슬라이드 — Sentiment 도메인 신설입니다.</a:t>
            </a:r>
          </a:p>
          <a:p>
            <a:r>
              <a:t>담당 범위: 백엔드 21개 파일 신규(+1,727줄) / 프론트엔드 5개 파일 신규(+592줄).</a:t>
            </a:r>
          </a:p>
          <a:p>
            <a:r>
              <a:t>DDD 헥사고날 구조를 처음부터 적용해 adapter/application/domain 3계층으로 설계했습니다.</a:t>
            </a:r>
          </a:p>
          <a:p>
            <a:r>
              <a:t>SNS 수집기 3종: Reddit(.json 무인증 엔드포인트), 네이버 종목토론(BeautifulSoup4 HTML 스크래핑), 토스 커뮤니티(stub — SPA 봇 탐지로 Playwright 차기 이터레이션).</a:t>
            </a:r>
          </a:p>
          <a:p>
            <a:r>
              <a:t>Redis TTL 10분 캐시를 라우터 레벨에 배치해 UseCase 순수성(DDD 원칙)을 유지했습니다.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두 번째 슬라이드 — GPT 감정분석 + 밈/섹터 가중치 + DB 설계입니다.</a:t>
            </a:r>
          </a:p>
          <a:p>
            <a:r>
              <a:t>GPT 감정분석: 게시물 제목·본문 → GPT-5-mini(팀 표준 모델) → positive/negative/neutral 분류 → 종합 신호(bullish/bearish/neutral) + confidence + overall_negative_ratio(VIX 비교용).</a:t>
            </a:r>
          </a:p>
          <a:p>
            <a:r>
              <a:t>밈 티커 부스트: TSLA·GME·AMC·NVDA 등은 confidence x1.35, 엔터주 JYP·SM·HYBE·YG는 x1.3.</a:t>
            </a:r>
          </a:p>
          <a:p>
            <a:r>
              <a:t>DB 설계: sns_posts 테이블을 Alembic 마이그레이션으로 직접 작성·적용. ticker+platform 복합 인덱스와 posted_at 인덱스로 조회 최적화.</a:t>
            </a:r>
          </a:p>
          <a:p>
            <a:r>
              <a:t>표준 응답 DTO SnsSignalResult가 메인 에이전트의 confidence x source_tier_weight 합산에 자연스럽게 통합됩니다.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세 번째 슬라이드 — 자체 발견·수정한 버그와 Redis 캐시, 프론트엔드입니다.</a:t>
            </a:r>
          </a:p>
          <a:p>
            <a:r>
              <a:t>EUC-KR 디코딩 버그: 네이버 종목토론 한글이 깨져 DB에 저장되던 문제를, resp.content.decode 대신 BeautifulSoup에 from_encoding=euc-kr 직접 전달해 해결했습니다.</a:t>
            </a:r>
          </a:p>
          <a:p>
            <a:r>
              <a:t>DI 버그: 뉴스 라우터에서 AnalyzeNewsSignalUseCase 생성 시 keyword_resolver 파라미터가 누락된 것을 발견하고 직접 수정.</a:t>
            </a:r>
          </a:p>
          <a:p>
            <a:r>
              <a:t>Redis 캐시 + 자동 collect 트리거: analyze 요청 시 캐시 HIT이면 즉시 반환, DB 게시물 5건 미만이면 CollectSnsPostsUseCase 자동 호출 후 GPT 분석 진행.</a:t>
            </a:r>
          </a:p>
          <a:p>
            <a:r>
              <a:t>프론트엔드 SnsSignalCard: IDLE → LOADING → SUCCESS/ERROR 4개 상태. SUCCESS 시 시그널 배지·신뢰도 게이지·플랫폼별 결과·근거 게시물 top3·AI 한국어 요약으로 구성.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첫 번째 슬라이드 — 거시경제 현황판 데이터 수집 파이프라인입니다.</a:t>
            </a:r>
          </a:p>
          <a:p>
            <a:r>
              <a:t>매일 자동 수집 대상: 금리(기준금리·국채 10년물), 유가(WTI·브렌트), 환율(USD/KRW·DXY), 주요 경제 일정(FOMC·CPI·실업률 발표).</a:t>
            </a:r>
          </a:p>
          <a:p>
            <a:r>
              <a:t>소스별 수집 주기: FRED 12개 시리즈·유가·환율·VIX는 일 1회 / 경제 일정 크롤링은 주 1회.</a:t>
            </a:r>
          </a:p>
          <a:p>
            <a:r>
              <a:t>Redis 스냅샷 관리: _try_restore_macro_snapshot으로 4시간 이내 스냅샷이 Redis에 있으면 메모리 store에 복원합니다. 서버 재시작이나 hot-reload 시 LLM 호출 0회로 YouTube quota를 보호합니다.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두 번째 슬라이드 — Risk-ON / Risk-OFF 자동 판단입니다.</a:t>
            </a:r>
          </a:p>
          <a:p>
            <a:r>
              <a:t>핵심 변수 4가지를 조합합니다: 금리 방향(상승 vs 하락), 달러 강도(DXY), VIX 수준(공포 지수), 유가 방향(에너지 비용).</a:t>
            </a:r>
          </a:p>
          <a:p>
            <a:r>
              <a:t>이 변수들을 LLM에 주입해 Risk-ON 또는 Risk-OFF를 결정하고, 근거 텍스트를 자동 생성합니다.</a:t>
            </a:r>
          </a:p>
          <a:p>
            <a:r>
              <a:t>예시: VIX 25 돌파 + 달러 강세 → Risk-OFF → 미 국채·금 선호, 위험자산 매도 압력 텍스트 자동 출력.</a:t>
            </a:r>
          </a:p>
          <a:p>
            <a:r>
              <a:t>/macro 페이지에서 금리·유가·환율 카드(전일 대비 등락 색상), 경제 일정 캘린더, Risk 배지+LLM 근거로 시각화합니다.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세 번째 슬라이드 — 메인 에이전트 연결과 아키텍처 기여입니다.</a:t>
            </a:r>
          </a:p>
          <a:p>
            <a:r>
              <a:t>거시경제 에이전트가 MarketRiskJudgementResponse를 생성 → Redis 4h 캐시 저장 → 메인 에이전트 호출 시 거시 스냅샷으로 로드 → 종합 시그널 산출의 컨텍스트로 활용됩니다.</a:t>
            </a:r>
          </a:p>
          <a:p>
            <a:r>
              <a:t>거시 환경이 불안정할 때 전체 confidence를 하향 반영하는 구조입니다.</a:t>
            </a:r>
          </a:p>
          <a:p>
            <a:r>
              <a:t>아키텍처 기여: 전체 DDD·헥사고날 설계 참여, 레이어별 의존성 규칙 문서화, 도메인 간 인터페이스 표준화 방향 제시, 외부 API 공통 Client 패턴 정립.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첫 번째 슬라이드 — History Agent 8단계 타임라인 파이프라인입니다.</a:t>
            </a:r>
          </a:p>
          <a:p>
            <a:r>
              <a:t>한 줄 요약: 종목 코드 하나로 8개 외부 소스에서 데이터를 수집해 시점이 명확한 사건만 골라 타임라인을 자동 생성합니다.</a:t>
            </a:r>
          </a:p>
          <a:p>
            <a:r>
              <a:t>Step 0~1: ticker 정규화 + 자산 유형 판별(EQUITY/INDEX/ETF) → Redis 캐시 HIT이면 즉시 반환(~50ms).</a:t>
            </a:r>
          </a:p>
          <a:p>
            <a:r>
              <a:t>Step 2: asyncio.gather로 yfinance / DART·SEC / Finnhub → GDELT → Naver 4경로 병렬 수집.</a:t>
            </a:r>
          </a:p>
          <a:p>
            <a:r>
              <a:t>Step 3~5: Jaccard &gt;= 0.8 중복 제거 → DB enrichment 재사용 → 신규 이벤트 병렬 enrichment(Causality Agent 포함).</a:t>
            </a:r>
          </a:p>
          <a:p>
            <a:r>
              <a:t>Step 6~8: EventClassifier v2 + importance_score → DB upsert → Redis 3600s TTL 후 응답.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두 번째 슬라이드 — 5중 이상치 탐지기와 이벤트 분류 체계입니다.</a:t>
            </a:r>
          </a:p>
          <a:p>
            <a:r>
              <a:t>5중 탐지기: z-score(|수익률|&gt;K×σ, 노랑) / cumulative 5d(±10% 진입, 오렌지) / cumulative 20d(±15%, 진홍) / drawdown(60봉 고점 대비 -10%→-3% 회복, 보라/에메랄드) / volatility cluster(5거래일 내 |r|&gt;5% 2건 이상, 앰버).</a:t>
            </a:r>
          </a:p>
          <a:p>
            <a:r>
              <a:t>σ 계산 방식도 선택 가능합니다: stdev / stable / mad — settings.anomaly_robust_sigma_method 설정으로 운영 중 변경 가능.</a:t>
            </a:r>
          </a:p>
          <a:p>
            <a:r>
              <a:t>이벤트 분류 4카테고리: CORPORATE(yfinance 코드 매칭), ANNOUNCEMENT(SEC Item+LLM 재분류), MACRO(FRED+threshold), NEWS(source 필드 구분).</a:t>
            </a:r>
          </a:p>
          <a:p>
            <a:r>
              <a:t>MACRO TYPE_A(FOMC 발표 같은 원인 자체)와 TYPE_B(VIX 급등 같은 시장 반응, 추정 사유+신뢰도 포함)를 구분하는 것이 특히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세 번째 슬라이드 — Causality Agent, Dashboard UI, SSE 스트리밍입니다.</a:t>
            </a:r>
          </a:p>
          <a:p>
            <a:r>
              <a:t>Causality Agent: 이상치 봉 탐지 → 사용자가 마커 클릭 시 lazy 호출(LLM 비용 절약) → LangGraph StateGraph 4노드(수집→Tool Use→가설 생성→환각 방지) → 가설 3~6개+신뢰도 자동 생성 → DB 영구 저장. 두 번째 요청부터 ~50ms 응답.</a:t>
            </a:r>
          </a:p>
          <a:p>
            <a:r>
              <a:t>Dashboard UI: /dashboard에서 2열 4:1 그리드. NasdaqChart(이상치 마커 6종)+HistoryPanel(타임라인 카드) | StockSearch+AssetProfilePanel. Jotai 2.19 atomWithStorage로 localStorage 영속.</a:t>
            </a:r>
          </a:p>
          <a:p>
            <a:r>
              <a:t>SSE 스트리밍 API: GET /api/v1/history-agent/timeline/stream. progress/done/error 3종 이벤트로 4~8초 로딩 대신 실시간 진행 상황을 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첫 번째 슬라이드 — 관심종목 기반 개인화입니다.</a:t>
            </a:r>
          </a:p>
          <a:p>
            <a:r>
              <a:t>watchlist 관리 UI: 테마 그룹별 종목 버튼(반도체/자동차/바이오/엔터) 클릭으로 토글 등록·해제, 현재 선택 개수 실시간 표시.</a:t>
            </a:r>
          </a:p>
          <a:p>
            <a:r>
              <a:t>API: GET/POST/PUT/DELETE 4개 엔드포인트. 인증은 Redis 세션 기반(쿠키 user_token 또는 Authorization: Bearer 모두 지원).</a:t>
            </a:r>
          </a:p>
          <a:p>
            <a:r>
              <a:t>뉴스 개인화: 관심종목 없으면 전체 최신 뉴스 100건, 있으면 등록 종목명으로 DB 필터링(종목당 최대 10건, URL 중복 제거 후 최신순 정렬).</a:t>
            </a:r>
          </a:p>
          <a:p>
            <a:r>
              <a:t>유튜브 개인화: 관심종목 없으면 일반 주식 키워드 5개, 있으면 종목명 최대 5개를 YouTube 병렬 검색 키워드로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두 번째 슬라이드 — 국내 Smart Money(KRX 자동 수집)입니다.</a:t>
            </a:r>
          </a:p>
          <a:p>
            <a:r>
              <a:t>스마트머니란 외국인·기관·저명 투자자의 거래 흐름을 추적해 큰 돈이 어디로 이동하는지 파악하는 분석입니다.</a:t>
            </a:r>
          </a:p>
          <a:p>
            <a:r>
              <a:t>KRX 자동 수집: 매 영업일 16:30 KST(장 마감 30분 후) KOSPI+KOSDAQ 전 종목의 외국인/기관합계/개인 순매수거래량·대금 수집 후 DB 저장.</a:t>
            </a:r>
          </a:p>
          <a:p>
            <a:r>
              <a:t>집중도 점수: 외국인 점수(내 순매수 나누기 전체 최대값) + 기관 점수의 평균 x100. 외국인과 기관이 동시에 매수한 종목만 교집합으로 추출합니다.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세 번째 슬라이드 — 글로벌·국내 저명 투자자 포트폴리오입니다.</a:t>
            </a:r>
          </a:p>
          <a:p>
            <a:r>
              <a:t>글로벌 포트폴리오 — SEC 13F 19명: Warren Buffett·Michael Burry·George Soros 등 전설적 투자자부터 Ken Griffin·Renaissance Technologies 등 퀀트 운용사까지.</a:t>
            </a:r>
          </a:p>
          <a:p>
            <a:r>
              <a:t>수집 파이프라인: 분기별(2·5·8·11월 15일) SEC EDGAR 최신 13F-HR XML 파싱 → OpenFIGI API로 CUSIP → 티커 변환 → 전 분기와 비교 → 신규편입/비중확대/비중축소/청산 배지 자동 생성.</a:t>
            </a:r>
          </a:p>
          <a:p>
            <a:r>
              <a:t>국내 포트폴리오 — DART 대량보유보고 10명: 국민연금·미래에셋·삼성·박현주 등. 매월 1일 03:00 KST 자동 수집, 동시 10개 병렬 API 요청.</a:t>
            </a:r>
          </a:p>
          <a:p>
            <a:r>
              <a:t>변동 배지 4종(신규편입/비중확대/비중축소/청산)으로 한눈에 포트폴리오 변화를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GitHub·OKR·Slack 협업 프로세스입니다.</a:t>
            </a:r>
          </a:p>
          <a:p>
            <a:r>
              <a:t>GitHub 워크플로우: upstream(EDDI-RobotAcademy) → origin(개인 fork) → PR → Merge commit. main 직접 푸시 금지, squash 금지(원본 커밋 SHA 보존), Conventional Commits 준수.</a:t>
            </a:r>
          </a:p>
          <a:p>
            <a:r>
              <a:t>주요 PR 규모: 김세진 Sentiment 도메인 신설 PR #93이 +1,727줄·44파일, 자동 collect+Redis 캐시 PR #106이 +592줄.</a:t>
            </a:r>
          </a:p>
          <a:p>
            <a:r>
              <a:t>OKR 7개 Key Result 모두 달성 — 메인 에이전트 통합 / 한국+미국 / Source Tier / Sentiment / 거시 / 히스토리·인과관계 / Watchlist+Smart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라이브 데모 시나리오입니다.</a:t>
            </a:r>
          </a:p>
          <a:p>
            <a:r>
              <a:t>① 삼성전자(005930): 5개 에이전트 병렬 분석, 통합 시그널+사업개요 카드, Source Tier 분포 확인.</a:t>
            </a:r>
          </a:p>
          <a:p>
            <a:r>
              <a:t>② AAPL: 영어 뉴스+yfinance 분기 EPS+SEC 8-K filing, 한국 종목과 동일 UI/UX로 표시.</a:t>
            </a:r>
          </a:p>
          <a:p>
            <a:r>
              <a:t>③ HYBE(352820): YouTube·X·Instagram 출처가 MEDIUM으로 자동 승격, 섹터 오버라이드 시그널 반영 확인.</a:t>
            </a:r>
          </a:p>
          <a:p>
            <a:r>
              <a:t>④ Smart Money 대시보드: 외국인+기관 집중 매수 카드, Warren Buffett 포트폴리오 변동 확인.</a:t>
            </a:r>
          </a:p>
          <a:p>
            <a:r>
              <a:t>⑤ 히스토리·인과관계: NASDAQ 차트+이상치 마커, 마커 클릭 → 원인 가설 자동 생성(LLM) 확인.</a:t>
            </a:r>
          </a:p>
          <a:p>
            <a:r>
              <a:t>⑥ Redis 분산 락 데모: 동일 종목 동시 5개 요청 → DART 1회만 호출됨을 로그 또는 LangSmith에서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팀원이 이번 3·4차 프로젝트를 통해 배운 것과 개인 소감을 나누는 슬라이드입니다.</a:t>
            </a:r>
          </a:p>
          <a:p>
            <a:r>
              <a:t>김영진·김세진·문우성·김민규·이민영 5명의 개발 팀원, 이지은·정우진 2명의 외부 지원 팀원이 각자의 목소리로 이야기합니다.</a:t>
            </a:r>
          </a:p>
          <a:p>
            <a:r>
              <a:t>발표 당일 각 팀원이 직접 작성한 내용을 기반으로 발표합니다.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발표를 마치겠습니다. 감사합니다.</a:t>
            </a:r>
          </a:p>
          <a:p>
            <a:r>
              <a:t>저희 Antelligen의 핵심 메시지 — 투자 결과가 아니라, 검증 가능한 의사결정 과정과 안전한 실행 구조를 제공하는 서비스였습니다.</a:t>
            </a:r>
          </a:p>
          <a:p>
            <a:r>
              <a:t>GitHub 리포는 EDDI-RobotAcademy 조직에 공개되어 있습니다: antelligen-backend / antelligen-frontend.</a:t>
            </a:r>
          </a:p>
          <a:p>
            <a:r>
              <a:t>질문 있으시면 편하게 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</a:rPr>
              <a:t>Antelligen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>
                <a:solidFill>
                  <a:srgbClr val="CCDDEE"/>
                </a:solidFill>
                <a:latin typeface="Malgun Gothic"/>
              </a:rPr>
              <a:t>AI Multi-Agent 기반 투자 인텔리전스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"AI가 대신 투자하는 시대가 아니라,
AI의 판단을 사람이 검증하고 통제하는 구조"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88AACC"/>
                </a:solidFill>
                <a:latin typeface="Malgun Gothic"/>
              </a:rP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동기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왜 우리는 멀티 에이전트인가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단일 LLM 서비스의 구조적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단일 LLM은 복잡한 문제를 체계적으로 분해하기 어렵다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데이터 수집·분석·의사결정이 하나의 모델에 과도 의존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다양한 도메인(주식·뉴스·SNS·재무) 통합 반영 불가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확장성·유지보수에서 구조적 한계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04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현실의 의사결정은 협업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정보 수집 → 분석 → 판단 → 추천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여러 전문가의 협업 형태로 이루어짐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AI 시스템은 이를 반영 못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0144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→ "역할별 AI 에이전트가 협업하는 구조" 가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8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Antelligen의 5가지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26432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구조적 AI 시스템 구축 — 데이터 수집·분석·의사결정 에이전트 협업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 가능한 아키텍처 — 새 기능 추가 시 기존 시스템 영향 최소화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현실적 협업 흐름 반영 — 사람의 업무 방식 그대로 AI 협업으로 구현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사용자 맞춤형 분석 — 개인 성향·관심 종목 기반 개인화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자동화·효율성 향상 — 반복 분석 자동화, 실시간 데이터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45443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"AI 간 협업을 통해 문제를 해결하는 새로운 서비스 구조"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TAM · SAM · SOM (목표 시장 및 고객 요구 사항)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Total Addressable Market (TAM)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339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AI 에이전트 시장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9617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2025년: 약 76억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2033년: 약 1,820억 달러 (≈ 240조 원) — 연평균 성장률 약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781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예측 분석·의사결정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7403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2030년: 약 823억 5천만 달러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683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Addressable Market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438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AI 시장 — 2024년 54.7억 달러 → 2032년 538.7억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BFSI(은행·금융·보험) — AI 도입 비중 가장 높은 산업군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주요 활용: 알고리즘 트레이딩 / 사기 탐지 / 위험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79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Obtainable Market (SOM)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552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금융 AI SW 비중 48.5% / 클라우드 성장률 34.9%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타겟 — 중소기업(SME) + 개인 투자자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클라우드 기반 AI 웹서비스가 핵심 수익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고객의 핵심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MAS 도입 고객의 3대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가시성 / 디버깅 (Observability)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540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= 블랙박스화 / 실패 원인 파악 어려움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Tracing · 의사결정 시각화 · Tool 사용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64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비용 통제 (Cost Control)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561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토큰 비용 급증(Runaway Cost) / 비효율 에이전트 루프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비용 추적 · 예산 관리 · 작업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670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거버넌스 / 보안 (Governance)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95825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금융 데이터 민감성 / PII 유출 / Prompt Injection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데이터 마스킹 · 정책 필터링 ·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269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인사이트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17361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"신뢰와 통제가 없는 AI는 금융에서 실패한다"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2. 실현 가능성 (Solution)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신뢰도·커버리지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689860"/>
          <a:ext cx="11274552" cy="202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8종목 제한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TickerKeywordResolver Port — 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P-2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 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MarketRegion 추상 + SerpAPI / yfinance / SEC EDGAR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P-3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잠정실적 누락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P-4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출처 무관 단순 평균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SourceTier (HIGH/MEDIUM/MEDIUM_LOW/LOW)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엔터주 SNS 시그널 묻힘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_SECTOR_OVERRIDE — 섹터별 소스 가중 보정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849112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"신호의 양을 늘리되, 신호의 품질을 메타데이터로 표현한다"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운영·비용·UX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72141"/>
          <a:ext cx="11274552" cy="246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P-6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LLM·YouTube quota 폭주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다층 캐시 (4h / 7d / 1d / 1h) + 조건부 startup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동시 요청 → DART 중복 호출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분산 락 (SET NX EX) + 멱등성 가드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P-8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지연 5~10초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P-9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시그널만 있고 맥락 없음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BusinessOverview 카드 — RAG → LLM 요약, 7d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1개 죽으면 전체 실패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asyncio.gather(return_exceptions=True) 부분 실패 허용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"왜 이 결론?"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LangSmith Tracing + 출처 영속화 + Explainable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023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6대 해결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02572"/>
            <a:ext cx="11274552" cy="13472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추상은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도메인에서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실행은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어댑터에서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시간을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LLM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비용은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떨어진다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부분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기능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전체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버그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신호의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품질을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메타데이터로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표현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동시성은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atomic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primitive로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거버넌스는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사후가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아닌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설계</a:t>
            </a:r>
            <a:endParaRPr sz="1100" dirty="0">
              <a:solidFill>
                <a:srgbClr val="222222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프레임워크 경쟁자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13915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강점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CrewAI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역할 기반 협업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실행 비용 증가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AutoGen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다중 대화 / Human-in-loop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설정 복잡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LangGraph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그래프 오케스트레이션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진입 장벽 높음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LlamaIndex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RAG 데이터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에이전트 제어 제한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1810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서비스형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2617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Lindy — 노코드 AI 빌더 / 빠른 배포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AgentGPT / AutoGPT — 목표 기반 자동 실행 (프로토타입)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금융 도구 — 알고리즘 트레이딩 중심, 보안 강화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90285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시장에는 "AI 빌더"와 "트레이딩 도구"는 많지만,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"검증 가능한 의사결정 과정" 을 제공하는 서비스는 적다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차별화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차별화 3축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8166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신뢰성 / 거버넌스 (핵심 경쟁력)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6169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Tracing — LangSmith로 모든 LLM 입출력·latency 추적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가중치 — DART × 1.0 / Bloomberg × 0.7 / SNS × 0.3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Audit Trail — integrated_analysis_orm에 sub_results JSON 영속화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803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고도화된 데이터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253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심층 RAG (DART 사업보고서 → 사업개요 LLM 요약)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(News / Disclosure / Finance / Sentiment / Macro)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 공시 + 미국 SEC + yfinance + 잠정실적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7439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UX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889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사업개요 카드 — "이 회사 본질" 즉시 파악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부분 실패 표시 — "공시는 못 받았지만 뉴스+재무로 BULLISH"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종목 동일 UI/UX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70752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"투자 결과가 아니라, 검증 가능한 의사결정 과정과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안전한 실행 구조를 제공하는 서비스가 시장 승자가 된다"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3. 성장 전략 (Scale Up)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시장 진입 전략 및 사용자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목표 고객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212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1차 — 개인 투자자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7074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"이 종목이 오늘 왜 떨어졌지?"를 검색하는 사용자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차트 + 사건 + 원인 분석을 한 화면에서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99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2차 — 데이터 기반 판단을 원하는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68949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신입 애널리스트 / 투자 콘텐츠 크리에이터 / 학생 투자 동아리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047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가격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5431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블룸버그 월 200만 원+ → 한국 공시 중심 + 합리적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696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진입 채널 및 사용자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53242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초기: 웹사이트  →  PWA(홈 화면 추가)  →  모바일 앱 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8647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SEO — 종목별 "왜 떨어졌나" 페이지 자동 생성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커뮤니티 — 디스코드 / 네이버 종목 카페 / 주식 갤러리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인플루언서 — 투자 유튜버 협업 / 분석 데이터 콘텐츠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목표 성과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사용량 (Engagement)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MAU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30~50명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10,000명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 재방문율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430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품질 (Quality)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48432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사용자 만족도 (5점)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"자신 있는 분석" 비율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45%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5470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비용 효율 (Efficiency)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372864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속도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8초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종목당 분석 비용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791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사업성 (Business)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97296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유료 전환율 3%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월 매출 100만 원 (1차 마일스톤)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앱 스토어 출시 (iOS / Android)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확장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1 — 시장·자산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3239"/>
            <a:ext cx="11274552" cy="68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시장: 일본(니케이) / 유럽 / 신흥국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자산: 암호화폐 / 원자재 / 채권 / 리츠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대안 데이터: 커뮤니티 / 위성 / 카드 소비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0479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2 — 기능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7878"/>
            <a:ext cx="11274552" cy="473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포트폴리오 분석 / 실시간 알림 / 백테스트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일일 리포트 / 주간 인사이트 / 종목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49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3 — 수익 모델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32334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무료 플랜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9,900원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프리미엄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29,000원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API 서비스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호출당 과금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전용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500만~5,000만 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620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4 — 데이터 네트워크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69434"/>
            <a:ext cx="11274552" cy="404504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"1년만 운영하면, 후발주자는 따라잡기 매우 어려운 구조"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7090"/>
            <a:ext cx="11274552" cy="2280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성장 플라이휠: 사용자 행동 → 검증 사례 → 규칙 개선 → 정확도 ↑ → 만족도 ↑ → 재방문 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4. 시스템 아키텍처 소개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기술 스택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973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Python 3.13 / FastAPI ≥ 0.115 / Uvicorn (port 33333)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PostgreSQL 16 (asyncpg + pgvector) / SQLAlchemy 2.0 async / Alembic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5.x (asyncio) / APScheduler 3.10 (20+ 정기 작업)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Docker Compose (app + postgres + redis)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505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AI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89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(GPT-4o, gpt-5-mini, o1)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LangChain / LangGraph / LangSmith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348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8738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yfinance · pykrx · FRED · Finnhub · GDELT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· SEC EDGAR · SerpAPI · YouTube Data API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kiwipiepy (한국어 형태소) / BeautifulSoup4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573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71209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Next.js 16 (App Router, Turbopack) / React 19 / TypeScript 5.9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Jotai 2 / Tailwind CSS v4 / lightweight-charts · recharts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Hexagonal + DDD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Clean Architecture 의존성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8796"/>
            <a:ext cx="11274552" cy="2453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Frameworks &amp; Drivers (FastAPI · DB · Redis)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┌────────────────────────────────────────┐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Interface Adapters (Router · Repo)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┌──────────────────────────────────┐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Use Cases (Application)       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┌────────────────────────────┐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│  Entities (Domain)         │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└────────────────────────────┘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└──────────────────────────────────┘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└────────────────────────────────────────┘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└──────────────────────────────────────────────┘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의존성 방향: 바깥 → 안쪽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038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레이어별 MUST 규칙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03342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레이어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허용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금지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Domain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순수 Python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SQLAlchemy · Redis · Pydantic · ORM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Application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UseCase / Port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ORM 직접 / Redis 직접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(Inbound)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Router · DTO 변환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로직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(Outbound)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Repo · External Client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도메인 규칙 침범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Infrastructure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DB · ORM · Redis · env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도메인 맵 (24개)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51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사용자·인증: account / auth / kakao_auth /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306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시장 데이터: stock / stock_theme / dashboard / smart_money / company_profile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101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콘텐츠·분석: news / disclosure / market_video / macro / history_agent / causality_agent /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896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통합 에이전트: agent (메인 오케스트레이터)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0691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요청 처리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6187"/>
            <a:ext cx="11274552" cy="2621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HTTP Request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FastAPI Router (Inbound Adapter)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UseCase 실행 (Application)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Port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Repository → SQLAlchemy → PostgreSQL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External Client → OpenAI / DART / yfinance / SEC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└─▶ Cache Adapter → Redis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Domain Entity 조작 (순수 Python)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Response DTO 변환 → HTTP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8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Job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수집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매일 06:00 KST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투자자 순매수 (KRX)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 영업일 16:30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13F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분기 (2·5·8·11월 15일)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국내 포트폴리오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매월 1일 03:00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5. AI Multi-Agent 구성 소개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멀티 에이전트 오케스트레이션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→ 서브 에이전트 협업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19400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┌─────────────────────────┐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User Query ─▶│   agent (오케스트레이터)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└────────────┬────────────┘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 asyncio.gather (병렬)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┌──────────┬──────────────┼──────────────┬──────────┐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          ▼              ▼              ▼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┌──────┐ ┌─────────┐  ┌──────────┐  ┌──────────┐ ┌────────┐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News │ │Disclosure│  │ Finance  │  │Sentiment │ │ Macro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│Agent │ │  Agent  │  │  Agent   │  │  Agent   │ │ Agent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│SERP  │ │DART+RAG │  │yfinance  │  │SNS+GPT   │ │YouTube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│+LLM  │ │+LLM     │  │+DART     │  │+Reddit   │ │+LLM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└──────┘ └─────────┘  └──────────┘  └──────────┘ └────────┘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SourceTier 가중치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LangGraph → 통합 시그널 합성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LangSmith Tracing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Bullish / Neutral / Bearish + Confidence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Source Tier 가중치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출처 신뢰도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포함 도메인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· SEC · 1군 IB 공식 리포트(미국) · 기업 IR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Bloomberg · Reuters · WSJ · FT · 한경 · 매경 · 월가 애널리스트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MEDIUM_LOW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국내 IB 공식 리포트 (buy-bias 보정)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LOW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· 일반 뉴스 · 커뮤니티 (Naver · Reddit)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08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섹터 오버라이드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899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 / SM / JYP / YG 분석 시 YouTube·X → LOW(0.3) → MEDIUM(0.7) 자동 승격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702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55184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news      → confidence × 0.7 (MEDIUM)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disclosure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finance  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sentiment → confidence × 0.3 (LOW)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weighted_score 합산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&gt; 0.2 → bullish / &lt; -0.2 → bearish / else → neutral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캐시·동시성·복원력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다층 캐시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캐시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TTL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매크로 스냅샷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위험은 분 단위로 안 변함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회사 프로필 (DART)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기업개황 거의 안 변함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사업 개요 (LLM)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모델 + LLM 비용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분석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1시간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시그널은 뉴스 흐름에 따라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 쿨다운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회사 마스터 갱신 주기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92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분산 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1043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acquired = await redis.set(lock_key, "1", nx=True, ex=60)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atomic single-shot — race condition 0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TTL 60초 — 프로세스 죽어도 자동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Redis 다운 시 True 반환 (가용성 우선)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2846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부분 실패 허용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4662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results = await asyncio.gather(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news.analyze(...), disclosure.analyze(...), finance.analyze(...),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return_exceptions=True,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1개 죽어도 나머지로 시그널 산출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6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서비스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전반적인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소개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기능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1. 종합 종목 분석 (/agent/query)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 번의 요청 →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결과: Bullish / Neutral / Bearish + Confidence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 개요 카드 + 출처 신뢰도 분포 시각화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동일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35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2. 히스토리·인과관계 대시보드 (/dashboard)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1744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일봉 + 이상치 봉(anomaly) 자동 탐지 (5중 탐지기)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LLM 원인 추론 ("왜 이 날 떨어졌는가") + 가설 신뢰도 (HIGH/MEDIUM/LOW)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거시 이벤트 매칭 + 마커 6종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059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3. Sentiment 분석 (/sentiment)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409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Reddit + 네이버 종목토론 SNS 감정 점수화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GPT-5-mini 감정 분류 (positive / negative / neutral)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밈 티커 부스트 (TSLA · GME · NVDA × 1.35)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부정 비율 vs VIX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136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4. 거시 경제 현황판 (/macro)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3184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금리 / 유가 / 환율 / 경제 일정 자동 수집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Risk-ON / Risk-OFF 자동 판단 + LLM 근거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4h Redis 캐시로 실시간성 + 비용 균형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5. Smart Money — 국내 자금 흐름 (/smart-money)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9770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/ 기관 / 개인 순매수 랭킹 (당일)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집중 매수 종목 (3일 / 5일 / 10일 기간 선택)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클릭 → 최근 30일 투자자별 추이 차트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5792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6. 글로벌 포트폴리오 (/smart-money/global-portfolio)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9722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· Michael Burry · Cathie Wood 등 19명 (SEC 13F)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신규편입 / 비중확대 / 비중축소 / 청산 배지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— 국민연금 · 미래에셋 · 박현주 등 10명 (DART)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744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7. 관심 종목 + 개인화 (/settings/watchlist)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9674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테마별 종목 토글 등록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뉴스 페이지 — 등록 종목명으로 자동 필터링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유튜브 페이지 — 종목명으로 YouTube 병렬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5696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8. 회사 프로필 (/company-profile/{ticker})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89626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회사 마스터 + SEC EDGAR (US)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사업보고서 RAG → LLM 사업 개요 (7일 캐시)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ETF / INDEX 종목도 동일 카드 형식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25648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9. 카카오 OAuth 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578"/>
            <a:ext cx="11274552" cy="25554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temp_token / user_token 분리 → 가입 전 사용자도 핵심 기능 시연 가능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7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팀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구성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 팀 (5인)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211160"/>
              </p:ext>
            </p:extLst>
          </p:nvPr>
        </p:nvGraphicFramePr>
        <p:xfrm>
          <a:off x="457200" y="1450848"/>
          <a:ext cx="11274552" cy="470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816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테크 역량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에이전트 / 데이터 인프라 / 신뢰도 시스템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Hexagonal · LangChain · Redis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전체 / 미국 주식 뉴스 보강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BS4 · OpenAI · Next.js · Jotai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/ 시스템 아키텍처 정립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시스템 설계 · Hexagonal · LLM · YouTube API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Agent / Causality Agent /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LangGraph · Next.js · lightweight-charts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개인화 시스템 / Smart Money 대시보드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Next.js · React · Playwright ·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Jotai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· DDD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297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Antelligen 플랫폼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김영진 — 메인 에이전트 + 데이터 인프라    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(뉴스·공시·재무 서브에이전트 통합 / US 확대 /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SourceTier 가중치 / 분산 락 / 사업개요 카드)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┌──────────────┐  ┌──────────────┐  ┌──────────────┐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김세진     │  │   문우성     │  │   김민규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감정분석    │  │  거시경제    │  │  히스토리·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에이전트    │  │  현황판      │  │  인과관계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(SNS·Reddit │  │  (금리·유가· │  │  에이전트 +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GPT 분석)  │  │   환율·      │  │  Dashboard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           │  │   Risk판단)  │  │  UI     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└──────────────┘  └──────────────┘  └──────────────┘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이민영 — 개인화 시스템 + Smart Money 대시보드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(관심종목 watchlist → 뉴스·유튜브 개인화 /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KRX 순매수 수집 / SEC 13F 19명 / DART 10명)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Before vs 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2577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3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분석 가능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하드코딩 8개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미국 상장주 (AAPL, TSLA 등)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 데이터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정기공시만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yfinance(US) + 잠정실적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 데이터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852287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TickerKeywordResolverPort — 종목 제한 해제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9025"/>
            <a:ext cx="11274552" cy="1537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문제: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TICKER_TO_KEYWORDS = {"005930": ["삼성전자"], ...}  ← 8개 외 키워드 없음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시그널 산출 불가, 레이어 위반(use case 내부 상수 직접 import)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Port.resolve(ticker) → DB에서 stock_name 동적 조회 + alias 결합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"000270" (기아) → ["기아", "기아차", "KIA"]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전 KRX 2,500+ 종목 정상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59849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MarketRegion — KR/US 분기 기반 인프라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56586"/>
            <a:ext cx="11274552" cy="121853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MarketRegion(Enum):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KR_KOSPI / KR_KOSDAQ / KR_KONEX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US_NYSE / US_NASDAQ / UNKNOWN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ticker 형식으로 자동 추론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6자리 숫자 → KR / 1~5 알파벳 → US_NASDAQ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KR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US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SerpAPI (gl=us, hl=en)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분기보고서 + 잠정실적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분기 EPS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SourceTier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2701"/>
            <a:ext cx="11274552" cy="131343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SourceTier(str, 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HIGH       = "HIGH"        # DART, SEC, 미국 IB 공식 리포트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     = "MEDIUM"      # Bloomberg, Reuters, WSJ, 한경, 매경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MEDIUM_LOW = "MEDIUM_LOW"  # 국내 IB 공식 리포트 (buy-bias 보정)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LOW        = "LOW"         # SNS, 일반 뉴스, 커뮤니티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_DEFAULT_WEIGHTS = { HIGH: 1.0, MEDIUM: 0.7, MEDIUM_LOW: 0.5, LOW: 0.3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69289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엔터테인먼트 섹터 — SNS 가중치 보정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6150"/>
            <a:ext cx="11274552" cy="116135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HYBE(352820) / SM(041510) / JYP(035900) / YG(122870)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YouTube·X·Instagram → LOW(0.3) → MEDIUM(0.7) 자동 승격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엔터주 분석 시 팬덤 SNS 반응이 시그널에 제대로 반영됨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80657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에이전트 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57518"/>
            <a:ext cx="11274552" cy="1617601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for r in results: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tier = r.source_tier or _AGENT_DEFAULT_TIER.get(r.agent_name)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multiplier = default_multiplier(tier)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 = r.confidence * multiplier      # 티어 보정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weighted_score += signal_score * confidence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confidence_total += confidence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avg_score = weighted_score / confidence_total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&gt; 0.2 → bullish / &lt; -0.2 → bearish / else → neutral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가중치 수치(HIGH/MEDIUM/MEDIUM_LOW/LOW)는 env로 노출 → 운영 중 튜닝 가능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(3/3): On-demand 분산 락 + 조건부 Startup + 사업개요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On-demand 공시 수집 + Redis 분산 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9246"/>
            <a:ext cx="11274552" cy="188604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문제: 동일 종목 동시 5개 요청 → DART API 5중 호출 → quota 낭비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A → Redis SET NX EX 락 획득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DART 5개 유형 병렬 fetch (A/B/C/D/E)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DB upsert → 락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B → 락 대기 (최대 30초) → DB에 결과 보이면 즉시 공유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C ┘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보장: TTL 60초 deadlock 방지 / Redis 장애 시 graceful degrade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68443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조건부 Startup 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1849"/>
          <a:ext cx="11274552" cy="106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76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잡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절약 효과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24h 이내 성공 이력 있으면 스킵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KRX 전종목 재호출 방지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process_documents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미처리 공시 1건이라도 있을 때만 실행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불필요한 LLM 처리 방지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refresh_market_risk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4h 이내 스냅샷 있으면 복원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YouTube quota + LLM 비용 최대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96078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사업개요 카드 — 메인 에이전트 답변 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99484"/>
            <a:ext cx="11274552" cy="107563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asyncio.create_task → 병렬 fetch (latency 거의 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사업보고서 RAG (최대 5청크 / 3,000자)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LLM 사업개요 요약 → Redis 7일 캐시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(1) LLM 합성 컨텍스트로 주입 → 답변 품질 향상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(2) 응답 페이로드에 카드 DTO로 부착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담당 범위: 백엔드 21개 파일 신규 (+1,727줄) / 프론트엔드 5개 파일 신규 (+592줄)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148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신설 도메인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97124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app/domains/sentiment/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adapter/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inbound/api/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│   └── sentiment_router.py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outbound/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external/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reddit_client.py          ← Reddit 무인증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naver_finance_discussion_client.py  ← HTML 스크래핑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toss_community_client.py  ← stub (차기 이터레이션)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└── openai_sns_signal_adapter.py  ← GPT 감정분석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persistence/sns_post_repository_impl.py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cache/sns_signal_cache.py    ← Redis TTL 10분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application/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port/ (수집·분석·저장 Port 4개)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usecase/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collect_sns_posts_usecase.py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analyze_sns_signal_usecase.py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 domain/model/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├── sns_post.py        ← 도메인 엔티티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└── sns_signal_result.py  ← 표준 응답 DTO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수집기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방식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특이사항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Reddit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.json 무인증 엔드포인트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 계정 OAuth 락 우회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종목토론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BeautifulSoup4 HTML 스크래핑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EUC-KR 디코딩 버그 직접 발견·수정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토스 커뮤니티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stub (인터페이스만 보존)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SPA 봇 탐지 → Playwright 차기 이터레이션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GPT 감정분석 어댑터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0755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입력: 게시물 제목/본문 리스트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GPT-5-mini (팀 표준 모델)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게시물별 감정 분류 (positive / negative / neutral)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종합 시그널: bullish / bearish / neutral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confidence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overall_negative_ratio (VIX 비교용)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9374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밈 티커 · 섹터별 가중치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118658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종목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TSLA, GME, AMC, NVDA 등 밈 티커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confidence × 1.35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반응이 실제 가격에 직접 영향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엔터(JYP/SM/HYBE/YG)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아티스트 SNS가 핵심 알파 소스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게임주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1.2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커뮤니티 여론과 출시 성과 연동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기본값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950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TABLE sns_posts 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id SERIAL PRIMARY KEY,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external_id VARCHAR UNIQUE,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platform VARCHAR NOT NULL,    -- reddit / naver_finance / toss_community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 VARCHAR NOT NULL,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title TEXT, body TEXT, author VARCHAR, url VARCHAR,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posted_at TIMESTAMP, collected_at TIMESTAMP DEFAULT NOW()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idx_sns_posts_ticker_platform ON sns_posts(ticker, platform);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idx_sns_posts_posted_at ON sns_posts(posted_at);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7223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표준 응답 DTO — 메인 에이전트 자연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32908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SnsSignalResult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ticker, signal, confidence, source_tier,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overall_negative_ratio,   # VIX 비교용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per_platform,             # 플랫폼별 결과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evidence,                 # 근거 게시물 top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reasoning, analyzed_at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메인 에이전트가 confidence × source_tier_weight 로 자연스럽게 합산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자체 발견·수정한 버그 및 운영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77289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네이버 한글 깨짐 (EUC-KR 디코딩 버그)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37410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 — DB에 한글이 깨져 저장됨 ("@@@ ��ш꼍遺�")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content = resp.content.decode("euc-kr", errors="replace")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 — 정상 한글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soup = BeautifulSoup(resp.content, "html.parser", from_encoding="euc-kr")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637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뉴스 라우터 DI 버그 수정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6492"/>
            <a:ext cx="112745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Before: AnalyzeNewsSignalUseCase(repository=repo)  ← keyword_resolver 누락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After:  AnalyzeNewsSignalUseCase(repository=repo,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            keyword_resolver=TickerKeywordResolver(...))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4017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Redis 캐시 + 자동 collect 트리거 (PR 머지 후 운영 이슈 즉시 해결)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0029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analyze 엔드포인트 흐름: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1. Redis cache.get(ticker) → HIT이면 즉시 반환 (GPT 호출 X)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2. DB에 게시물 5건 미만 → CollectSnsPostsUseCase 자동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3. GPT 분석 → 결과를 Redis TTL 600초 캐시에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※ 캐시를 라우터 레벨에 배치 → UseCase 순수성 (DDD 원칙) 유지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4가지 상태: IDLE → LOADING → SUCCESS / ERROR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SUCCESS 시 시각화: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시그널 배지 (상승↑ / 하락↓ / 중립) + 색상 차별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신뢰도 게이지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긍정/중립/부정 누적 비율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플랫폼별 결과 (Reddit / 네이버 종목토론 한국어 라벨)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근거 게시물 top 3 (감정 색상 마킹)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AI 한국어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50814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김영진의 StockAnalysisView 페이지에 자연스럽게 통합 — 다른 sub_agent 카드들과 동일 패널에 표시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(1/3): 거시경제 현황판 데이터 수집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수집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0204"/>
            <a:ext cx="11274552" cy="1028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매일 자동 수집 → 저장 → 전일 대비 등락 계산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(기준금리, 국채 10년물)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유가 (WTI, 브렌트)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환율 (USD/KRW, DXY)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주요 경제 일정 (FOMC, CPI, 실업률 발표 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91389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수집 소스 &amp; 스케줄러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75754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85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소스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금리·거시지표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(12개 시리즈)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유가 · 환율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연관자산 파이프라인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VIX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CBOE / yfinance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경제 일정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크롤링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주 1회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8177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스냅샷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72542"/>
            <a:ext cx="11274552" cy="1802577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4시간 이내 스냅샷이 Redis에 있으면 메모리 store로 복원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 def _try_restore_macro_snapshot(max_age_hours: int = 4) -&gt; bool: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raw = await redis_client.get(MACRO_SNAPSHOT_REDIS_KEY)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not raw: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payload = json.loads(raw)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datetime.now() - updated_at &gt; timedelta(hours=max_age_hours):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get_market_risk_snapshot_store().set(response, updated_at=updated_at)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 True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서버 재시작·hot-reload 시 LLM 호출 0회 (YouTube quota 보호)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(2/3): Risk-ON / Risk-OFF 자동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시장 상태 판단 로직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핵심 변수 조합 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방향 (상승 vs 하락)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달러 강도 (DXY 방향)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VIX 수준 (공포 지수)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유가 방향 (에너지 비용)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LLM 기반 종합 판단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Risk-ON / Risk-OFF 결정 + 근거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Risk-ON / Risk-OFF 출력 예시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98392"/>
          <a:ext cx="11274552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판단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 예시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선호 심리 강화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"금리 하락 + 달러 약세 → 성장주·신흥국 매수 환경 조성"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Risk-OFF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회피 심리 강화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"VIX 25 돌파 + 달러 강세 → 미 국채·금 선호, 위험자산 매도 압력"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97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사용자 화면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47944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/macro 페이지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· 유가 · 환율 카드 (전일 대비 등락 색상)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주요 경제 일정 캘린더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Risk-ON / Risk-OFF 배지 + LLM 근거 텍스트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(3/3): 메인 에이전트 연결 + 아키텍처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거시경제 에이전트 → 메인 에이전트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거시경제 에이전트 (문우성)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MarketRiskJudgementResponse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Redis 4h 캐시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메인 에이전트 (김영진 통합) 호출 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거시 스냅샷 로드 → 종합 시그널 산출 컨텍스트로 활용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거시 환경 불안정 → 전체 confidence 하향 반영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시스템 아키텍처 정립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9839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전체 DDD · 헥사고날 아키텍처 설계 참여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레이어별 의존성 규칙 문서화 (WOOSUNG_system-architecture.md)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도메인 간 인터페이스 표준화 방향 제시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외부 API 공통 Client 패턴 정립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8797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스택 (담당 영역)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06136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Data API (거시 뉴스·영상 수집)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FRED API (금리·CPI·실업률 시리즈)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GPT (Risk 판단 LLM)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APScheduler (거시 데이터 정기 수집 잡)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(스냅샷 4h 캐시 + 분산 락)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한 줄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9316"/>
            <a:ext cx="11274552" cy="39153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종목 코드 하나 → 8개 외부 소스에서 데이터 수집 → "시점이 명확한 사건"만 골라 타임라인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4003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8단계 파이프라인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57480"/>
            <a:ext cx="11274552" cy="42176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0  ticker 정규화 + 자산 유형 자동 판별 (EQUITY / INDEX / ETF)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1  Redis 캐시 HIT → 즉시 반환 (~50ms)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 MISS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2  4개 소스 비동기 병렬 수집 (asyncio.gather)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yfinance  OHLCV + 기업이벤트 (배당·분할)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DART + yfinance  실적·임원변동·자사주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SEC EDGAR + DART  공시 (8-K/DART 주요사항)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Finnhub → GDELT → Naver  뉴스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3  Jaccard ≥ 0.8 공시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(같은 사건이 DART + SEC + Yahoo 에서 동시 입수될 때)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4  DB에서 기존 enrichment 로드 → title/causality 즉시 주입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5  신규 이벤트 병렬 enrichment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SURGE/PLUNGE 상위 3건 → Causality Agent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가격 이벤트 제목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공시 한글 요약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6  EventClassifier v2 + importance_score 산정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7  DB upsert (event_enrichments, 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8  Redis setex 3600s TTL → 응답 반환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자산 유형별 파이프라인 분기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29470"/>
              </p:ext>
            </p:extLst>
          </p:nvPr>
        </p:nvGraphicFramePr>
        <p:xfrm>
          <a:off x="457200" y="1588008"/>
          <a:ext cx="11274552" cy="4501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547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자산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파이프라인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EQUITY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AAPL, 005930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이벤트 + 공시 + 뉴스 + 거시 컨텍스트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^GSPC, ^KS11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지수별 맞춤 매크로 이벤트 + 인과 규칙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ETF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SPY, QQQ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자산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클래스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매크로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+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상위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5개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보유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이벤트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분해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(2/3): 이상치 탐지 + 이벤트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5중 이상치 탐지기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0733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트리거 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마커 색상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z-score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5d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20d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±15%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drawdown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60봉 고점 대비 -10% 도달 → -3% 회복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보라 🔽 / 에메랄드 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volatility cluster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5거래일 내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085608"/>
            <a:ext cx="11274552" cy="39285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settings.anomaly_robust_sigma_method: "stdev" / "stable" / "mad" 선택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51615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이벤트 분류 체계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46509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Category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대표 Types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 방법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CORPORATE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EARNINGS, DIVIDEND, STOCK_SPLIT, BUYBACK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코드 매칭 (규칙)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ANNOUNCEMENT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MERGER_ACQUISITION, CONTRACT, MAJOR_EVENT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Item 코드 + 본문 LLM 재분류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MACRO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INTEREST_RATE, CPI, VIX_SPIKE, OIL_SPIKE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시리즈 + 연관자산 threshold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NEWS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(단일 유형)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필드로 provider 구분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90664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MACRO TYPE_A vs TYPE_B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885557"/>
          <a:ext cx="11274552" cy="80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18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정의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reason 필드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TYPE_A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원인 / 발표 자체 (FOMC, CPI 발표)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없음 (사실 자체가 사유)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TYPE_B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결과 / 시장 반응 (VIX 급등, 환율 변동)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추정 사유 + 신뢰도 (HIGH/MEDIUM/LOW)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Causality Agent — "왜 이 날 급등/급락했는가"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이상치 봉(Anomaly Bar) 탐지 → 차트에 마커 자동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마커 클릭 (lazy 호출 — LLM 비용 절약)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LangGraph StateGraph 4노드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1: 날짜 주변 뉴스·공시·거시지표 병렬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2: LLM Tool Use (8개 도구 자율 선택·호출)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3: 가설 3~6개 생성 + 신뢰도 평가 (HIGH/MEDIUM/LOW)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4: 환각 방지 후처리 + 출처 검증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event_enrichments DB 영구 저장 (detail_hash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동일 봉 두 번째 요청부터 ~50ms 응답 (캐시 write-through)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315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Dashboard UI — /dashboard 2열 4:1 그리드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01312"/>
            <a:ext cx="11274552" cy="2118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┌──────────────────────────────┬──────────────────┐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NasdaqChart                 │  StockSearch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+ 이상치 봉 마커 6종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(SURGE/PLUNGE/VIX_SPIKE)  ├──────────────────┤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마커 클릭 → Causality 팝업  │  AssetProfile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├──────────────────────────────│  Panel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HistoryPanel       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(타임라인 카드 목록)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카드 클릭 → 차트 봉 하이라이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└──────────────────────────────┴──────────────────┘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상태: Jotai 2.19 (atomWithStorage — localStorage 영속)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GET /api/v1/history-agent/timeline/stream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이벤트 타입: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progress → 처리 중인 단계 실시간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done     → 완성된 타임라인 데이터 전송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error    → 에러 메시지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효과: 4~8초 로딩 대신 진행 상황을 사용자가 실시간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(1/3): 관심종목 기반 개인화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watchlist 관리 (/settings/watchlist)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6128"/>
            <a:ext cx="11274552" cy="175153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UI: 테마 그룹별 종목 버튼 (반도체 / 자동차 / 바이오 / 엔터 / ...)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버튼 클릭 → 토글 등록/해제 / 현재 선택 개수 실시간 표시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API: GET /me/watchlist  → 관심종목 전체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POST /me/watchlist → 종목 추가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PUT /me/watchlist/{stock_code} → 종목 교체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DELETE /me/watchlist/{stock_code} → 종목 삭제 (204)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인증: Redis 세션 기반 (쿠키 user_token 또는 Authorization: Bearer 모두 지원)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40819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· 유튜브 개인화 연동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51107"/>
          <a:ext cx="11274552" cy="82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7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페이지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없을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있을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/news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전체 최신 뉴스 100건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등록 종목명으로 DB 뉴스 필터링 (종목당 최대 10건)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/youtube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주식 키워드 5개로 검색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종목명 최대 5개를 YouTube 병렬 검색 키워드로 사용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42642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개인화 상세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52930"/>
            <a:ext cx="11274552" cy="142218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세션 → 관심종목 목록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종목별 stock_name으로 뉴스 DB 제목 검색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URL 기준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최신순 정렬 후 반환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스마트머니란?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9757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개인보다 정보력·자본력이 높은 외국인·기관·저명 투자자의 거래 흐름을 추적해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어디에 "큰 돈"이 들어오고 있는지 파악하는 투자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267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KRX 자동 수집 스케줄러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32185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 영업일 16:30 KST (장 마감 30분 후)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KRX → KOSPI + KOSDAQ 전 종목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/ 기관합계 / 개인 → 종목별 순매수거래량 + 순매수거래대금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DB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889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집중 매수 종목 — 집중도 점수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2813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점수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기관 점수  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집중도 점수 = (외국인 점수 + 기관 점수) ÷ 2 × 100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외국인·기관이 "동시에" 매수한 종목만 교집합 추출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① 스마트머니 집중 매수 종목 카드 (기간: 3일 / 5일 / 10일 선택)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종목명 + 외국인 순매수 금액 + 기관 순매수 금액 + 집중도 게이지 바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② 투자자별 순매수 랭킹 탭 (외국인 / 기관 / 개인)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행 클릭 → 최근 30일 투자자별 추이 차트 펼침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외국인(파랑) / 기관(초록) / 개인(노랑) 3개 라인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Redis TTL 10분 캐싱 적용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글로벌 포트폴리오 — SEC 13F (19명)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 투자자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30832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투자자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전설적 투자자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Warren Buffett, Michael Burry, George Soros, Carl Icahn, Seth Klarman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헤지펀드 매니저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Bill Ackman, David Tepper, Ray Dalio, Stan Druckenmiller, Dan Loeb, Steve Cohen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퀀트·대형 운용사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Ken Griffin, Renaissance Technologies, Two Sigma, D.E. Shaw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성장주 중심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Cathie Wood, Tiger Global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0766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14496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분기별 (2·5·8·11월 15일 09:00 KST)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SEC EDGAR 최신 13F-HR 공시 → XML 파싱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OpenFIGI API로 CUSIP → 티커 변환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직전 분기와 비교 → 신규편입/비중확대/비중축소/청산 배지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포트폴리오 비중(%) 계산 → DB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072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국내 포트폴리오 — DART 대량보유보고 (10명)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88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대상: 국민연금, 미래에셋, 삼성, KB, 신한, NH-아문디, 박현주, 강방천, 이채원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매월 1일 03:00 KST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corp_code XML → 상장주 상위 800종목 추출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동시 10개 병렬 API 요청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5% 이상 대량보유 종목 중 수집 대상 투자자 매칭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보유와 비교 → 변동 유형 계산 → DB upsert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348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UI — 변동 배지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635074"/>
              </p:ext>
            </p:extLst>
          </p:nvPr>
        </p:nvGraphicFramePr>
        <p:xfrm>
          <a:off x="457200" y="3479888"/>
          <a:ext cx="11274552" cy="291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03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배지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신규편입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이번 분기 처음 매수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비중확대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증가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비중축소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감소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청산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분기에서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제거된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8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실제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업무를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어떻게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했는가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GitHub 커밋 컨벤션 &amp; PR 워크플로우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94700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upstream (EDDI-RobotAcademy)  →  origin (개인 fork)  →  PR  →  Merge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051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main 직접 푸시 금지 — 항상 PR 워크플로우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Merge commit (squash 금지 — 원본 커밋 SHA 보존)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Conventional Commits: feat / fix / refactor / docs / chore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머지 후 fork sync: git fetch upstream &amp;&amp; git merge --ff-only upstream/main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407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실제 PR 사례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411"/>
              </p:ext>
            </p:extLst>
          </p:nvPr>
        </p:nvGraphicFramePr>
        <p:xfrm>
          <a:off x="457200" y="4479533"/>
          <a:ext cx="11274552" cy="1945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85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#93 (김세진)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도메인 신설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+1,727/-14, 44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#106 (김세진)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자동 collect + Redis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+592 lines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(김영진)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 확대 + Source Tier + On-demand 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40+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(김민규)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+ Causality Agent +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(이민영)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watchlist + KRX +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0833"/>
              </p:ext>
            </p:extLst>
          </p:nvPr>
        </p:nvGraphicFramePr>
        <p:xfrm>
          <a:off x="457200" y="1005839"/>
          <a:ext cx="11274552" cy="4281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7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Key Result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한국 + 미국 시장 동일 UI/UX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Tier 4단계 + 섹터 오버라이드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신설 + 메인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+ 시장 위험도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히스토리·인과관계 대시보드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Watchlist + Smart Money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290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 dirty="0">
                <a:solidFill>
                  <a:srgbClr val="2980B9"/>
                </a:solidFill>
                <a:latin typeface="Malgun Gothic"/>
              </a:rPr>
              <a:t>Slack </a:t>
            </a:r>
            <a:r>
              <a:rPr sz="1500" b="1" dirty="0" err="1">
                <a:solidFill>
                  <a:srgbClr val="2980B9"/>
                </a:solidFill>
                <a:latin typeface="Malgun Gothic"/>
              </a:rPr>
              <a:t>협업</a:t>
            </a:r>
            <a:endParaRPr sz="1500" b="1" dirty="0">
              <a:solidFill>
                <a:srgbClr val="2980B9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81609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채널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: #general #dev-backend #dev-frontend #design-architecture #bugs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— "영진 sentiment 빈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결과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공유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→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김세진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자동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collect +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커밋으로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즉시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해결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9. 라이브 시연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종목 분석 — 한국 종목 (삼성전자 005930)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통합 시그널 + 사업개요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분포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502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종목 분석 — 미국 종목 (AAPL)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1185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영어 뉴스 + yfinance 분기 EPS + SEC 8-K filing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UI/UX로 동일하게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065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엔터 섹터 — HYBE (352820)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748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· X · Instagram 출처가 MEDIUM으로 승격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섹터 오버라이드가 시그널에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④ Smart Money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43120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+ 기관 집중 매수 종목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포트폴리오 변동 (신규편입 / 비중확대)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0192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⑤ 히스토리·인과관계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087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NASDAQ 차트 + 이상치 마커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마커 클릭 → 원인 가설 자동 생성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6755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⑥ Redis 분산 락 데모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7438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종목 동시 5개 요청 → DART 1회만 호출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10. 3·4차 프로젝트 소감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학습한 사항 및 개인 소감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28107"/>
              </p:ext>
            </p:extLst>
          </p:nvPr>
        </p:nvGraphicFramePr>
        <p:xfrm>
          <a:off x="457200" y="1005840"/>
          <a:ext cx="11274552" cy="5690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멀티 에이전트를 직접 구현해보는 재밌고 유익한 시간이었습니다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.</a:t>
                      </a:r>
                    </a:p>
                    <a:p>
                      <a:endParaRPr lang="en-US" altLang="ko-KR"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팀원 분들이 다 잘 </a:t>
                      </a:r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따라주셔서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팀장으로써 뿌듯했고 다음 기회에 또 팀으로 만날 기회가 있으면 그때도 같이 팀 해요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^^ 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감사합니다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.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예전에 만들었던 기능에 확대만 하면 </a:t>
                      </a:r>
                      <a:r>
                        <a:rPr lang="ko-KR" altLang="en-US" sz="1000" dirty="0" err="1"/>
                        <a:t>될것으로</a:t>
                      </a:r>
                      <a:r>
                        <a:rPr lang="ko-KR" altLang="en-US" sz="1000" dirty="0"/>
                        <a:t> 가볍게 생각하고 </a:t>
                      </a:r>
                      <a:r>
                        <a:rPr lang="ko-KR" altLang="en-US" sz="1000" dirty="0" err="1"/>
                        <a:t>접근했었는데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생각보다 </a:t>
                      </a:r>
                      <a:r>
                        <a:rPr lang="ko-KR" altLang="en-US" sz="1000" dirty="0" err="1"/>
                        <a:t>고려해야할</a:t>
                      </a:r>
                      <a:r>
                        <a:rPr lang="ko-KR" altLang="en-US" sz="1000" dirty="0"/>
                        <a:t> 점이 </a:t>
                      </a:r>
                      <a:r>
                        <a:rPr lang="ko-KR" altLang="en-US" sz="1000" dirty="0" err="1"/>
                        <a:t>많았던것</a:t>
                      </a:r>
                      <a:r>
                        <a:rPr lang="ko-KR" altLang="en-US" sz="1000" dirty="0"/>
                        <a:t> 같습니다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또 </a:t>
                      </a:r>
                      <a:r>
                        <a:rPr lang="ko-KR" altLang="en-US" sz="1000" dirty="0" err="1"/>
                        <a:t>백엔드만</a:t>
                      </a:r>
                      <a:r>
                        <a:rPr lang="ko-KR" altLang="en-US" sz="1000" dirty="0"/>
                        <a:t> 짜봤는데 프론트 </a:t>
                      </a:r>
                      <a:r>
                        <a:rPr lang="en-US" altLang="ko-KR" sz="1000" dirty="0"/>
                        <a:t>React Hooks </a:t>
                      </a:r>
                      <a:r>
                        <a:rPr lang="ko-KR" altLang="en-US" sz="1000" dirty="0"/>
                        <a:t>규칙에 막히기도 했고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프론트만 보다가 </a:t>
                      </a:r>
                      <a:r>
                        <a:rPr lang="en-US" altLang="ko-KR" sz="1000" dirty="0"/>
                        <a:t>SQL alembic </a:t>
                      </a:r>
                      <a:r>
                        <a:rPr lang="ko-KR" altLang="en-US" sz="1000" dirty="0"/>
                        <a:t>마이그레이션에 멈추기도 했어요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양쪽을 다 아는 사람의 강점과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양쪽 다 어설픈 사람의 약점을 동시에 느꼈습니다</a:t>
                      </a:r>
                      <a:r>
                        <a:rPr lang="en-US" altLang="ko-KR" sz="1000" dirty="0"/>
                        <a:t>.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코딩 잘 모르는 저도 할 수 있을 정도로 </a:t>
                      </a:r>
                      <a:r>
                        <a:rPr lang="en-US" altLang="ko-KR" sz="1000" dirty="0"/>
                        <a:t>AI agent</a:t>
                      </a:r>
                      <a:r>
                        <a:rPr lang="ko-KR" altLang="en-US" sz="1000" dirty="0"/>
                        <a:t>에 깊은 인상을 받았습니다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초반에 고생도 많았지만 팀원분들 덕분에 잘 진행해 </a:t>
                      </a:r>
                      <a:r>
                        <a:rPr lang="ko-KR" altLang="en-US" sz="1000" dirty="0" err="1"/>
                        <a:t>나간거</a:t>
                      </a:r>
                      <a:r>
                        <a:rPr lang="ko-KR" altLang="en-US" sz="1000" dirty="0"/>
                        <a:t> 같아 감사드립니다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개인적으로 수업 따라가는데 바빠 구현 못한 주식 노하우가 많아 좀 아쉽지만 많이 배울 수 있어 좋았습니다</a:t>
                      </a:r>
                      <a:r>
                        <a:rPr lang="en-US" altLang="ko-KR" sz="1000"/>
                        <a:t>.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데이터의 품질을 높이고 유의미하도록 </a:t>
                      </a:r>
                      <a:r>
                        <a:rPr lang="ko-KR" altLang="en-US" sz="1000" dirty="0" err="1"/>
                        <a:t>만드는게</a:t>
                      </a:r>
                      <a:r>
                        <a:rPr lang="ko-KR" altLang="en-US" sz="1000" dirty="0"/>
                        <a:t> 생각보다 어려웠고 처음에 생각했을 때 이상적으로 생각했던 부분이 막상 </a:t>
                      </a:r>
                      <a:r>
                        <a:rPr lang="ko-KR" altLang="en-US" sz="1000" dirty="0" err="1"/>
                        <a:t>구현하고나니</a:t>
                      </a:r>
                      <a:r>
                        <a:rPr lang="ko-KR" altLang="en-US" sz="1000" dirty="0"/>
                        <a:t> 이게 왜 필요할까</a:t>
                      </a:r>
                      <a:r>
                        <a:rPr lang="en-US" altLang="ko-KR" sz="1000" dirty="0"/>
                        <a:t>? </a:t>
                      </a:r>
                      <a:r>
                        <a:rPr lang="ko-KR" altLang="en-US" sz="1000" dirty="0"/>
                        <a:t>라는 본질을 계속 </a:t>
                      </a:r>
                      <a:r>
                        <a:rPr lang="ko-KR" altLang="en-US" sz="1000" dirty="0" err="1"/>
                        <a:t>고민하게되는</a:t>
                      </a:r>
                      <a:r>
                        <a:rPr lang="ko-KR" altLang="en-US" sz="1000" dirty="0"/>
                        <a:t> 시간이었습니다</a:t>
                      </a:r>
                      <a:r>
                        <a:rPr lang="en-US" altLang="ko-KR" sz="1000" dirty="0"/>
                        <a:t>.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>
                <a:solidFill>
                  <a:srgbClr val="CCDDEE"/>
                </a:solidFill>
                <a:latin typeface="Malgun 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  <a:latin typeface="Malgun Gothic"/>
              </a:rPr>
              <a:t>GitHub: EDDI-RobotAcademy/antelligen-backend · antelligen-frontend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11662</Words>
  <Application>Microsoft Office PowerPoint</Application>
  <PresentationFormat>와이드스크린</PresentationFormat>
  <Paragraphs>1332</Paragraphs>
  <Slides>61</Slides>
  <Notes>61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7" baseType="lpstr">
      <vt:lpstr>Malgun Gothic</vt:lpstr>
      <vt:lpstr>Arial</vt:lpstr>
      <vt:lpstr>Calibri</vt:lpstr>
      <vt:lpstr>Consolas</vt:lpstr>
      <vt:lpstr>Lucida Console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yjkim</dc:creator>
  <cp:keywords/>
  <dc:description>generated using python-pptx</dc:description>
  <cp:lastModifiedBy>영진 김</cp:lastModifiedBy>
  <cp:revision>15</cp:revision>
  <dcterms:created xsi:type="dcterms:W3CDTF">2013-01-27T09:14:16Z</dcterms:created>
  <dcterms:modified xsi:type="dcterms:W3CDTF">2026-05-01T08:45:55Z</dcterms:modified>
  <cp:category/>
</cp:coreProperties>
</file>