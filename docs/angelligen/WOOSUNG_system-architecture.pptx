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4688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Antelligen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5BC4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8D4F0"/>
                </a:solidFill>
              </a:rPr>
              <a:t>FastAPI · Hexagonal Architecture · DDD · Multi-Agent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D4F0"/>
                </a:solidFill>
              </a:rPr>
              <a:t>2026.04 · Antelligen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Clean Architecture — 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관심사 분리 + 의존성 규칙: 모든 의존성은 외부 → 내부(도메인)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669280" cy="5120640"/>
          </a:xfrm>
          <a:prstGeom prst="rect">
            <a:avLst/>
          </a:prstGeom>
          <a:solidFill>
            <a:srgbClr val="F38BA8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Frameworks &amp;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React · Vue · Axios · LocalStorage · DB ·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65960"/>
            <a:ext cx="4754880" cy="4069080"/>
          </a:xfrm>
          <a:prstGeom prst="rect">
            <a:avLst/>
          </a:prstGeom>
          <a:solidFill>
            <a:srgbClr val="FAB387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Interface Adapters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Controller · Presenter ·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880360"/>
            <a:ext cx="3840480" cy="3017520"/>
          </a:xfrm>
          <a:prstGeom prst="rect">
            <a:avLst/>
          </a:prstGeom>
          <a:solidFill>
            <a:srgbClr val="F9E2AF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로그인하기 · 장바구니 담기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794760"/>
            <a:ext cx="2926080" cy="1965960"/>
          </a:xfrm>
          <a:prstGeom prst="rect">
            <a:avLst/>
          </a:prstGeom>
          <a:solidFill>
            <a:srgbClr val="A6E3A1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</a:rPr>
              <a:t>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User ·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D2B55"/>
                </a:solidFill>
              </a:rPr>
              <a:t>핵심 비즈니스 규칙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051560"/>
            <a:ext cx="5440680" cy="64008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1612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의존성 규칙 (Dependency Rule)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83080"/>
            <a:ext cx="5440680" cy="594360"/>
          </a:xfrm>
          <a:prstGeom prst="rect">
            <a:avLst/>
          </a:prstGeom>
          <a:solidFill>
            <a:srgbClr val="1A4885"/>
          </a:solidFill>
          <a:ln w="127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92807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BC4FF"/>
                </a:solidFill>
              </a:rPr>
              <a:t>→  바깥에서 안쪽으로만 의존  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60320"/>
            <a:ext cx="5440680" cy="8686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560320"/>
            <a:ext cx="164592" cy="8686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핵심 비즈니스 모델 및 규칙 — User, Product 객체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520439"/>
            <a:ext cx="5440680" cy="8686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520439"/>
            <a:ext cx="164592" cy="86868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611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Use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애플리케이션 고유 로직 — 로그인, 장바구니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480559"/>
            <a:ext cx="5440680" cy="8686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480559"/>
            <a:ext cx="164592" cy="8686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5719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B387"/>
                </a:solidFill>
              </a:rPr>
              <a:t>Interface Adapters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외부 ↔ 내부 데이터 변환 — Presenter, Mapper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440679"/>
            <a:ext cx="5440680" cy="8686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5440679"/>
            <a:ext cx="164592" cy="8686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5321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Frameworks &amp; Drivers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852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가장 바깥쪽 도구 — React, Axios,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Clean Architecture — Frontend 관점 이점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프레임워크 독립 · 변경 유연성 · 협업 효율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16916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28600" cy="169164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88719"/>
            <a:ext cx="4206240" cy="5029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527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프레임워크로부터 독립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34439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비즈니스 로직이 특정 라이브러리(React, Vue)에 종속되지 않음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예: React → Next.js 전환 시 UI 컴포넌트만 교체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핵심 로직(Use Cases)은 그대로 재사용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39"/>
            <a:ext cx="11247120" cy="16916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39"/>
            <a:ext cx="228600" cy="16916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971799"/>
            <a:ext cx="420624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358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요구사항 변경에 유연한 대응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01752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백엔드 API 명세가 바뀌거나 DB가 변경되어도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UI 디자인이 완전히 갈아엎어져도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Use Case 계층은 수정 불필요 — 어댑터/컴포넌트만 교체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11247120" cy="16916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228600" cy="16916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754880"/>
            <a:ext cx="4206240" cy="5029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188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코드의 가독성과 협업 효율성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80060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기능별로 역할이 명확히 나뉨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신규 인원 온보딩 비용 ↓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테스트 작성·리팩터링이 쉬워짐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Hexagonal Architecture — 정의 &amp; 등장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클린 아키텍처를 구현하는 가장 대표적인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486400" cy="2194560"/>
          </a:xfrm>
          <a:prstGeom prst="rect">
            <a:avLst/>
          </a:prstGeom>
          <a:solidFill>
            <a:srgbClr val="163E75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Hexagonal Architecture란?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• 클린 아키텍처를 구현하는 대표 모델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애플리케이션의 핵심을 중심에 두고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외부 시스템(UI · DB · API · 파일 시스템)과의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연결을 포트(Port) / 어댑터(Adapter)로 분리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51560"/>
            <a:ext cx="5394960" cy="2194560"/>
          </a:xfrm>
          <a:prstGeom prst="rect">
            <a:avLst/>
          </a:prstGeom>
          <a:solidFill>
            <a:srgbClr val="1A488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6675120" y="1234439"/>
            <a:ext cx="4846320" cy="1828800"/>
          </a:xfrm>
          <a:prstGeom prst="hexagon">
            <a:avLst/>
          </a:prstGeom>
          <a:solidFill>
            <a:srgbClr val="3A59D1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Core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D4F0"/>
                </a:solidFill>
              </a:rPr>
              <a:t>(UseCase + Entity)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23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C4FF"/>
                </a:solidFill>
              </a:rPr>
              <a:t>외부 기술을 전혀 알지 못함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왜 필요한가? — 기존 계층형의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3703320" cy="2331720"/>
          </a:xfrm>
          <a:prstGeom prst="rect">
            <a:avLst/>
          </a:prstGeom>
          <a:solidFill>
            <a:srgbClr val="163E75"/>
          </a:solidFill>
          <a:ln w="254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3703320" cy="6400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강한 결합도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(Tight Coupling)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7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비즈니스 로직이 특정 DB · 프레임워크에 종속.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DB를 바꾸면 핵심 로직도 수정해야 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977639"/>
            <a:ext cx="3703320" cy="2331720"/>
          </a:xfrm>
          <a:prstGeom prst="rect">
            <a:avLst/>
          </a:prstGeom>
          <a:solidFill>
            <a:srgbClr val="163E75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3977639"/>
            <a:ext cx="3703320" cy="6400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023359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테스트의 어려움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75487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순수 비즈니스 로직만 테스트하고 싶지만,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DB/외부 API가 연결되어야만 테스트 가능.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977639"/>
            <a:ext cx="3703320" cy="2331720"/>
          </a:xfrm>
          <a:prstGeom prst="rect">
            <a:avLst/>
          </a:prstGeom>
          <a:solidFill>
            <a:srgbClr val="163E75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3977639"/>
            <a:ext cx="3703320" cy="64008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023359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중심의 실종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5487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애플리케이션의 핵심인 '비즈니스 로직'이 아닌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'데이터베이스'가 설계의 중심이 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Hexagonal — Port &amp; Adapter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핵심 도메인 ↔ 외부 시스템을 인터페이스로 분리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2194560" cy="1645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</a:rPr>
              <a:t>Inbound
Adapter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</a:rPr>
              <a:t>API · CLI ·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468880"/>
            <a:ext cx="914400" cy="16459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B55"/>
                </a:solidFill>
              </a:rPr>
              <a:t>(IF)</a:t>
            </a:r>
          </a:p>
        </p:txBody>
      </p:sp>
      <p:sp>
        <p:nvSpPr>
          <p:cNvPr id="11" name="Hexagon 10"/>
          <p:cNvSpPr/>
          <p:nvPr/>
        </p:nvSpPr>
        <p:spPr>
          <a:xfrm>
            <a:off x="3931920" y="2011680"/>
            <a:ext cx="4297680" cy="2560320"/>
          </a:xfrm>
          <a:prstGeom prst="hexagon">
            <a:avLst/>
          </a:prstGeom>
          <a:solidFill>
            <a:srgbClr val="3A59D1"/>
          </a:solidFill>
          <a:ln w="381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651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Core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54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C4FF"/>
                </a:solidFill>
              </a:rPr>
              <a:t>UseCase + 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566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9E2AF"/>
                </a:solidFill>
              </a:rPr>
              <a:t>외부 기술 不知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468880"/>
            <a:ext cx="914400" cy="16459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B55"/>
                </a:solidFill>
              </a:rPr>
              <a:t>(IF)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468880"/>
            <a:ext cx="2286000" cy="164592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</a:rPr>
              <a:t>Outbound
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</a:rPr>
              <a:t>DB · External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200400"/>
            <a:ext cx="16459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3320" y="3200400"/>
            <a:ext cx="16459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3200400"/>
            <a:ext cx="16459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3200400"/>
            <a:ext cx="16459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3703320" cy="1691640"/>
          </a:xfrm>
          <a:prstGeom prst="rect">
            <a:avLst/>
          </a:prstGeom>
          <a:solidFill>
            <a:srgbClr val="163E7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846320"/>
            <a:ext cx="370332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10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핵심 도메인 (Core)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9495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본질적인 비즈니스 규칙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외부 기술을 전혀 알지 못함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UI/DB/외부 서비스 교체해도 변경 불필요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4846320"/>
            <a:ext cx="3703320" cy="1691640"/>
          </a:xfrm>
          <a:prstGeom prst="rect">
            <a:avLst/>
          </a:prstGeom>
          <a:solidFill>
            <a:srgbClr val="163E75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4846320"/>
            <a:ext cx="3703320" cy="4572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910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포트 (Ports)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39495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핵심 로직으로 들어오거나 나가는 '통로'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주로 인터페이스(Interface)로 정의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결합도 ↓, 유지보수 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846320"/>
            <a:ext cx="3703320" cy="1691640"/>
          </a:xfrm>
          <a:prstGeom prst="rect">
            <a:avLst/>
          </a:prstGeom>
          <a:solidFill>
            <a:srgbClr val="163E75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846320"/>
            <a:ext cx="3703320" cy="4572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910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어댑터 (Adapters)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9495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포트에 연결되는 실제 구현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DB/외부 API를 부품 갈아 끼우듯 교체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필요에 따라 손쉽게 확장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한국·미국 시장 멀티 에이전트 투자 분석 백엔드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749039" cy="23774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C4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474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시세 / 일봉 / 거시지표 자동 수집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공시·뉴스·유튜브 RAG 분석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LLM 기반 멀티 에이전트 통합 분석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거시 리스크 판정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이벤트 임팩트 분석 · 종목 추천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749039" cy="23774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아키텍처 특징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3474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Hexagonal (Ports &amp; Adapters)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Domain-Driven Design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전 라우트 async (asyncpg / httpx)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23개 도메인 모듈화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Port를 통한 외부 의존성 차단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23774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097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운영 스케일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463040"/>
            <a:ext cx="3383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23 도메인 · 11 외부 API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7종 정기 백그라운드 작업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2종 LLM 공급자 (OpenAI / Anthropic)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PostgreSQL + pgvector + Redis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FastAPI 0.115 · Python 3.13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Inbound  →  Application UseCase  →  Domain  →  Outbound · Infrastructure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5669280" cy="22860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389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C4FF"/>
                </a:solidFill>
              </a:rPr>
              <a:t>주요 기술 스택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5488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FastAPI 0.115 / Uvicorn 0.34 (포트 33333)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SQLAlchemy 2.0 async + Alembic + asyncpg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Redis 5 (asyncio) · pgvector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OpenAI 1.75 · Anthropic 0.40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LangChain 0.3 · LangGraph 0.3 · LangSmith 0.2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yfinance · pykrx · kiwipiepy · APScheduler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669280" cy="22860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A6F7"/>
                </a:solidFill>
              </a:rPr>
              <a:t>도메인 카테고리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75488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• 사용자·인증: account · auth · kakao_auth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시장 데이터: stock · dashboard · smart_money · company_profile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콘텐츠: news · disclosure · market_video · macro · history_agent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통합 에이전트: agent · api_schema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스케줄·분석: schedule · market_analysis · stock_theme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• 커뮤니티·학습: board · post · study · investment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Antelligen에 적용된 Hexagonal + DDD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Adapter → Application → Domain  /  Infrastructure → Adapter,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960120"/>
            <a:ext cx="10058400" cy="96012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Adapter (Inbound)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05156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FastAPI Router — app/domains/&lt;d&gt;/adapter/inbound/api/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Request DTO 파싱 → UseCase 위임만 담당 (비즈니스 로직 금지)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11680"/>
            <a:ext cx="10058400" cy="960120"/>
          </a:xfrm>
          <a:prstGeom prst="rect">
            <a:avLst/>
          </a:prstGeom>
          <a:solidFill>
            <a:srgbClr val="1A488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UseCase · Request · Response — app/domains/&lt;d&gt;/application/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외부 시스템은 Port 통해서만 호출 (FastAPI / ORM / Redis 직접 사용 금지)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063240"/>
            <a:ext cx="10058400" cy="96012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15468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Entity · Value Object · Domain Service — 순수 Python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FastAPI / SQLAlchemy / Redis / Pydantic / HTTP / ORM Model / env import 금지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114800"/>
            <a:ext cx="10058400" cy="960120"/>
          </a:xfrm>
          <a:prstGeom prst="rect">
            <a:avLst/>
          </a:prstGeom>
          <a:solidFill>
            <a:srgbClr val="1A488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B387"/>
                </a:solidFill>
              </a:rPr>
              <a:t>Adapter (Outbound)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20624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Repository 구현, External API Client, Cache Adapter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app/domains/&lt;d&gt;/adapter/outbound/{persistence,external}/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166360"/>
            <a:ext cx="10058400" cy="96012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8BA8"/>
                </a:solidFill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5780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DB Session · ORM Model · Redis · env · 공통 External Client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app/infrastructure/{config,database,cache,external,scheduler,...}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6263640"/>
            <a:ext cx="10058400" cy="41148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309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 흐름:  Router  →  UseCase  →  Repository (Port)  → 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Domain Map — 23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app/domains/&lt;domain&gt;/{domain, application, adapter, infrastructure}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27432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사용자·인증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9384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58568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768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kakao_auth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87752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authentication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005840"/>
            <a:ext cx="3657600" cy="27432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65760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069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시장 데이터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600200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184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stock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929384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947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stock.market_data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258568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2768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587752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606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smart_money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2916936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9352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company_profile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005840"/>
            <a:ext cx="3657600" cy="27432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005840"/>
            <a:ext cx="365760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069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콘텐츠 분석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1600200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6184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news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1929384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1947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disclosure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258568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22768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market_video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587752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606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market_analysis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916936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29352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macro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46120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32644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history_agent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886200"/>
            <a:ext cx="3657600" cy="27432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3886200"/>
            <a:ext cx="3657600" cy="4572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950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스케줄·추천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480560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4988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schedule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09744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8280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stock_theme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138928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1572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investment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468112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4864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study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3886200"/>
            <a:ext cx="3657600" cy="27432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3886200"/>
            <a:ext cx="3657600" cy="4572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3950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통합 에이전트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4480560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44988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agent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4809744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48280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api_schema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3886200"/>
            <a:ext cx="3657600" cy="27432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3886200"/>
            <a:ext cx="3657600" cy="457200"/>
          </a:xfrm>
          <a:prstGeom prst="rect">
            <a:avLst/>
          </a:prstGeom>
          <a:solidFill>
            <a:srgbClr val="94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3950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커뮤니티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4480560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44988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board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12480" y="4809744"/>
            <a:ext cx="3291840" cy="2743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0" y="48280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HTTP → Router → UseCase → Port → External / DB / Cache →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691640" cy="9144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19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55"/>
                </a:solidFill>
              </a:rPr>
              <a:t>HTTP</a:t>
            </a:r>
          </a:p>
          <a:p>
            <a:pPr algn="ctr"/>
            <a:r>
              <a:rPr sz="1300" b="1">
                <a:solidFill>
                  <a:srgbClr val="0D2B55"/>
                </a:solidFill>
              </a:rPr>
              <a:t>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280160"/>
            <a:ext cx="1691640" cy="914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417319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55"/>
                </a:solidFill>
              </a:rPr>
              <a:t>FastAPI</a:t>
            </a:r>
          </a:p>
          <a:p>
            <a:pPr algn="ctr"/>
            <a:r>
              <a:rPr sz="1300" b="1">
                <a:solidFill>
                  <a:srgbClr val="0D2B55"/>
                </a:solidFill>
              </a:rPr>
              <a:t>Router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1691640" cy="9144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17319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55"/>
                </a:solidFill>
              </a:rPr>
              <a:t>Request</a:t>
            </a:r>
          </a:p>
          <a:p>
            <a:pPr algn="ctr"/>
            <a:r>
              <a:rPr sz="1300" b="1">
                <a:solidFill>
                  <a:srgbClr val="0D2B55"/>
                </a:solidFill>
              </a:rPr>
              <a:t>DTO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80160"/>
            <a:ext cx="1691640" cy="9144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417319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55"/>
                </a:solidFill>
              </a:rPr>
              <a:t>UseCase</a:t>
            </a:r>
          </a:p>
          <a:p>
            <a:pPr algn="ctr"/>
            <a:r>
              <a:rPr sz="1300" b="1">
                <a:solidFill>
                  <a:srgbClr val="0D2B55"/>
                </a:solidFill>
              </a:rPr>
              <a:t>(Application)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1691640" cy="9144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417319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55"/>
                </a:solidFill>
              </a:rPr>
              <a:t>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1280160"/>
            <a:ext cx="1691640" cy="914400"/>
          </a:xfrm>
          <a:prstGeom prst="rect">
            <a:avLst/>
          </a:prstGeom>
          <a:solidFill>
            <a:srgbClr val="94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417319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55"/>
                </a:solidFill>
              </a:rPr>
              <a:t>Adapter /</a:t>
            </a:r>
          </a:p>
          <a:p>
            <a:pPr algn="ctr"/>
            <a:r>
              <a:rPr sz="1300" b="1">
                <a:solidFill>
                  <a:srgbClr val="0D2B55"/>
                </a:solidFill>
              </a:rPr>
              <a:t>Infra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31720"/>
            <a:ext cx="11338560" cy="457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2880360"/>
            <a:ext cx="10058400" cy="457200"/>
          </a:xfrm>
          <a:prstGeom prst="rect">
            <a:avLst/>
          </a:prstGeom>
          <a:solidFill>
            <a:srgbClr val="163E7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880360"/>
            <a:ext cx="13716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9535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Repository → SQLAlchemy → PostgreSQL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520440"/>
            <a:ext cx="10058400" cy="457200"/>
          </a:xfrm>
          <a:prstGeom prst="rect">
            <a:avLst/>
          </a:prstGeom>
          <a:solidFill>
            <a:srgbClr val="163E75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3520440"/>
            <a:ext cx="137160" cy="4572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5935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B387"/>
                </a:solidFill>
              </a:rPr>
              <a:t>External Client → OpenAI / FRED / yfinance / DART / SERP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solidFill>
            <a:srgbClr val="163E75"/>
          </a:solidFill>
          <a:ln w="25400">
            <a:solidFill>
              <a:srgbClr val="94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160520"/>
            <a:ext cx="137160" cy="457200"/>
          </a:xfrm>
          <a:prstGeom prst="rect">
            <a:avLst/>
          </a:prstGeom>
          <a:solidFill>
            <a:srgbClr val="94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2336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E2D8"/>
                </a:solidFill>
              </a:rPr>
              <a:t>Cache Adapter → Redis (TTL)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solidFill>
            <a:srgbClr val="163E75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4800600"/>
            <a:ext cx="137160" cy="4572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8737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A6F7"/>
                </a:solidFill>
              </a:rPr>
              <a:t>LangGraph 노드 → LangSmith 추적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577840"/>
            <a:ext cx="4846320" cy="731520"/>
          </a:xfrm>
          <a:prstGeom prst="rect">
            <a:avLst/>
          </a:prstGeom>
          <a:solidFill>
            <a:srgbClr val="3A59D1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57790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Response DTO  →  BaseResponse 표준 포맷  →  HTTP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External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11종 외부 시스템 — Port/Adapter 패턴으로 격리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32120" cy="26974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64592" cy="26974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4FF"/>
                </a:solidFill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OpenAI (GPT-4o, GPT-4o Mini, o1)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Anthropic Claude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LangChain / LangGraph 오케스트레이션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LangSmith 추적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532120" cy="26974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164592" cy="26974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시장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yfinance — 미국·한국 시세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pykrx — 한국 거래소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FRED — 미국 거시지표 (release_id 호출)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532120" cy="26974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64592" cy="269748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콘텐츠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Open DART — 한국 기업공시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SERP API — 글로벌 뉴스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Naver — 한국 뉴스 크롤링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YouTube Data API — 영상·자막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40480"/>
            <a:ext cx="5532120" cy="26974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164592" cy="269748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저장 / 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348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PostgreSQL 16 (asyncpg)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pgvector — RAG 임베딩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Redis 5 — 캐시, 매크로 스냅샷 4h TTL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Multi-Agent LLM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agent 도메인 — News · Disclosure · Finance 서브 에이전트 통합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005840"/>
            <a:ext cx="3017520" cy="640080"/>
          </a:xfrm>
          <a:prstGeom prst="rect">
            <a:avLst/>
          </a:prstGeom>
          <a:solidFill>
            <a:srgbClr val="3A59D1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161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User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920240"/>
            <a:ext cx="3931920" cy="77724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</a:rPr>
              <a:t>agent (Integrator)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3108960" cy="1280160"/>
          </a:xfrm>
          <a:prstGeom prst="rect">
            <a:avLst/>
          </a:prstGeom>
          <a:solidFill>
            <a:srgbClr val="163E7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3108960" cy="4114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News SubAgent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SERP · Naver · LLM 요약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도메인: news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154680"/>
            <a:ext cx="3108960" cy="1280160"/>
          </a:xfrm>
          <a:prstGeom prst="rect">
            <a:avLst/>
          </a:prstGeom>
          <a:solidFill>
            <a:srgbClr val="163E75"/>
          </a:solidFill>
          <a:ln w="254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3154680"/>
            <a:ext cx="3108960" cy="41148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Disclosure SubAgent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611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Open DART · pgvector RAG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도메인: disclosure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154680"/>
            <a:ext cx="3108960" cy="1280160"/>
          </a:xfrm>
          <a:prstGeom prst="rect">
            <a:avLst/>
          </a:prstGeom>
          <a:solidFill>
            <a:srgbClr val="163E75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3154680"/>
            <a:ext cx="3108960" cy="4114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Finance SubAgent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611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yfinance · pykrx · FRED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도메인: stock · schedule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697480"/>
            <a:ext cx="45720" cy="457200"/>
          </a:xfrm>
          <a:prstGeom prst="rect">
            <a:avLst/>
          </a:prstGeom>
          <a:solidFill>
            <a:srgbClr val="B8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697480"/>
            <a:ext cx="45720" cy="457200"/>
          </a:xfrm>
          <a:prstGeom prst="rect">
            <a:avLst/>
          </a:prstGeom>
          <a:solidFill>
            <a:srgbClr val="B8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2697480"/>
            <a:ext cx="45720" cy="457200"/>
          </a:xfrm>
          <a:prstGeom prst="rect">
            <a:avLst/>
          </a:prstGeom>
          <a:solidFill>
            <a:srgbClr val="B8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11155680" cy="640080"/>
          </a:xfrm>
          <a:prstGeom prst="rect">
            <a:avLst/>
          </a:prstGeom>
          <a:solidFill>
            <a:srgbClr val="1A4885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377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BA6F7"/>
                </a:solidFill>
              </a:rPr>
              <a:t>LangGraph 노드 그래프  ·  LLM Port (OpenAI / Anthropic)  ·  LangSmith 추적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5623560"/>
            <a:ext cx="3931920" cy="731520"/>
          </a:xfrm>
          <a:prstGeom prst="rect">
            <a:avLst/>
          </a:prstGeom>
          <a:solidFill>
            <a:srgbClr val="3A59D1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5806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통합 응답 (Antelligen AI 자체 분석)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Scheduler &amp; Background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main.py lifespan에서 시작·종료 — APScheduler 기반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88920" cy="18288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8892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disclosure_jobs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1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공시 수집·처리·회사목록 갱신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분 단위 + bootstrap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788920" cy="18288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278892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news 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1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뉴스 수집 (SERP·Naver)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정기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2788920" cy="18288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2788920" cy="4572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nasdaq_jobs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1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NASDAQ 지수 / 테크 바로미터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일 1회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097280"/>
            <a:ext cx="2788920" cy="18288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097280"/>
            <a:ext cx="2788920" cy="4572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stock_bars_jobs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64591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종목별 일봉 수집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일 1회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2788920" cy="18288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154680"/>
            <a:ext cx="2788920" cy="4572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macro_jobs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거시 리스크 스냅샷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Redis 4h TTL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154680"/>
            <a:ext cx="2788920" cy="18288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3154680"/>
            <a:ext cx="2788920" cy="457200"/>
          </a:xfrm>
          <a:prstGeom prst="rect">
            <a:avLst/>
          </a:prstGeom>
          <a:solidFill>
            <a:srgbClr val="94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corp_earnings_jobs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703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기업 실적 캘린더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일 1회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154680"/>
            <a:ext cx="2788920" cy="18288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154680"/>
            <a:ext cx="278892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schedule sync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703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· FRED 경제 이벤트 (release_id)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· 일 1회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49240"/>
            <a:ext cx="11521440" cy="1097280"/>
          </a:xfrm>
          <a:prstGeom prst="rect">
            <a:avLst/>
          </a:prstGeom>
          <a:solidFill>
            <a:srgbClr val="1A4885"/>
          </a:solidFill>
          <a:ln w="127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✓ 부트스트랩 + catch-up: startup 시점 누락 데이터 자동 백필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✓ lifespan에서 DB 헬스체크 → 벡터 DB 초기화 → ORM 메타데이터 → 시드 → 스케줄러 시작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✓ Redis 영속 캐시: hot-reload 시 YouTube/LLM 재호출 회피 (macro)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Conventions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ADR-0001 · 핵심 메트릭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00" cy="29260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Naming Convention (ADR-0001)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6949440" cy="41148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18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파라미터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허용 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69494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봉 단위 (candle interval)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chart_interval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75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1D · 1W · 1M · 1Q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69494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32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조회 기간 (lookback)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lookback_range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32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1M · 3M · 6M · 1Y · 5Y · 10Y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69494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Deprecated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990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90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신규 코드 사용 금지 (alias만 유지)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83280"/>
            <a:ext cx="69494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47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Deprecated 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447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chart_interval=1Y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447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내부적으로 1Q로 매핑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005840"/>
            <a:ext cx="4023360" cy="29260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운영 메트릭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645920"/>
            <a:ext cx="822960" cy="4572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691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1737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도메인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194560"/>
            <a:ext cx="82296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224027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외부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743200"/>
            <a:ext cx="822960" cy="4572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788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정기 작업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291839"/>
            <a:ext cx="822960" cy="4572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333755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38327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LLM 공급자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60520"/>
            <a:ext cx="11521440" cy="2377440"/>
          </a:xfrm>
          <a:prstGeom prst="rect">
            <a:avLst/>
          </a:prstGeom>
          <a:solidFill>
            <a:srgbClr val="1A4885"/>
          </a:solidFill>
          <a:ln w="127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4FF"/>
                </a:solidFill>
              </a:rPr>
              <a:t>핵심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1772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✓ 헥사고날 + DDD 강제: Domain은 순수 Python, 외부 의존성은 Port를 통과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23 도메인을 동일한 디렉토리 구조로 모듈화 — 신규 도메인 추가 비용 최소화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멀티 에이전트는 LangGraph로 조립, LangSmith로 관측, OpenAI/Anthropic 환경변수 스위치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PostgreSQL (관계 + pgvector RAG) + Redis (캐시·매크로 스냅샷) 이원화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BaseResponse 표준 포맷 + 전역 예외 핸들러로 응답 일관성 확보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FRED는 release_id 단위 호출로 미국 매크로 지표 누락 해결 (2026.04 개선)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